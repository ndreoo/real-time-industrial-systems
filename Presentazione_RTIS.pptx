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40.xml" ContentType="application/vnd.openxmlformats-officedocument.presentationml.notesSlide+xml"/>
  <Override PartName="/ppt/charts/chartEx2.xml" ContentType="application/vnd.ms-office.chartex+xml"/>
  <Override PartName="/ppt/charts/style2.xml" ContentType="application/vnd.ms-office.chartstyle+xml"/>
  <Override PartName="/ppt/charts/colors2.xml" ContentType="application/vnd.ms-office.chartcolorstyle+xml"/>
  <Override PartName="/ppt/notesSlides/notesSlide41.xml" ContentType="application/vnd.openxmlformats-officedocument.presentationml.notesSlide+xml"/>
  <Override PartName="/ppt/charts/chartEx3.xml" ContentType="application/vnd.ms-office.chartex+xml"/>
  <Override PartName="/ppt/charts/style3.xml" ContentType="application/vnd.ms-office.chartstyle+xml"/>
  <Override PartName="/ppt/charts/colors3.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7" r:id="rId2"/>
    <p:sldId id="259" r:id="rId3"/>
    <p:sldId id="258" r:id="rId4"/>
    <p:sldId id="29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01"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304" r:id="rId44"/>
    <p:sldId id="305" r:id="rId45"/>
    <p:sldId id="298" r:id="rId46"/>
    <p:sldId id="299" r:id="rId47"/>
    <p:sldId id="300" r:id="rId48"/>
    <p:sldId id="302" r:id="rId49"/>
    <p:sldId id="303" r:id="rId5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Stile chiaro 1 - Colore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ile chiaro 1 - Colore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Stile chiaro 1 - Colore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andre\Desktop\NuoviEsp_Sched\ALL\credit2_vs_rtds.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andre\Desktop\NuoviEsp_Sched\ALL\rtds_null_credit2.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andre\Desktop\NuoviEsp_Sched\ALL\rtds_null_credit2.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Foglio1!$A$2:$A$6</cx:f>
        <cx:lvl ptCount="5" formatCode="Standard">
          <cx:pt idx="0">4777</cx:pt>
          <cx:pt idx="1">4739</cx:pt>
          <cx:pt idx="2">4791</cx:pt>
          <cx:pt idx="3">4889</cx:pt>
          <cx:pt idx="4">4783</cx:pt>
        </cx:lvl>
      </cx:numDim>
    </cx:data>
    <cx:data id="1">
      <cx:numDim type="val">
        <cx:f>Foglio1!$B$2:$B$6</cx:f>
        <cx:lvl ptCount="5" formatCode="Standard">
          <cx:pt idx="0">4761</cx:pt>
          <cx:pt idx="1">4740</cx:pt>
          <cx:pt idx="2">4810</cx:pt>
          <cx:pt idx="3">4797</cx:pt>
          <cx:pt idx="4">4801</cx:pt>
        </cx:lvl>
      </cx:numDim>
    </cx:data>
  </cx:chartData>
  <cx:chart>
    <cx:title pos="t" align="ctr" overlay="0">
      <cx:tx>
        <cx:txData>
          <cx:v>CREDIT2 vs RTDS [one to one, stress cpu ]</cx:v>
        </cx:txData>
      </cx:tx>
      <cx:txPr>
        <a:bodyPr spcFirstLastPara="1" vertOverflow="ellipsis" horzOverflow="overflow" wrap="square" lIns="0" tIns="0" rIns="0" bIns="0" anchor="ctr" anchorCtr="1"/>
        <a:lstStyle/>
        <a:p>
          <a:pPr algn="ctr" rtl="0">
            <a:defRPr/>
          </a:pPr>
          <a:r>
            <a:rPr lang="it-IT" sz="1400" b="0" i="0" u="none" strike="noStrike" baseline="0">
              <a:solidFill>
                <a:sysClr val="windowText" lastClr="000000">
                  <a:lumMod val="65000"/>
                  <a:lumOff val="35000"/>
                </a:sysClr>
              </a:solidFill>
              <a:latin typeface="Aptos Narrow" panose="02110004020202020204"/>
            </a:rPr>
            <a:t>CREDIT2 vs RTDS [one to one, stress cpu ]</a:t>
          </a:r>
        </a:p>
      </cx:txPr>
    </cx:title>
    <cx:plotArea>
      <cx:plotAreaRegion>
        <cx:series layoutId="boxWhisker" uniqueId="{5AAC873E-05DB-4924-AED1-D3FE6DADE912}">
          <cx:tx>
            <cx:txData>
              <cx:f>Foglio1!$A$1</cx:f>
              <cx:v>credit2_5000</cx:v>
            </cx:txData>
          </cx:tx>
          <cx:dataId val="0"/>
          <cx:layoutPr>
            <cx:visibility meanLine="0" meanMarker="1" nonoutliers="0" outliers="1"/>
            <cx:statistics quartileMethod="exclusive"/>
          </cx:layoutPr>
        </cx:series>
        <cx:series layoutId="boxWhisker" uniqueId="{6B41A16D-EBAF-42EC-B2F5-A7E30F10884B}">
          <cx:tx>
            <cx:txData>
              <cx:f>Foglio1!$B$1</cx:f>
              <cx:v>rtds_1k5k</cx:v>
            </cx:txData>
          </cx:tx>
          <cx:dataId val="1"/>
          <cx:layoutPr>
            <cx:visibility meanLine="0" meanMarker="1" nonoutliers="0" outliers="1"/>
            <cx:statistics quartileMethod="exclusive"/>
          </cx:layoutPr>
        </cx:series>
      </cx:plotAreaRegion>
      <cx:axis id="0" hidden="1">
        <cx:catScaling gapWidth="1"/>
        <cx:title>
          <cx:tx>
            <cx:txData>
              <cx:v>Scheduler</cx:v>
            </cx:txData>
          </cx:tx>
          <cx:txPr>
            <a:bodyPr spcFirstLastPara="1" vertOverflow="ellipsis" horzOverflow="overflow" wrap="square" lIns="0" tIns="0" rIns="0" bIns="0" anchor="ctr" anchorCtr="1"/>
            <a:lstStyle/>
            <a:p>
              <a:pPr algn="ctr" rtl="0">
                <a:defRPr/>
              </a:pPr>
              <a:r>
                <a:rPr lang="it-IT" sz="900" b="0" i="0" u="none" strike="noStrike" baseline="0">
                  <a:solidFill>
                    <a:sysClr val="windowText" lastClr="000000">
                      <a:lumMod val="65000"/>
                      <a:lumOff val="35000"/>
                    </a:sysClr>
                  </a:solidFill>
                  <a:latin typeface="Aptos Narrow" panose="02110004020202020204"/>
                </a:rPr>
                <a:t>Scheduler</a:t>
              </a:r>
            </a:p>
          </cx:txPr>
        </cx:title>
        <cx:tickLabels/>
      </cx:axis>
      <cx:axis id="1">
        <cx:valScaling/>
        <cx:title>
          <cx:tx>
            <cx:txData>
              <cx:v>Max Execution Time [us]</cx:v>
            </cx:txData>
          </cx:tx>
          <cx:txPr>
            <a:bodyPr spcFirstLastPara="1" vertOverflow="ellipsis" horzOverflow="overflow" wrap="square" lIns="0" tIns="0" rIns="0" bIns="0" anchor="ctr" anchorCtr="1"/>
            <a:lstStyle/>
            <a:p>
              <a:pPr algn="ctr" rtl="0">
                <a:defRPr/>
              </a:pPr>
              <a:r>
                <a:rPr lang="it-IT" sz="900" b="0" i="0" u="none" strike="noStrike" baseline="0">
                  <a:solidFill>
                    <a:sysClr val="windowText" lastClr="000000">
                      <a:lumMod val="65000"/>
                      <a:lumOff val="35000"/>
                    </a:sysClr>
                  </a:solidFill>
                  <a:latin typeface="Aptos Narrow" panose="02110004020202020204"/>
                </a:rPr>
                <a:t>Max Execution Time [us]</a:t>
              </a:r>
            </a:p>
          </cx:txPr>
        </cx:title>
        <cx:majorGridlines/>
        <cx:tickLabels/>
      </cx:axis>
    </cx:plotArea>
    <cx:legend pos="t" align="ctr" overlay="0"/>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Foglio1!$A$2:$A$6</cx:f>
        <cx:lvl ptCount="5" formatCode="Standard">
          <cx:pt idx="0">4746</cx:pt>
          <cx:pt idx="1">4749</cx:pt>
          <cx:pt idx="2">4722</cx:pt>
          <cx:pt idx="3">4670</cx:pt>
          <cx:pt idx="4">4700</cx:pt>
        </cx:lvl>
      </cx:numDim>
    </cx:data>
    <cx:data id="1">
      <cx:numDim type="val">
        <cx:f>Foglio1!$B$2:$B$6</cx:f>
        <cx:lvl ptCount="5" formatCode="Standard">
          <cx:pt idx="0">4777</cx:pt>
          <cx:pt idx="1">4739</cx:pt>
          <cx:pt idx="2">4791</cx:pt>
          <cx:pt idx="3">4889</cx:pt>
          <cx:pt idx="4">4783</cx:pt>
        </cx:lvl>
      </cx:numDim>
    </cx:data>
    <cx:data id="2">
      <cx:numDim type="val">
        <cx:f>Foglio1!$C$2:$C$6</cx:f>
        <cx:lvl ptCount="5" formatCode="Standard">
          <cx:pt idx="0">4761</cx:pt>
          <cx:pt idx="1">4740</cx:pt>
          <cx:pt idx="2">4810</cx:pt>
          <cx:pt idx="3">4797</cx:pt>
          <cx:pt idx="4">4801</cx:pt>
        </cx:lvl>
      </cx:numDim>
    </cx:data>
  </cx:chartData>
  <cx:chart>
    <cx:title pos="t" align="ctr" overlay="0">
      <cx:tx>
        <cx:txData>
          <cx:v>NULL vs CREDIT2 vs RTDS [stress cpu]</cx:v>
        </cx:txData>
      </cx:tx>
      <cx:txPr>
        <a:bodyPr spcFirstLastPara="1" vertOverflow="ellipsis" horzOverflow="overflow" wrap="square" lIns="0" tIns="0" rIns="0" bIns="0" anchor="ctr" anchorCtr="1"/>
        <a:lstStyle/>
        <a:p>
          <a:pPr algn="ctr" rtl="0">
            <a:defRPr/>
          </a:pPr>
          <a:r>
            <a:rPr lang="it-IT" sz="1400" b="0" i="0" u="none" strike="noStrike" baseline="0">
              <a:solidFill>
                <a:sysClr val="windowText" lastClr="000000">
                  <a:lumMod val="65000"/>
                  <a:lumOff val="35000"/>
                </a:sysClr>
              </a:solidFill>
              <a:latin typeface="Aptos Narrow" panose="02110004020202020204"/>
            </a:rPr>
            <a:t>NULL vs CREDIT2 vs RTDS [stress cpu]</a:t>
          </a:r>
        </a:p>
      </cx:txPr>
    </cx:title>
    <cx:plotArea>
      <cx:plotAreaRegion>
        <cx:series layoutId="boxWhisker" uniqueId="{66BC5238-1D77-4360-BCF2-1CF32920C488}">
          <cx:tx>
            <cx:txData>
              <cx:f>Foglio1!$A$1</cx:f>
              <cx:v>null</cx:v>
            </cx:txData>
          </cx:tx>
          <cx:dataId val="0"/>
          <cx:layoutPr>
            <cx:visibility meanLine="0" meanMarker="1" nonoutliers="0" outliers="1"/>
            <cx:statistics quartileMethod="exclusive"/>
          </cx:layoutPr>
        </cx:series>
        <cx:series layoutId="boxWhisker" uniqueId="{2CC37126-965E-4AEE-AF39-AC9AA26BAEA2}">
          <cx:tx>
            <cx:txData>
              <cx:f>Foglio1!$B$1</cx:f>
              <cx:v>credit2_5000</cx:v>
            </cx:txData>
          </cx:tx>
          <cx:dataId val="1"/>
          <cx:layoutPr>
            <cx:visibility meanLine="0" meanMarker="1" nonoutliers="0" outliers="1"/>
            <cx:statistics quartileMethod="exclusive"/>
          </cx:layoutPr>
        </cx:series>
        <cx:series layoutId="boxWhisker" uniqueId="{9AAB3C1D-10E3-4618-929D-AC473A5F4EEE}">
          <cx:tx>
            <cx:txData>
              <cx:f>Foglio1!$C$1</cx:f>
              <cx:v>rtds_1k5k</cx:v>
            </cx:txData>
          </cx:tx>
          <cx:dataId val="2"/>
          <cx:layoutPr>
            <cx:visibility meanLine="0" meanMarker="1" nonoutliers="0" outliers="1"/>
            <cx:statistics quartileMethod="exclusive"/>
          </cx:layoutPr>
        </cx:series>
      </cx:plotAreaRegion>
      <cx:axis id="0" hidden="1">
        <cx:catScaling gapWidth="1"/>
        <cx:title>
          <cx:tx>
            <cx:rich>
              <a:bodyPr spcFirstLastPara="1" vertOverflow="ellipsis" horzOverflow="overflow" wrap="square" lIns="0" tIns="0" rIns="0" bIns="0" anchor="ctr" anchorCtr="1"/>
              <a:lstStyle/>
              <a:p>
                <a:pPr algn="ctr" rtl="0">
                  <a:defRPr/>
                </a:pPr>
                <a:r>
                  <a:rPr lang="it-IT" sz="900" b="0" i="0" u="none" strike="noStrike" baseline="0" dirty="0" err="1">
                    <a:solidFill>
                      <a:prstClr val="black">
                        <a:lumMod val="65000"/>
                        <a:lumOff val="35000"/>
                      </a:prstClr>
                    </a:solidFill>
                    <a:latin typeface="Calibri"/>
                  </a:rPr>
                  <a:t>Scheduler</a:t>
                </a:r>
                <a:endParaRPr lang="it-IT" sz="900" b="0" i="0" u="none" strike="noStrike" baseline="0" dirty="0">
                  <a:solidFill>
                    <a:prstClr val="black">
                      <a:lumMod val="65000"/>
                      <a:lumOff val="35000"/>
                    </a:prstClr>
                  </a:solidFill>
                  <a:latin typeface="Calibri"/>
                </a:endParaRPr>
              </a:p>
            </cx:rich>
          </cx:tx>
        </cx:title>
        <cx:tickLabels/>
      </cx:axis>
      <cx:axis id="1">
        <cx:valScaling/>
        <cx:title>
          <cx:tx>
            <cx:rich>
              <a:bodyPr spcFirstLastPara="1" vertOverflow="ellipsis" horzOverflow="overflow" wrap="square" lIns="0" tIns="0" rIns="0" bIns="0" anchor="ctr" anchorCtr="1"/>
              <a:lstStyle/>
              <a:p>
                <a:pPr algn="ctr" rtl="0">
                  <a:defRPr/>
                </a:pPr>
                <a:r>
                  <a:rPr lang="it-IT" sz="900" b="0" i="0" u="none" strike="noStrike" baseline="0" dirty="0">
                    <a:solidFill>
                      <a:prstClr val="black">
                        <a:lumMod val="65000"/>
                        <a:lumOff val="35000"/>
                      </a:prstClr>
                    </a:solidFill>
                    <a:latin typeface="Calibri"/>
                  </a:rPr>
                  <a:t>Max </a:t>
                </a:r>
                <a:r>
                  <a:rPr lang="it-IT" sz="900" b="0" i="0" u="none" strike="noStrike" baseline="0" dirty="0" err="1">
                    <a:solidFill>
                      <a:prstClr val="black">
                        <a:lumMod val="65000"/>
                        <a:lumOff val="35000"/>
                      </a:prstClr>
                    </a:solidFill>
                    <a:latin typeface="Calibri"/>
                  </a:rPr>
                  <a:t>Execution</a:t>
                </a:r>
                <a:r>
                  <a:rPr lang="it-IT" sz="900" b="0" i="0" u="none" strike="noStrike" baseline="0" dirty="0">
                    <a:solidFill>
                      <a:prstClr val="black">
                        <a:lumMod val="65000"/>
                        <a:lumOff val="35000"/>
                      </a:prstClr>
                    </a:solidFill>
                    <a:latin typeface="Calibri"/>
                  </a:rPr>
                  <a:t> Time [</a:t>
                </a:r>
                <a:r>
                  <a:rPr lang="it-IT" sz="900" b="0" i="0" u="none" strike="noStrike" baseline="0" dirty="0" err="1">
                    <a:solidFill>
                      <a:prstClr val="black">
                        <a:lumMod val="65000"/>
                        <a:lumOff val="35000"/>
                      </a:prstClr>
                    </a:solidFill>
                    <a:latin typeface="Calibri"/>
                  </a:rPr>
                  <a:t>us</a:t>
                </a:r>
                <a:r>
                  <a:rPr lang="it-IT" sz="900" b="0" i="0" u="none" strike="noStrike" baseline="0" dirty="0">
                    <a:solidFill>
                      <a:prstClr val="black">
                        <a:lumMod val="65000"/>
                        <a:lumOff val="35000"/>
                      </a:prstClr>
                    </a:solidFill>
                    <a:latin typeface="Calibri"/>
                  </a:rPr>
                  <a:t>]</a:t>
                </a:r>
              </a:p>
            </cx:rich>
          </cx:tx>
        </cx:title>
        <cx:majorGridlines/>
        <cx:tickLabels/>
      </cx:axis>
    </cx:plotArea>
    <cx:legend pos="t" align="ctr" overlay="0"/>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Foglio1!$A$22:$A$26</cx:f>
        <cx:lvl ptCount="5" formatCode="Standard">
          <cx:pt idx="0">2844</cx:pt>
          <cx:pt idx="1">2836</cx:pt>
          <cx:pt idx="2">2837</cx:pt>
          <cx:pt idx="3">2842</cx:pt>
          <cx:pt idx="4">2836</cx:pt>
        </cx:lvl>
      </cx:numDim>
    </cx:data>
    <cx:data id="1">
      <cx:numDim type="val">
        <cx:f>Foglio1!$B$22:$B$26</cx:f>
        <cx:lvl ptCount="5" formatCode="Standard">
          <cx:pt idx="0">2843</cx:pt>
          <cx:pt idx="1">2844</cx:pt>
          <cx:pt idx="2">2837</cx:pt>
          <cx:pt idx="3">2838</cx:pt>
          <cx:pt idx="4">2836</cx:pt>
        </cx:lvl>
      </cx:numDim>
    </cx:data>
    <cx:data id="2">
      <cx:numDim type="val">
        <cx:f>Foglio1!$C$22:$C$26</cx:f>
        <cx:lvl ptCount="5" formatCode="Standard">
          <cx:pt idx="0">2837</cx:pt>
          <cx:pt idx="1">2836</cx:pt>
          <cx:pt idx="2">2842</cx:pt>
          <cx:pt idx="3">2836</cx:pt>
          <cx:pt idx="4">2840</cx:pt>
        </cx:lvl>
      </cx:numDim>
    </cx:data>
  </cx:chartData>
  <cx:chart>
    <cx:title pos="t" align="ctr" overlay="0">
      <cx:tx>
        <cx:txData>
          <cx:v>NULL vs CREDIT2 vs RTDS (no stress)</cx:v>
        </cx:txData>
      </cx:tx>
      <cx:txPr>
        <a:bodyPr spcFirstLastPara="1" vertOverflow="ellipsis" horzOverflow="overflow" wrap="square" lIns="0" tIns="0" rIns="0" bIns="0" anchor="ctr" anchorCtr="1"/>
        <a:lstStyle/>
        <a:p>
          <a:pPr algn="ctr" rtl="0">
            <a:defRPr/>
          </a:pPr>
          <a:r>
            <a:rPr lang="it-IT" sz="1400" b="0" i="0" u="none" strike="noStrike" baseline="0">
              <a:solidFill>
                <a:sysClr val="windowText" lastClr="000000">
                  <a:lumMod val="65000"/>
                  <a:lumOff val="35000"/>
                </a:sysClr>
              </a:solidFill>
              <a:latin typeface="Aptos Narrow" panose="02110004020202020204"/>
            </a:rPr>
            <a:t>NULL vs CREDIT2 vs RTDS (no stress)</a:t>
          </a:r>
        </a:p>
      </cx:txPr>
    </cx:title>
    <cx:plotArea>
      <cx:plotAreaRegion>
        <cx:series layoutId="boxWhisker" uniqueId="{1A860894-0870-4E00-9AB9-731FD23048DC}">
          <cx:tx>
            <cx:txData>
              <cx:f>Foglio1!$A$21</cx:f>
              <cx:v>null_nostress</cx:v>
            </cx:txData>
          </cx:tx>
          <cx:dataId val="0"/>
          <cx:layoutPr>
            <cx:statistics quartileMethod="exclusive"/>
          </cx:layoutPr>
        </cx:series>
        <cx:series layoutId="boxWhisker" uniqueId="{BE527088-53A8-4848-9825-AEC5EF5260BF}">
          <cx:tx>
            <cx:txData>
              <cx:f>Foglio1!$B$21</cx:f>
              <cx:v>credit2_5000</cx:v>
            </cx:txData>
          </cx:tx>
          <cx:dataId val="1"/>
          <cx:layoutPr>
            <cx:statistics quartileMethod="exclusive"/>
          </cx:layoutPr>
        </cx:series>
        <cx:series layoutId="boxWhisker" uniqueId="{ABF39E6F-B870-40F4-B697-645F53D91C83}">
          <cx:tx>
            <cx:txData>
              <cx:f>Foglio1!$C$21</cx:f>
              <cx:v>rtds_1k5k</cx:v>
            </cx:txData>
          </cx:tx>
          <cx:dataId val="2"/>
          <cx:layoutPr>
            <cx:statistics quartileMethod="exclusive"/>
          </cx:layoutPr>
        </cx:series>
      </cx:plotAreaRegion>
      <cx:axis id="0" hidden="1">
        <cx:catScaling gapWidth="1"/>
        <cx:title>
          <cx:tx>
            <cx:txData>
              <cx:v>Scheduler</cx:v>
            </cx:txData>
          </cx:tx>
          <cx:txPr>
            <a:bodyPr spcFirstLastPara="1" vertOverflow="ellipsis" horzOverflow="overflow" wrap="square" lIns="0" tIns="0" rIns="0" bIns="0" anchor="ctr" anchorCtr="1"/>
            <a:lstStyle/>
            <a:p>
              <a:pPr algn="ctr" rtl="0">
                <a:defRPr/>
              </a:pPr>
              <a:r>
                <a:rPr lang="it-IT" sz="900" b="0" i="0" u="none" strike="noStrike" baseline="0">
                  <a:solidFill>
                    <a:sysClr val="windowText" lastClr="000000">
                      <a:lumMod val="65000"/>
                      <a:lumOff val="35000"/>
                    </a:sysClr>
                  </a:solidFill>
                  <a:latin typeface="Aptos Narrow" panose="02110004020202020204"/>
                </a:rPr>
                <a:t>Scheduler</a:t>
              </a:r>
            </a:p>
          </cx:txPr>
        </cx:title>
        <cx:tickLabels/>
      </cx:axis>
      <cx:axis id="1">
        <cx:valScaling max="3000" min="2834"/>
        <cx:title>
          <cx:tx>
            <cx:txData>
              <cx:v>Max Execution Time [us]</cx:v>
            </cx:txData>
          </cx:tx>
          <cx:txPr>
            <a:bodyPr spcFirstLastPara="1" vertOverflow="ellipsis" horzOverflow="overflow" wrap="square" lIns="0" tIns="0" rIns="0" bIns="0" anchor="ctr" anchorCtr="1"/>
            <a:lstStyle/>
            <a:p>
              <a:pPr algn="ctr" rtl="0">
                <a:defRPr/>
              </a:pPr>
              <a:r>
                <a:rPr lang="it-IT" sz="900" b="0" i="0" u="none" strike="noStrike" baseline="0">
                  <a:solidFill>
                    <a:sysClr val="windowText" lastClr="000000">
                      <a:lumMod val="65000"/>
                      <a:lumOff val="35000"/>
                    </a:sysClr>
                  </a:solidFill>
                  <a:latin typeface="Aptos Narrow" panose="02110004020202020204"/>
                </a:rPr>
                <a:t>Max Execution Time [us]</a:t>
              </a:r>
            </a:p>
          </cx:txPr>
        </cx:title>
        <cx:majorGridlines/>
        <cx:tickLabels/>
      </cx:axis>
    </cx:plotArea>
    <cx:legend pos="t" align="ctr"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DB224-A1BC-46CF-975A-7715A461CE18}" type="datetimeFigureOut">
              <a:rPr lang="it-IT" smtClean="0"/>
              <a:t>30/04/2025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85D804-1D84-491F-88EA-ED36DCEFE89E}" type="slidenum">
              <a:rPr lang="it-IT" smtClean="0"/>
              <a:t>‹N›</a:t>
            </a:fld>
            <a:endParaRPr lang="it-IT"/>
          </a:p>
        </p:txBody>
      </p:sp>
    </p:spTree>
    <p:extLst>
      <p:ext uri="{BB962C8B-B14F-4D97-AF65-F5344CB8AC3E}">
        <p14:creationId xmlns:p14="http://schemas.microsoft.com/office/powerpoint/2010/main" val="3158207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3B5C8-4977-ED4B-B9F2-4AB2500CC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6FFDF-8A23-3567-FE68-45FFB44463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6BB69DA-AD62-7484-DC56-25BFD30D5C8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90C3BF5-D78B-C269-160E-25DAB6E1AD9C}"/>
              </a:ext>
            </a:extLst>
          </p:cNvPr>
          <p:cNvSpPr>
            <a:spLocks noGrp="1"/>
          </p:cNvSpPr>
          <p:nvPr>
            <p:ph type="sldNum" sz="quarter" idx="10"/>
          </p:nvPr>
        </p:nvSpPr>
        <p:spPr/>
        <p:txBody>
          <a:bodyPr/>
          <a:lstStyle/>
          <a:p>
            <a:fld id="{EE04E1B5-63BC-4334-9D81-D58D41015F1C}" type="slidenum">
              <a:rPr lang="en-GB" smtClean="0"/>
              <a:t>2</a:t>
            </a:fld>
            <a:endParaRPr lang="en-GB"/>
          </a:p>
        </p:txBody>
      </p:sp>
    </p:spTree>
    <p:extLst>
      <p:ext uri="{BB962C8B-B14F-4D97-AF65-F5344CB8AC3E}">
        <p14:creationId xmlns:p14="http://schemas.microsoft.com/office/powerpoint/2010/main" val="3980354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E04E1B5-63BC-4334-9D81-D58D41015F1C}" type="slidenum">
              <a:rPr lang="en-GB" smtClean="0"/>
              <a:t>3</a:t>
            </a:fld>
            <a:endParaRPr lang="en-GB"/>
          </a:p>
        </p:txBody>
      </p:sp>
    </p:spTree>
    <p:extLst>
      <p:ext uri="{BB962C8B-B14F-4D97-AF65-F5344CB8AC3E}">
        <p14:creationId xmlns:p14="http://schemas.microsoft.com/office/powerpoint/2010/main" val="174966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27A07-5A44-838D-E834-66B025B2C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63CFC-A6A3-6257-8C44-E22167F3C7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5CCE221-A664-517B-E12F-0E6B36EC353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81285DE-FAFB-4246-D45D-93845E4A9FE6}"/>
              </a:ext>
            </a:extLst>
          </p:cNvPr>
          <p:cNvSpPr>
            <a:spLocks noGrp="1"/>
          </p:cNvSpPr>
          <p:nvPr>
            <p:ph type="sldNum" sz="quarter" idx="10"/>
          </p:nvPr>
        </p:nvSpPr>
        <p:spPr/>
        <p:txBody>
          <a:bodyPr/>
          <a:lstStyle/>
          <a:p>
            <a:fld id="{EE04E1B5-63BC-4334-9D81-D58D41015F1C}" type="slidenum">
              <a:rPr lang="en-GB" smtClean="0"/>
              <a:t>4</a:t>
            </a:fld>
            <a:endParaRPr lang="en-GB"/>
          </a:p>
        </p:txBody>
      </p:sp>
    </p:spTree>
    <p:extLst>
      <p:ext uri="{BB962C8B-B14F-4D97-AF65-F5344CB8AC3E}">
        <p14:creationId xmlns:p14="http://schemas.microsoft.com/office/powerpoint/2010/main" val="543610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EE1E1-1DBE-73C4-973F-5B6457F54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A6D15-767B-70F4-A818-D8B0C7019A5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1835102-93A4-2060-6DB9-523D3F86B93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7BE8A13-D32C-78C0-3A03-B0CE85FC4399}"/>
              </a:ext>
            </a:extLst>
          </p:cNvPr>
          <p:cNvSpPr>
            <a:spLocks noGrp="1"/>
          </p:cNvSpPr>
          <p:nvPr>
            <p:ph type="sldNum" sz="quarter" idx="10"/>
          </p:nvPr>
        </p:nvSpPr>
        <p:spPr/>
        <p:txBody>
          <a:bodyPr/>
          <a:lstStyle/>
          <a:p>
            <a:fld id="{EE04E1B5-63BC-4334-9D81-D58D41015F1C}" type="slidenum">
              <a:rPr lang="en-GB" smtClean="0"/>
              <a:t>5</a:t>
            </a:fld>
            <a:endParaRPr lang="en-GB"/>
          </a:p>
        </p:txBody>
      </p:sp>
    </p:spTree>
    <p:extLst>
      <p:ext uri="{BB962C8B-B14F-4D97-AF65-F5344CB8AC3E}">
        <p14:creationId xmlns:p14="http://schemas.microsoft.com/office/powerpoint/2010/main" val="1474282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79CA5-FAD6-18BA-74ED-278BAD6DB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21319-B9D4-1817-F508-485BBF9FE7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A7871AD-7C84-3A4E-60B0-2B76A536CF9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3FB12F6-559D-6106-05AC-460D6EEF6B4E}"/>
              </a:ext>
            </a:extLst>
          </p:cNvPr>
          <p:cNvSpPr>
            <a:spLocks noGrp="1"/>
          </p:cNvSpPr>
          <p:nvPr>
            <p:ph type="sldNum" sz="quarter" idx="10"/>
          </p:nvPr>
        </p:nvSpPr>
        <p:spPr/>
        <p:txBody>
          <a:bodyPr/>
          <a:lstStyle/>
          <a:p>
            <a:fld id="{EE04E1B5-63BC-4334-9D81-D58D41015F1C}" type="slidenum">
              <a:rPr lang="en-GB" smtClean="0"/>
              <a:t>6</a:t>
            </a:fld>
            <a:endParaRPr lang="en-GB"/>
          </a:p>
        </p:txBody>
      </p:sp>
    </p:spTree>
    <p:extLst>
      <p:ext uri="{BB962C8B-B14F-4D97-AF65-F5344CB8AC3E}">
        <p14:creationId xmlns:p14="http://schemas.microsoft.com/office/powerpoint/2010/main" val="2230138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AD6DD-1799-2101-F671-6F352D613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82ECF-2367-A169-6AD7-5B4435F03E3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A627F3-7F92-34CF-BCF6-63FB937D65C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BF69061-EBBC-CA93-E1CA-BF6AC6712211}"/>
              </a:ext>
            </a:extLst>
          </p:cNvPr>
          <p:cNvSpPr>
            <a:spLocks noGrp="1"/>
          </p:cNvSpPr>
          <p:nvPr>
            <p:ph type="sldNum" sz="quarter" idx="10"/>
          </p:nvPr>
        </p:nvSpPr>
        <p:spPr/>
        <p:txBody>
          <a:bodyPr/>
          <a:lstStyle/>
          <a:p>
            <a:fld id="{EE04E1B5-63BC-4334-9D81-D58D41015F1C}" type="slidenum">
              <a:rPr lang="en-GB" smtClean="0"/>
              <a:t>7</a:t>
            </a:fld>
            <a:endParaRPr lang="en-GB"/>
          </a:p>
        </p:txBody>
      </p:sp>
    </p:spTree>
    <p:extLst>
      <p:ext uri="{BB962C8B-B14F-4D97-AF65-F5344CB8AC3E}">
        <p14:creationId xmlns:p14="http://schemas.microsoft.com/office/powerpoint/2010/main" val="2550957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FB3F1-9EA7-6386-A930-0D3F0EE7C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EB187-0ED6-C44E-F5B6-B19E4E2D3C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8FC1FD1-1557-4405-5241-9156C407FE6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D1738FA-8AC1-2EF2-2013-8B7E8E28F1E9}"/>
              </a:ext>
            </a:extLst>
          </p:cNvPr>
          <p:cNvSpPr>
            <a:spLocks noGrp="1"/>
          </p:cNvSpPr>
          <p:nvPr>
            <p:ph type="sldNum" sz="quarter" idx="10"/>
          </p:nvPr>
        </p:nvSpPr>
        <p:spPr/>
        <p:txBody>
          <a:bodyPr/>
          <a:lstStyle/>
          <a:p>
            <a:fld id="{EE04E1B5-63BC-4334-9D81-D58D41015F1C}" type="slidenum">
              <a:rPr lang="en-GB" smtClean="0"/>
              <a:t>8</a:t>
            </a:fld>
            <a:endParaRPr lang="en-GB"/>
          </a:p>
        </p:txBody>
      </p:sp>
    </p:spTree>
    <p:extLst>
      <p:ext uri="{BB962C8B-B14F-4D97-AF65-F5344CB8AC3E}">
        <p14:creationId xmlns:p14="http://schemas.microsoft.com/office/powerpoint/2010/main" val="1125481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F3EAB-1B25-EDEB-EAC7-12607A185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1BB3D-2F26-E046-C1B8-B740157E009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6C4758A-8735-1CFF-66BF-567E0C0F83A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6F04DD-7B60-705E-D280-13D10DD255D4}"/>
              </a:ext>
            </a:extLst>
          </p:cNvPr>
          <p:cNvSpPr>
            <a:spLocks noGrp="1"/>
          </p:cNvSpPr>
          <p:nvPr>
            <p:ph type="sldNum" sz="quarter" idx="10"/>
          </p:nvPr>
        </p:nvSpPr>
        <p:spPr/>
        <p:txBody>
          <a:bodyPr/>
          <a:lstStyle/>
          <a:p>
            <a:fld id="{EE04E1B5-63BC-4334-9D81-D58D41015F1C}" type="slidenum">
              <a:rPr lang="en-GB" smtClean="0"/>
              <a:t>9</a:t>
            </a:fld>
            <a:endParaRPr lang="en-GB"/>
          </a:p>
        </p:txBody>
      </p:sp>
    </p:spTree>
    <p:extLst>
      <p:ext uri="{BB962C8B-B14F-4D97-AF65-F5344CB8AC3E}">
        <p14:creationId xmlns:p14="http://schemas.microsoft.com/office/powerpoint/2010/main" val="4072541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C52D4-D68F-292C-E0A4-426F2635B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D7AB6-7F46-8C86-7831-1123A8CE0F9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CC000DB-45F3-B125-9508-8922F6A9FD4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7D9D4AF-218C-3568-6AB3-4462F6FE47FF}"/>
              </a:ext>
            </a:extLst>
          </p:cNvPr>
          <p:cNvSpPr>
            <a:spLocks noGrp="1"/>
          </p:cNvSpPr>
          <p:nvPr>
            <p:ph type="sldNum" sz="quarter" idx="10"/>
          </p:nvPr>
        </p:nvSpPr>
        <p:spPr/>
        <p:txBody>
          <a:bodyPr/>
          <a:lstStyle/>
          <a:p>
            <a:fld id="{EE04E1B5-63BC-4334-9D81-D58D41015F1C}" type="slidenum">
              <a:rPr lang="en-GB" smtClean="0"/>
              <a:t>10</a:t>
            </a:fld>
            <a:endParaRPr lang="en-GB"/>
          </a:p>
        </p:txBody>
      </p:sp>
    </p:spTree>
    <p:extLst>
      <p:ext uri="{BB962C8B-B14F-4D97-AF65-F5344CB8AC3E}">
        <p14:creationId xmlns:p14="http://schemas.microsoft.com/office/powerpoint/2010/main" val="233680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03F2-2819-FEE0-5999-8FBD41660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0D88C-9F10-8B57-BEEE-25AD1AFB9A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F4CF29-37D0-F66C-A53C-215913FE3ED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FFD05EB-3FFC-D9CF-7BE5-185457E0A987}"/>
              </a:ext>
            </a:extLst>
          </p:cNvPr>
          <p:cNvSpPr>
            <a:spLocks noGrp="1"/>
          </p:cNvSpPr>
          <p:nvPr>
            <p:ph type="sldNum" sz="quarter" idx="10"/>
          </p:nvPr>
        </p:nvSpPr>
        <p:spPr/>
        <p:txBody>
          <a:bodyPr/>
          <a:lstStyle/>
          <a:p>
            <a:fld id="{EE04E1B5-63BC-4334-9D81-D58D41015F1C}" type="slidenum">
              <a:rPr lang="en-GB" smtClean="0"/>
              <a:t>11</a:t>
            </a:fld>
            <a:endParaRPr lang="en-GB"/>
          </a:p>
        </p:txBody>
      </p:sp>
    </p:spTree>
    <p:extLst>
      <p:ext uri="{BB962C8B-B14F-4D97-AF65-F5344CB8AC3E}">
        <p14:creationId xmlns:p14="http://schemas.microsoft.com/office/powerpoint/2010/main" val="2575671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802A-E88F-A43B-EF2B-E97B83929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E1998-92FF-CD7D-8235-5AC6219BDC9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88D368-A54C-4453-1A95-4E52D8A7854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C58EF11-299B-DEFC-5D76-0099C6859426}"/>
              </a:ext>
            </a:extLst>
          </p:cNvPr>
          <p:cNvSpPr>
            <a:spLocks noGrp="1"/>
          </p:cNvSpPr>
          <p:nvPr>
            <p:ph type="sldNum" sz="quarter" idx="10"/>
          </p:nvPr>
        </p:nvSpPr>
        <p:spPr/>
        <p:txBody>
          <a:bodyPr/>
          <a:lstStyle/>
          <a:p>
            <a:fld id="{EE04E1B5-63BC-4334-9D81-D58D41015F1C}" type="slidenum">
              <a:rPr lang="en-GB" smtClean="0"/>
              <a:t>12</a:t>
            </a:fld>
            <a:endParaRPr lang="en-GB"/>
          </a:p>
        </p:txBody>
      </p:sp>
    </p:spTree>
    <p:extLst>
      <p:ext uri="{BB962C8B-B14F-4D97-AF65-F5344CB8AC3E}">
        <p14:creationId xmlns:p14="http://schemas.microsoft.com/office/powerpoint/2010/main" val="849939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3E80D-3577-CC3C-C685-71C2D48EA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60C55-048D-459C-D778-D29CA3D54C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83AE136-EB7C-6224-292F-8B98AF78D59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A3E90F2-7CC4-2D25-F8C0-AD187941BBCD}"/>
              </a:ext>
            </a:extLst>
          </p:cNvPr>
          <p:cNvSpPr>
            <a:spLocks noGrp="1"/>
          </p:cNvSpPr>
          <p:nvPr>
            <p:ph type="sldNum" sz="quarter" idx="10"/>
          </p:nvPr>
        </p:nvSpPr>
        <p:spPr/>
        <p:txBody>
          <a:bodyPr/>
          <a:lstStyle/>
          <a:p>
            <a:fld id="{EE04E1B5-63BC-4334-9D81-D58D41015F1C}" type="slidenum">
              <a:rPr lang="en-GB" smtClean="0"/>
              <a:t>13</a:t>
            </a:fld>
            <a:endParaRPr lang="en-GB"/>
          </a:p>
        </p:txBody>
      </p:sp>
    </p:spTree>
    <p:extLst>
      <p:ext uri="{BB962C8B-B14F-4D97-AF65-F5344CB8AC3E}">
        <p14:creationId xmlns:p14="http://schemas.microsoft.com/office/powerpoint/2010/main" val="2810712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793E4-E8A4-7A49-11FD-34C475F23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9B337-C329-EBEC-BAF4-9F48B30F6B4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E729AEC-3609-FF9F-EA16-C07530076D8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9043432-C38E-CEBB-F1F2-E97EE5E9D9AD}"/>
              </a:ext>
            </a:extLst>
          </p:cNvPr>
          <p:cNvSpPr>
            <a:spLocks noGrp="1"/>
          </p:cNvSpPr>
          <p:nvPr>
            <p:ph type="sldNum" sz="quarter" idx="10"/>
          </p:nvPr>
        </p:nvSpPr>
        <p:spPr/>
        <p:txBody>
          <a:bodyPr/>
          <a:lstStyle/>
          <a:p>
            <a:fld id="{EE04E1B5-63BC-4334-9D81-D58D41015F1C}" type="slidenum">
              <a:rPr lang="en-GB" smtClean="0"/>
              <a:t>14</a:t>
            </a:fld>
            <a:endParaRPr lang="en-GB"/>
          </a:p>
        </p:txBody>
      </p:sp>
    </p:spTree>
    <p:extLst>
      <p:ext uri="{BB962C8B-B14F-4D97-AF65-F5344CB8AC3E}">
        <p14:creationId xmlns:p14="http://schemas.microsoft.com/office/powerpoint/2010/main" val="3187482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4091E-A2D1-D241-0E1B-61667E505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63D05-3DF1-0C98-F0BB-B7B07D5D9F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A9345B5-9C2C-634D-D484-5CA963CF87C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5EEEC34-9174-79C2-771E-0E4BAB43F88D}"/>
              </a:ext>
            </a:extLst>
          </p:cNvPr>
          <p:cNvSpPr>
            <a:spLocks noGrp="1"/>
          </p:cNvSpPr>
          <p:nvPr>
            <p:ph type="sldNum" sz="quarter" idx="10"/>
          </p:nvPr>
        </p:nvSpPr>
        <p:spPr/>
        <p:txBody>
          <a:bodyPr/>
          <a:lstStyle/>
          <a:p>
            <a:fld id="{EE04E1B5-63BC-4334-9D81-D58D41015F1C}" type="slidenum">
              <a:rPr lang="en-GB" smtClean="0"/>
              <a:t>15</a:t>
            </a:fld>
            <a:endParaRPr lang="en-GB"/>
          </a:p>
        </p:txBody>
      </p:sp>
    </p:spTree>
    <p:extLst>
      <p:ext uri="{BB962C8B-B14F-4D97-AF65-F5344CB8AC3E}">
        <p14:creationId xmlns:p14="http://schemas.microsoft.com/office/powerpoint/2010/main" val="2782766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12E49-2561-D469-2AE9-A25C377E4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389B9-145E-07A5-DFCD-5C1FD4A6B3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661EDD-F8AA-5593-FEE9-D3ADCB0D665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D9C642F-2B29-20E4-A6DC-9EFC06EC4374}"/>
              </a:ext>
            </a:extLst>
          </p:cNvPr>
          <p:cNvSpPr>
            <a:spLocks noGrp="1"/>
          </p:cNvSpPr>
          <p:nvPr>
            <p:ph type="sldNum" sz="quarter" idx="10"/>
          </p:nvPr>
        </p:nvSpPr>
        <p:spPr/>
        <p:txBody>
          <a:bodyPr/>
          <a:lstStyle/>
          <a:p>
            <a:fld id="{EE04E1B5-63BC-4334-9D81-D58D41015F1C}" type="slidenum">
              <a:rPr lang="en-GB" smtClean="0"/>
              <a:t>16</a:t>
            </a:fld>
            <a:endParaRPr lang="en-GB"/>
          </a:p>
        </p:txBody>
      </p:sp>
    </p:spTree>
    <p:extLst>
      <p:ext uri="{BB962C8B-B14F-4D97-AF65-F5344CB8AC3E}">
        <p14:creationId xmlns:p14="http://schemas.microsoft.com/office/powerpoint/2010/main" val="3596613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534C3-AF6C-D1ED-E93E-FFF24E6D6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1E146-6B4A-A981-8D83-45413387D2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660BA58-85E6-F13C-E890-330C9B7AA26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B915747-A452-8B7C-3E4C-6456CD45F86A}"/>
              </a:ext>
            </a:extLst>
          </p:cNvPr>
          <p:cNvSpPr>
            <a:spLocks noGrp="1"/>
          </p:cNvSpPr>
          <p:nvPr>
            <p:ph type="sldNum" sz="quarter" idx="10"/>
          </p:nvPr>
        </p:nvSpPr>
        <p:spPr/>
        <p:txBody>
          <a:bodyPr/>
          <a:lstStyle/>
          <a:p>
            <a:fld id="{EE04E1B5-63BC-4334-9D81-D58D41015F1C}" type="slidenum">
              <a:rPr lang="en-GB" smtClean="0"/>
              <a:t>17</a:t>
            </a:fld>
            <a:endParaRPr lang="en-GB"/>
          </a:p>
        </p:txBody>
      </p:sp>
    </p:spTree>
    <p:extLst>
      <p:ext uri="{BB962C8B-B14F-4D97-AF65-F5344CB8AC3E}">
        <p14:creationId xmlns:p14="http://schemas.microsoft.com/office/powerpoint/2010/main" val="817481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DE0D-C227-41DA-EA2A-DC6925C53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E28F0-FC5C-A1D9-BC10-80BE06BB79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02C4F41-F69D-1556-9E04-D06E325B549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7518EBB-A473-8C83-50D0-DA0387F1B9AE}"/>
              </a:ext>
            </a:extLst>
          </p:cNvPr>
          <p:cNvSpPr>
            <a:spLocks noGrp="1"/>
          </p:cNvSpPr>
          <p:nvPr>
            <p:ph type="sldNum" sz="quarter" idx="10"/>
          </p:nvPr>
        </p:nvSpPr>
        <p:spPr/>
        <p:txBody>
          <a:bodyPr/>
          <a:lstStyle/>
          <a:p>
            <a:fld id="{EE04E1B5-63BC-4334-9D81-D58D41015F1C}" type="slidenum">
              <a:rPr lang="en-GB" smtClean="0"/>
              <a:t>18</a:t>
            </a:fld>
            <a:endParaRPr lang="en-GB"/>
          </a:p>
        </p:txBody>
      </p:sp>
    </p:spTree>
    <p:extLst>
      <p:ext uri="{BB962C8B-B14F-4D97-AF65-F5344CB8AC3E}">
        <p14:creationId xmlns:p14="http://schemas.microsoft.com/office/powerpoint/2010/main" val="3295087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49303-E0C3-4200-CCEA-89F0529B3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6072F-B4C9-E3FC-8FE7-28A49EA7A50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89C7ED-1D43-7999-3367-3D741938C56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21E3E50-A49E-24FF-779B-D93A42CD1E57}"/>
              </a:ext>
            </a:extLst>
          </p:cNvPr>
          <p:cNvSpPr>
            <a:spLocks noGrp="1"/>
          </p:cNvSpPr>
          <p:nvPr>
            <p:ph type="sldNum" sz="quarter" idx="10"/>
          </p:nvPr>
        </p:nvSpPr>
        <p:spPr/>
        <p:txBody>
          <a:bodyPr/>
          <a:lstStyle/>
          <a:p>
            <a:fld id="{EE04E1B5-63BC-4334-9D81-D58D41015F1C}" type="slidenum">
              <a:rPr lang="en-GB" smtClean="0"/>
              <a:t>19</a:t>
            </a:fld>
            <a:endParaRPr lang="en-GB"/>
          </a:p>
        </p:txBody>
      </p:sp>
    </p:spTree>
    <p:extLst>
      <p:ext uri="{BB962C8B-B14F-4D97-AF65-F5344CB8AC3E}">
        <p14:creationId xmlns:p14="http://schemas.microsoft.com/office/powerpoint/2010/main" val="1181805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D37D4-9C2A-7230-FBA4-A0D7C3E84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84D12-CF14-9940-C79F-B34343604E9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1060CE-529B-E426-A203-0FC40012B93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D01DE58-A340-0306-B31C-75898FAA5C86}"/>
              </a:ext>
            </a:extLst>
          </p:cNvPr>
          <p:cNvSpPr>
            <a:spLocks noGrp="1"/>
          </p:cNvSpPr>
          <p:nvPr>
            <p:ph type="sldNum" sz="quarter" idx="10"/>
          </p:nvPr>
        </p:nvSpPr>
        <p:spPr/>
        <p:txBody>
          <a:bodyPr/>
          <a:lstStyle/>
          <a:p>
            <a:fld id="{EE04E1B5-63BC-4334-9D81-D58D41015F1C}" type="slidenum">
              <a:rPr lang="en-GB" smtClean="0"/>
              <a:t>20</a:t>
            </a:fld>
            <a:endParaRPr lang="en-GB"/>
          </a:p>
        </p:txBody>
      </p:sp>
    </p:spTree>
    <p:extLst>
      <p:ext uri="{BB962C8B-B14F-4D97-AF65-F5344CB8AC3E}">
        <p14:creationId xmlns:p14="http://schemas.microsoft.com/office/powerpoint/2010/main" val="3289065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2B1BE-B0A5-47FC-E29D-0643B5396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5F4E0-2C4C-5958-BC7F-4A8E2D0D52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2C832A-7C0B-7462-250C-7F5E42032FA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CF77616-0D2F-7E1F-8200-8E32D284D5AE}"/>
              </a:ext>
            </a:extLst>
          </p:cNvPr>
          <p:cNvSpPr>
            <a:spLocks noGrp="1"/>
          </p:cNvSpPr>
          <p:nvPr>
            <p:ph type="sldNum" sz="quarter" idx="10"/>
          </p:nvPr>
        </p:nvSpPr>
        <p:spPr/>
        <p:txBody>
          <a:bodyPr/>
          <a:lstStyle/>
          <a:p>
            <a:fld id="{EE04E1B5-63BC-4334-9D81-D58D41015F1C}" type="slidenum">
              <a:rPr lang="en-GB" smtClean="0"/>
              <a:t>21</a:t>
            </a:fld>
            <a:endParaRPr lang="en-GB"/>
          </a:p>
        </p:txBody>
      </p:sp>
    </p:spTree>
    <p:extLst>
      <p:ext uri="{BB962C8B-B14F-4D97-AF65-F5344CB8AC3E}">
        <p14:creationId xmlns:p14="http://schemas.microsoft.com/office/powerpoint/2010/main" val="3409487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76A02-5172-6A09-F89D-2814A725C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6E414-E8DE-51F4-894B-9606EC4DAD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DA3F47-C794-0A55-105F-41DE8F5CF16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D32D0F1-A48A-B324-D328-E961E4BBB73D}"/>
              </a:ext>
            </a:extLst>
          </p:cNvPr>
          <p:cNvSpPr>
            <a:spLocks noGrp="1"/>
          </p:cNvSpPr>
          <p:nvPr>
            <p:ph type="sldNum" sz="quarter" idx="10"/>
          </p:nvPr>
        </p:nvSpPr>
        <p:spPr/>
        <p:txBody>
          <a:bodyPr/>
          <a:lstStyle/>
          <a:p>
            <a:fld id="{EE04E1B5-63BC-4334-9D81-D58D41015F1C}" type="slidenum">
              <a:rPr lang="en-GB" smtClean="0"/>
              <a:t>22</a:t>
            </a:fld>
            <a:endParaRPr lang="en-GB"/>
          </a:p>
        </p:txBody>
      </p:sp>
    </p:spTree>
    <p:extLst>
      <p:ext uri="{BB962C8B-B14F-4D97-AF65-F5344CB8AC3E}">
        <p14:creationId xmlns:p14="http://schemas.microsoft.com/office/powerpoint/2010/main" val="22276465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F1C24-D83F-43C8-9135-EF8247AE1C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4D21B-4509-A9B9-62CC-8A65D0F35A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58CBAC-1188-C549-B9E2-85D3CD5A26B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78AE14B-401A-08EB-01E7-B8BD5147A04C}"/>
              </a:ext>
            </a:extLst>
          </p:cNvPr>
          <p:cNvSpPr>
            <a:spLocks noGrp="1"/>
          </p:cNvSpPr>
          <p:nvPr>
            <p:ph type="sldNum" sz="quarter" idx="10"/>
          </p:nvPr>
        </p:nvSpPr>
        <p:spPr/>
        <p:txBody>
          <a:bodyPr/>
          <a:lstStyle/>
          <a:p>
            <a:fld id="{EE04E1B5-63BC-4334-9D81-D58D41015F1C}" type="slidenum">
              <a:rPr lang="en-GB" smtClean="0"/>
              <a:t>23</a:t>
            </a:fld>
            <a:endParaRPr lang="en-GB"/>
          </a:p>
        </p:txBody>
      </p:sp>
    </p:spTree>
    <p:extLst>
      <p:ext uri="{BB962C8B-B14F-4D97-AF65-F5344CB8AC3E}">
        <p14:creationId xmlns:p14="http://schemas.microsoft.com/office/powerpoint/2010/main" val="2231423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B92FC-083B-8D4E-1944-92D13A27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DEE00-0F57-9839-58A2-16E1435F55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E07FADA-B234-46B0-C969-13812E68DC2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7202203-8BA6-A4FF-18E1-40DB68DD8DC4}"/>
              </a:ext>
            </a:extLst>
          </p:cNvPr>
          <p:cNvSpPr>
            <a:spLocks noGrp="1"/>
          </p:cNvSpPr>
          <p:nvPr>
            <p:ph type="sldNum" sz="quarter" idx="10"/>
          </p:nvPr>
        </p:nvSpPr>
        <p:spPr/>
        <p:txBody>
          <a:bodyPr/>
          <a:lstStyle/>
          <a:p>
            <a:fld id="{EE04E1B5-63BC-4334-9D81-D58D41015F1C}" type="slidenum">
              <a:rPr lang="en-GB" smtClean="0"/>
              <a:t>24</a:t>
            </a:fld>
            <a:endParaRPr lang="en-GB"/>
          </a:p>
        </p:txBody>
      </p:sp>
    </p:spTree>
    <p:extLst>
      <p:ext uri="{BB962C8B-B14F-4D97-AF65-F5344CB8AC3E}">
        <p14:creationId xmlns:p14="http://schemas.microsoft.com/office/powerpoint/2010/main" val="2335239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B0CE5-0FCA-602B-4C01-1BB3E5E22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02848-2E8D-95DF-B486-471EA95B03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422F04A-A1FF-08DE-BF53-6CDE70659BF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10EF4E1-3D81-9179-5173-A3FF87C01BAD}"/>
              </a:ext>
            </a:extLst>
          </p:cNvPr>
          <p:cNvSpPr>
            <a:spLocks noGrp="1"/>
          </p:cNvSpPr>
          <p:nvPr>
            <p:ph type="sldNum" sz="quarter" idx="10"/>
          </p:nvPr>
        </p:nvSpPr>
        <p:spPr/>
        <p:txBody>
          <a:bodyPr/>
          <a:lstStyle/>
          <a:p>
            <a:fld id="{EE04E1B5-63BC-4334-9D81-D58D41015F1C}" type="slidenum">
              <a:rPr lang="en-GB" smtClean="0"/>
              <a:t>25</a:t>
            </a:fld>
            <a:endParaRPr lang="en-GB"/>
          </a:p>
        </p:txBody>
      </p:sp>
    </p:spTree>
    <p:extLst>
      <p:ext uri="{BB962C8B-B14F-4D97-AF65-F5344CB8AC3E}">
        <p14:creationId xmlns:p14="http://schemas.microsoft.com/office/powerpoint/2010/main" val="2592719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874A7-B880-78C8-EC05-C79FDB744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F3520-A4FA-21E7-35CC-4117922C40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41E0EF7-D581-FCD8-6CBC-E5DCA006B41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D73C6D2-F5E9-3397-D4AB-DC3648C21183}"/>
              </a:ext>
            </a:extLst>
          </p:cNvPr>
          <p:cNvSpPr>
            <a:spLocks noGrp="1"/>
          </p:cNvSpPr>
          <p:nvPr>
            <p:ph type="sldNum" sz="quarter" idx="10"/>
          </p:nvPr>
        </p:nvSpPr>
        <p:spPr/>
        <p:txBody>
          <a:bodyPr/>
          <a:lstStyle/>
          <a:p>
            <a:fld id="{EE04E1B5-63BC-4334-9D81-D58D41015F1C}" type="slidenum">
              <a:rPr lang="en-GB" smtClean="0"/>
              <a:t>26</a:t>
            </a:fld>
            <a:endParaRPr lang="en-GB"/>
          </a:p>
        </p:txBody>
      </p:sp>
    </p:spTree>
    <p:extLst>
      <p:ext uri="{BB962C8B-B14F-4D97-AF65-F5344CB8AC3E}">
        <p14:creationId xmlns:p14="http://schemas.microsoft.com/office/powerpoint/2010/main" val="248847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CBC4-4A2F-DE26-6982-254DF1BD8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AC07A-AEFD-2BA7-977A-D8D285D94E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FFC19E-359C-F291-6099-35A33D5688B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E0F933A-CCE4-2B23-C17C-E8109AB8BB0E}"/>
              </a:ext>
            </a:extLst>
          </p:cNvPr>
          <p:cNvSpPr>
            <a:spLocks noGrp="1"/>
          </p:cNvSpPr>
          <p:nvPr>
            <p:ph type="sldNum" sz="quarter" idx="10"/>
          </p:nvPr>
        </p:nvSpPr>
        <p:spPr/>
        <p:txBody>
          <a:bodyPr/>
          <a:lstStyle/>
          <a:p>
            <a:fld id="{EE04E1B5-63BC-4334-9D81-D58D41015F1C}" type="slidenum">
              <a:rPr lang="en-GB" smtClean="0"/>
              <a:t>27</a:t>
            </a:fld>
            <a:endParaRPr lang="en-GB"/>
          </a:p>
        </p:txBody>
      </p:sp>
    </p:spTree>
    <p:extLst>
      <p:ext uri="{BB962C8B-B14F-4D97-AF65-F5344CB8AC3E}">
        <p14:creationId xmlns:p14="http://schemas.microsoft.com/office/powerpoint/2010/main" val="336683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DD5C-6732-678F-8982-D15866AA0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89187-66C8-1A8C-2D0A-279D0B5CB5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914304-A1ED-213E-B435-E7C4A2128C9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A3361DE-5EAD-6844-4008-8684183714B9}"/>
              </a:ext>
            </a:extLst>
          </p:cNvPr>
          <p:cNvSpPr>
            <a:spLocks noGrp="1"/>
          </p:cNvSpPr>
          <p:nvPr>
            <p:ph type="sldNum" sz="quarter" idx="10"/>
          </p:nvPr>
        </p:nvSpPr>
        <p:spPr/>
        <p:txBody>
          <a:bodyPr/>
          <a:lstStyle/>
          <a:p>
            <a:fld id="{EE04E1B5-63BC-4334-9D81-D58D41015F1C}" type="slidenum">
              <a:rPr lang="en-GB" smtClean="0"/>
              <a:t>28</a:t>
            </a:fld>
            <a:endParaRPr lang="en-GB"/>
          </a:p>
        </p:txBody>
      </p:sp>
    </p:spTree>
    <p:extLst>
      <p:ext uri="{BB962C8B-B14F-4D97-AF65-F5344CB8AC3E}">
        <p14:creationId xmlns:p14="http://schemas.microsoft.com/office/powerpoint/2010/main" val="1647981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A228-EF34-021B-0B69-9620F42F5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4C93F-9245-32F5-7F72-189729E94B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CA22E6-53E4-734E-98BF-4E45B39E10C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92089E7-4AD7-A10A-98C1-3BD31178332C}"/>
              </a:ext>
            </a:extLst>
          </p:cNvPr>
          <p:cNvSpPr>
            <a:spLocks noGrp="1"/>
          </p:cNvSpPr>
          <p:nvPr>
            <p:ph type="sldNum" sz="quarter" idx="10"/>
          </p:nvPr>
        </p:nvSpPr>
        <p:spPr/>
        <p:txBody>
          <a:bodyPr/>
          <a:lstStyle/>
          <a:p>
            <a:fld id="{EE04E1B5-63BC-4334-9D81-D58D41015F1C}" type="slidenum">
              <a:rPr lang="en-GB" smtClean="0"/>
              <a:t>29</a:t>
            </a:fld>
            <a:endParaRPr lang="en-GB"/>
          </a:p>
        </p:txBody>
      </p:sp>
    </p:spTree>
    <p:extLst>
      <p:ext uri="{BB962C8B-B14F-4D97-AF65-F5344CB8AC3E}">
        <p14:creationId xmlns:p14="http://schemas.microsoft.com/office/powerpoint/2010/main" val="883037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6FA16-21EC-5894-3B6B-1BE0EF1CC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C5CE3-775D-2E48-81A1-88BC580F19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A0D92F-1700-4079-7D47-384AE1FCDFF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10CC7B7-1AEF-AF3E-117C-F417D361C855}"/>
              </a:ext>
            </a:extLst>
          </p:cNvPr>
          <p:cNvSpPr>
            <a:spLocks noGrp="1"/>
          </p:cNvSpPr>
          <p:nvPr>
            <p:ph type="sldNum" sz="quarter" idx="10"/>
          </p:nvPr>
        </p:nvSpPr>
        <p:spPr/>
        <p:txBody>
          <a:bodyPr/>
          <a:lstStyle/>
          <a:p>
            <a:fld id="{EE04E1B5-63BC-4334-9D81-D58D41015F1C}" type="slidenum">
              <a:rPr lang="en-GB" smtClean="0"/>
              <a:t>30</a:t>
            </a:fld>
            <a:endParaRPr lang="en-GB"/>
          </a:p>
        </p:txBody>
      </p:sp>
    </p:spTree>
    <p:extLst>
      <p:ext uri="{BB962C8B-B14F-4D97-AF65-F5344CB8AC3E}">
        <p14:creationId xmlns:p14="http://schemas.microsoft.com/office/powerpoint/2010/main" val="3717159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B4FF0-3641-4808-0E62-14E95A186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DE89A-40A1-46C3-A9EB-74AD454E7B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EBE31E-3FE2-B4E3-5012-7941B603342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C6322B5-28C6-CD24-9DD6-3F1202A225F0}"/>
              </a:ext>
            </a:extLst>
          </p:cNvPr>
          <p:cNvSpPr>
            <a:spLocks noGrp="1"/>
          </p:cNvSpPr>
          <p:nvPr>
            <p:ph type="sldNum" sz="quarter" idx="10"/>
          </p:nvPr>
        </p:nvSpPr>
        <p:spPr/>
        <p:txBody>
          <a:bodyPr/>
          <a:lstStyle/>
          <a:p>
            <a:fld id="{EE04E1B5-63BC-4334-9D81-D58D41015F1C}" type="slidenum">
              <a:rPr lang="en-GB" smtClean="0"/>
              <a:t>31</a:t>
            </a:fld>
            <a:endParaRPr lang="en-GB"/>
          </a:p>
        </p:txBody>
      </p:sp>
    </p:spTree>
    <p:extLst>
      <p:ext uri="{BB962C8B-B14F-4D97-AF65-F5344CB8AC3E}">
        <p14:creationId xmlns:p14="http://schemas.microsoft.com/office/powerpoint/2010/main" val="42297531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26609-B170-A251-C1A3-DE2BBAF33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680AF-8F6E-17B7-1F85-A5A2BAE116D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D005CFC-9B05-F72C-8A2E-294070DFEA6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94714B8-E0D7-E362-7B1A-E6EB5CC03092}"/>
              </a:ext>
            </a:extLst>
          </p:cNvPr>
          <p:cNvSpPr>
            <a:spLocks noGrp="1"/>
          </p:cNvSpPr>
          <p:nvPr>
            <p:ph type="sldNum" sz="quarter" idx="10"/>
          </p:nvPr>
        </p:nvSpPr>
        <p:spPr/>
        <p:txBody>
          <a:bodyPr/>
          <a:lstStyle/>
          <a:p>
            <a:fld id="{EE04E1B5-63BC-4334-9D81-D58D41015F1C}" type="slidenum">
              <a:rPr lang="en-GB" smtClean="0"/>
              <a:t>32</a:t>
            </a:fld>
            <a:endParaRPr lang="en-GB"/>
          </a:p>
        </p:txBody>
      </p:sp>
    </p:spTree>
    <p:extLst>
      <p:ext uri="{BB962C8B-B14F-4D97-AF65-F5344CB8AC3E}">
        <p14:creationId xmlns:p14="http://schemas.microsoft.com/office/powerpoint/2010/main" val="35157428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8B0BA-E027-F776-85D4-A6AFA3C49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36CCB-486A-28DE-B659-EB991C6ECE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47F8BE-7B5B-35BD-4924-D03F5827E6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08A457B-1250-743C-A9C3-C3EF3DDEC7B9}"/>
              </a:ext>
            </a:extLst>
          </p:cNvPr>
          <p:cNvSpPr>
            <a:spLocks noGrp="1"/>
          </p:cNvSpPr>
          <p:nvPr>
            <p:ph type="sldNum" sz="quarter" idx="10"/>
          </p:nvPr>
        </p:nvSpPr>
        <p:spPr/>
        <p:txBody>
          <a:bodyPr/>
          <a:lstStyle/>
          <a:p>
            <a:fld id="{EE04E1B5-63BC-4334-9D81-D58D41015F1C}" type="slidenum">
              <a:rPr lang="en-GB" smtClean="0"/>
              <a:t>33</a:t>
            </a:fld>
            <a:endParaRPr lang="en-GB"/>
          </a:p>
        </p:txBody>
      </p:sp>
    </p:spTree>
    <p:extLst>
      <p:ext uri="{BB962C8B-B14F-4D97-AF65-F5344CB8AC3E}">
        <p14:creationId xmlns:p14="http://schemas.microsoft.com/office/powerpoint/2010/main" val="1185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ECB86-8970-B905-5FBB-9E5BFC03B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07995-8641-D51F-6A94-9F698818FE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9D925D8-0A42-7B87-7AFF-560CEF2CFB3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12C9FB8-90AF-D621-8D1B-A5B5801CCF45}"/>
              </a:ext>
            </a:extLst>
          </p:cNvPr>
          <p:cNvSpPr>
            <a:spLocks noGrp="1"/>
          </p:cNvSpPr>
          <p:nvPr>
            <p:ph type="sldNum" sz="quarter" idx="10"/>
          </p:nvPr>
        </p:nvSpPr>
        <p:spPr/>
        <p:txBody>
          <a:bodyPr/>
          <a:lstStyle/>
          <a:p>
            <a:fld id="{EE04E1B5-63BC-4334-9D81-D58D41015F1C}" type="slidenum">
              <a:rPr lang="en-GB" smtClean="0"/>
              <a:t>34</a:t>
            </a:fld>
            <a:endParaRPr lang="en-GB"/>
          </a:p>
        </p:txBody>
      </p:sp>
    </p:spTree>
    <p:extLst>
      <p:ext uri="{BB962C8B-B14F-4D97-AF65-F5344CB8AC3E}">
        <p14:creationId xmlns:p14="http://schemas.microsoft.com/office/powerpoint/2010/main" val="13995094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A2BC0-EEBC-0507-B323-649E06D00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EA33D-96EC-A6E1-1A10-7D5DE6BA0C1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C5030E6-4C94-559D-930C-2740FB565E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4740978-F971-A092-3DAD-1772500B6607}"/>
              </a:ext>
            </a:extLst>
          </p:cNvPr>
          <p:cNvSpPr>
            <a:spLocks noGrp="1"/>
          </p:cNvSpPr>
          <p:nvPr>
            <p:ph type="sldNum" sz="quarter" idx="10"/>
          </p:nvPr>
        </p:nvSpPr>
        <p:spPr/>
        <p:txBody>
          <a:bodyPr/>
          <a:lstStyle/>
          <a:p>
            <a:fld id="{EE04E1B5-63BC-4334-9D81-D58D41015F1C}" type="slidenum">
              <a:rPr lang="en-GB" smtClean="0"/>
              <a:t>35</a:t>
            </a:fld>
            <a:endParaRPr lang="en-GB"/>
          </a:p>
        </p:txBody>
      </p:sp>
    </p:spTree>
    <p:extLst>
      <p:ext uri="{BB962C8B-B14F-4D97-AF65-F5344CB8AC3E}">
        <p14:creationId xmlns:p14="http://schemas.microsoft.com/office/powerpoint/2010/main" val="11791411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2699F-DA7B-9FDB-1019-2B03C5404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D9BA0-7D60-BDCC-19BA-2C52F33941F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C205BF-A6A5-7AA0-347A-9DC81062E7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0517BC3-F18C-F84B-D094-E8C8282F9E7E}"/>
              </a:ext>
            </a:extLst>
          </p:cNvPr>
          <p:cNvSpPr>
            <a:spLocks noGrp="1"/>
          </p:cNvSpPr>
          <p:nvPr>
            <p:ph type="sldNum" sz="quarter" idx="10"/>
          </p:nvPr>
        </p:nvSpPr>
        <p:spPr/>
        <p:txBody>
          <a:bodyPr/>
          <a:lstStyle/>
          <a:p>
            <a:fld id="{EE04E1B5-63BC-4334-9D81-D58D41015F1C}" type="slidenum">
              <a:rPr lang="en-GB" smtClean="0"/>
              <a:t>36</a:t>
            </a:fld>
            <a:endParaRPr lang="en-GB"/>
          </a:p>
        </p:txBody>
      </p:sp>
    </p:spTree>
    <p:extLst>
      <p:ext uri="{BB962C8B-B14F-4D97-AF65-F5344CB8AC3E}">
        <p14:creationId xmlns:p14="http://schemas.microsoft.com/office/powerpoint/2010/main" val="4568384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A4640-B893-DC5A-F814-9D1B09452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A6E93-1C6A-5E93-6E9C-BFECB5A0DC7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31F10FA-7FD7-2CE1-69C1-31E9A5F1363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C6C2BB-69B6-4399-CBD9-E8E9443E2952}"/>
              </a:ext>
            </a:extLst>
          </p:cNvPr>
          <p:cNvSpPr>
            <a:spLocks noGrp="1"/>
          </p:cNvSpPr>
          <p:nvPr>
            <p:ph type="sldNum" sz="quarter" idx="10"/>
          </p:nvPr>
        </p:nvSpPr>
        <p:spPr/>
        <p:txBody>
          <a:bodyPr/>
          <a:lstStyle/>
          <a:p>
            <a:fld id="{EE04E1B5-63BC-4334-9D81-D58D41015F1C}" type="slidenum">
              <a:rPr lang="en-GB" smtClean="0"/>
              <a:t>37</a:t>
            </a:fld>
            <a:endParaRPr lang="en-GB"/>
          </a:p>
        </p:txBody>
      </p:sp>
    </p:spTree>
    <p:extLst>
      <p:ext uri="{BB962C8B-B14F-4D97-AF65-F5344CB8AC3E}">
        <p14:creationId xmlns:p14="http://schemas.microsoft.com/office/powerpoint/2010/main" val="12969379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6C99-F2C5-CD96-7A89-CAB092C3B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9F9B8-DA4B-296C-CA06-13DF0E31C2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872F3D-B069-1AE4-EAA2-21055D7588E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1A9B44C-0409-029A-1E3E-DB905A99BCBD}"/>
              </a:ext>
            </a:extLst>
          </p:cNvPr>
          <p:cNvSpPr>
            <a:spLocks noGrp="1"/>
          </p:cNvSpPr>
          <p:nvPr>
            <p:ph type="sldNum" sz="quarter" idx="10"/>
          </p:nvPr>
        </p:nvSpPr>
        <p:spPr/>
        <p:txBody>
          <a:bodyPr/>
          <a:lstStyle/>
          <a:p>
            <a:fld id="{EE04E1B5-63BC-4334-9D81-D58D41015F1C}" type="slidenum">
              <a:rPr lang="en-GB" smtClean="0"/>
              <a:t>38</a:t>
            </a:fld>
            <a:endParaRPr lang="en-GB"/>
          </a:p>
        </p:txBody>
      </p:sp>
    </p:spTree>
    <p:extLst>
      <p:ext uri="{BB962C8B-B14F-4D97-AF65-F5344CB8AC3E}">
        <p14:creationId xmlns:p14="http://schemas.microsoft.com/office/powerpoint/2010/main" val="16106462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D5290-4EC7-11E4-2994-0A338F2B8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669BB-2D78-A0F6-9668-672954FED27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B6492B7-DB28-93D2-C46B-8FDEBE0ABC0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6224094-4BC9-5FE7-5441-18A45398033C}"/>
              </a:ext>
            </a:extLst>
          </p:cNvPr>
          <p:cNvSpPr>
            <a:spLocks noGrp="1"/>
          </p:cNvSpPr>
          <p:nvPr>
            <p:ph type="sldNum" sz="quarter" idx="10"/>
          </p:nvPr>
        </p:nvSpPr>
        <p:spPr/>
        <p:txBody>
          <a:bodyPr/>
          <a:lstStyle/>
          <a:p>
            <a:fld id="{EE04E1B5-63BC-4334-9D81-D58D41015F1C}" type="slidenum">
              <a:rPr lang="en-GB" smtClean="0"/>
              <a:t>39</a:t>
            </a:fld>
            <a:endParaRPr lang="en-GB"/>
          </a:p>
        </p:txBody>
      </p:sp>
    </p:spTree>
    <p:extLst>
      <p:ext uri="{BB962C8B-B14F-4D97-AF65-F5344CB8AC3E}">
        <p14:creationId xmlns:p14="http://schemas.microsoft.com/office/powerpoint/2010/main" val="30770455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D0A67-C99E-062B-2C62-EF2190319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B2758-16B1-2272-60D1-601A9A2DED7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BC189D-4AE0-021C-0758-D7AE723D29D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4544322-8AD9-D786-F618-4E0193AEB92A}"/>
              </a:ext>
            </a:extLst>
          </p:cNvPr>
          <p:cNvSpPr>
            <a:spLocks noGrp="1"/>
          </p:cNvSpPr>
          <p:nvPr>
            <p:ph type="sldNum" sz="quarter" idx="10"/>
          </p:nvPr>
        </p:nvSpPr>
        <p:spPr/>
        <p:txBody>
          <a:bodyPr/>
          <a:lstStyle/>
          <a:p>
            <a:fld id="{EE04E1B5-63BC-4334-9D81-D58D41015F1C}" type="slidenum">
              <a:rPr lang="en-GB" smtClean="0"/>
              <a:t>40</a:t>
            </a:fld>
            <a:endParaRPr lang="en-GB"/>
          </a:p>
        </p:txBody>
      </p:sp>
    </p:spTree>
    <p:extLst>
      <p:ext uri="{BB962C8B-B14F-4D97-AF65-F5344CB8AC3E}">
        <p14:creationId xmlns:p14="http://schemas.microsoft.com/office/powerpoint/2010/main" val="25847893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E1145-B46A-E35D-70C4-ACB788FC9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F23A5-6A72-B717-AFA5-185DDD20734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A88FE48-BEEA-F359-D7F1-8215B68933E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E1F7F2F-925C-6F95-10AE-6343CAC49C3B}"/>
              </a:ext>
            </a:extLst>
          </p:cNvPr>
          <p:cNvSpPr>
            <a:spLocks noGrp="1"/>
          </p:cNvSpPr>
          <p:nvPr>
            <p:ph type="sldNum" sz="quarter" idx="10"/>
          </p:nvPr>
        </p:nvSpPr>
        <p:spPr/>
        <p:txBody>
          <a:bodyPr/>
          <a:lstStyle/>
          <a:p>
            <a:fld id="{EE04E1B5-63BC-4334-9D81-D58D41015F1C}" type="slidenum">
              <a:rPr lang="en-GB" smtClean="0"/>
              <a:t>41</a:t>
            </a:fld>
            <a:endParaRPr lang="en-GB"/>
          </a:p>
        </p:txBody>
      </p:sp>
    </p:spTree>
    <p:extLst>
      <p:ext uri="{BB962C8B-B14F-4D97-AF65-F5344CB8AC3E}">
        <p14:creationId xmlns:p14="http://schemas.microsoft.com/office/powerpoint/2010/main" val="3939459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C3E79-8822-3579-3680-A7BA4F534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9F283-BC5F-595E-B7B1-80C3E81FBD7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433D9F3-45F8-90AA-8DEF-A874F985D15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269229-6857-9120-3F85-3AAFB5BC2B46}"/>
              </a:ext>
            </a:extLst>
          </p:cNvPr>
          <p:cNvSpPr>
            <a:spLocks noGrp="1"/>
          </p:cNvSpPr>
          <p:nvPr>
            <p:ph type="sldNum" sz="quarter" idx="10"/>
          </p:nvPr>
        </p:nvSpPr>
        <p:spPr/>
        <p:txBody>
          <a:bodyPr/>
          <a:lstStyle/>
          <a:p>
            <a:fld id="{EE04E1B5-63BC-4334-9D81-D58D41015F1C}" type="slidenum">
              <a:rPr lang="en-GB" smtClean="0"/>
              <a:t>42</a:t>
            </a:fld>
            <a:endParaRPr lang="en-GB"/>
          </a:p>
        </p:txBody>
      </p:sp>
    </p:spTree>
    <p:extLst>
      <p:ext uri="{BB962C8B-B14F-4D97-AF65-F5344CB8AC3E}">
        <p14:creationId xmlns:p14="http://schemas.microsoft.com/office/powerpoint/2010/main" val="21319186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5FD77-163A-6357-2173-444FC9779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FD447-407B-B7AA-D31F-15785811C6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97398CF-C6B7-75E3-32AC-4606CF48EA4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5CD7ACE-D872-2802-526D-E0628F4434B6}"/>
              </a:ext>
            </a:extLst>
          </p:cNvPr>
          <p:cNvSpPr>
            <a:spLocks noGrp="1"/>
          </p:cNvSpPr>
          <p:nvPr>
            <p:ph type="sldNum" sz="quarter" idx="10"/>
          </p:nvPr>
        </p:nvSpPr>
        <p:spPr/>
        <p:txBody>
          <a:bodyPr/>
          <a:lstStyle/>
          <a:p>
            <a:fld id="{EE04E1B5-63BC-4334-9D81-D58D41015F1C}" type="slidenum">
              <a:rPr lang="en-GB" smtClean="0"/>
              <a:t>43</a:t>
            </a:fld>
            <a:endParaRPr lang="en-GB"/>
          </a:p>
        </p:txBody>
      </p:sp>
    </p:spTree>
    <p:extLst>
      <p:ext uri="{BB962C8B-B14F-4D97-AF65-F5344CB8AC3E}">
        <p14:creationId xmlns:p14="http://schemas.microsoft.com/office/powerpoint/2010/main" val="25483278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B1A5-D69B-8601-8FD1-D48DD6C66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F7E31-D5D8-A7B2-820E-6A38377A05F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910D31D-3CF7-509B-5968-CA1819930A5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1F0FCCC-F66A-678D-2E58-88AA095864B0}"/>
              </a:ext>
            </a:extLst>
          </p:cNvPr>
          <p:cNvSpPr>
            <a:spLocks noGrp="1"/>
          </p:cNvSpPr>
          <p:nvPr>
            <p:ph type="sldNum" sz="quarter" idx="10"/>
          </p:nvPr>
        </p:nvSpPr>
        <p:spPr/>
        <p:txBody>
          <a:bodyPr/>
          <a:lstStyle/>
          <a:p>
            <a:fld id="{EE04E1B5-63BC-4334-9D81-D58D41015F1C}" type="slidenum">
              <a:rPr lang="en-GB" smtClean="0"/>
              <a:t>44</a:t>
            </a:fld>
            <a:endParaRPr lang="en-GB"/>
          </a:p>
        </p:txBody>
      </p:sp>
    </p:spTree>
    <p:extLst>
      <p:ext uri="{BB962C8B-B14F-4D97-AF65-F5344CB8AC3E}">
        <p14:creationId xmlns:p14="http://schemas.microsoft.com/office/powerpoint/2010/main" val="35436386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4EBB-B6F0-9E90-800D-DD529C562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964CF-D2B9-FEE7-D7FF-0C7FD42434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09635F-CE27-4746-8AC2-4DACAE1E1A7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EA4B822-DAE3-6D11-FB1B-D74CC925A8EE}"/>
              </a:ext>
            </a:extLst>
          </p:cNvPr>
          <p:cNvSpPr>
            <a:spLocks noGrp="1"/>
          </p:cNvSpPr>
          <p:nvPr>
            <p:ph type="sldNum" sz="quarter" idx="10"/>
          </p:nvPr>
        </p:nvSpPr>
        <p:spPr/>
        <p:txBody>
          <a:bodyPr/>
          <a:lstStyle/>
          <a:p>
            <a:fld id="{EE04E1B5-63BC-4334-9D81-D58D41015F1C}" type="slidenum">
              <a:rPr lang="en-GB" smtClean="0"/>
              <a:t>45</a:t>
            </a:fld>
            <a:endParaRPr lang="en-GB"/>
          </a:p>
        </p:txBody>
      </p:sp>
    </p:spTree>
    <p:extLst>
      <p:ext uri="{BB962C8B-B14F-4D97-AF65-F5344CB8AC3E}">
        <p14:creationId xmlns:p14="http://schemas.microsoft.com/office/powerpoint/2010/main" val="41737197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1827B-1091-4624-BB6E-A0C9477FD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E39F9-16B8-EC02-129A-97125985564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1FFBF31-4BC8-F250-8CFB-DF01DE4CC80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3DA5767-C991-5951-7A99-207EF21B95E6}"/>
              </a:ext>
            </a:extLst>
          </p:cNvPr>
          <p:cNvSpPr>
            <a:spLocks noGrp="1"/>
          </p:cNvSpPr>
          <p:nvPr>
            <p:ph type="sldNum" sz="quarter" idx="10"/>
          </p:nvPr>
        </p:nvSpPr>
        <p:spPr/>
        <p:txBody>
          <a:bodyPr/>
          <a:lstStyle/>
          <a:p>
            <a:fld id="{EE04E1B5-63BC-4334-9D81-D58D41015F1C}" type="slidenum">
              <a:rPr lang="en-GB" smtClean="0"/>
              <a:t>46</a:t>
            </a:fld>
            <a:endParaRPr lang="en-GB"/>
          </a:p>
        </p:txBody>
      </p:sp>
    </p:spTree>
    <p:extLst>
      <p:ext uri="{BB962C8B-B14F-4D97-AF65-F5344CB8AC3E}">
        <p14:creationId xmlns:p14="http://schemas.microsoft.com/office/powerpoint/2010/main" val="16418666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D7C4F-2550-274B-710D-75DB30689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C30FE-71D9-F468-B944-2DED46E49D0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64DF10-5BCE-54F3-21E1-39FF95F1FFF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8C7A476-AC4C-C601-D125-1BF961F1A680}"/>
              </a:ext>
            </a:extLst>
          </p:cNvPr>
          <p:cNvSpPr>
            <a:spLocks noGrp="1"/>
          </p:cNvSpPr>
          <p:nvPr>
            <p:ph type="sldNum" sz="quarter" idx="10"/>
          </p:nvPr>
        </p:nvSpPr>
        <p:spPr/>
        <p:txBody>
          <a:bodyPr/>
          <a:lstStyle/>
          <a:p>
            <a:fld id="{EE04E1B5-63BC-4334-9D81-D58D41015F1C}" type="slidenum">
              <a:rPr lang="en-GB" smtClean="0"/>
              <a:t>47</a:t>
            </a:fld>
            <a:endParaRPr lang="en-GB"/>
          </a:p>
        </p:txBody>
      </p:sp>
    </p:spTree>
    <p:extLst>
      <p:ext uri="{BB962C8B-B14F-4D97-AF65-F5344CB8AC3E}">
        <p14:creationId xmlns:p14="http://schemas.microsoft.com/office/powerpoint/2010/main" val="23989533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29EA-8D95-66D2-AA12-FDF47A205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4A6BA-5FB8-F668-150D-A18A12E6C6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2F0E6BA-1DFC-CE37-965B-F6652F27F58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DFD185-5AB7-78B4-5E52-CBD58CC39753}"/>
              </a:ext>
            </a:extLst>
          </p:cNvPr>
          <p:cNvSpPr>
            <a:spLocks noGrp="1"/>
          </p:cNvSpPr>
          <p:nvPr>
            <p:ph type="sldNum" sz="quarter" idx="10"/>
          </p:nvPr>
        </p:nvSpPr>
        <p:spPr/>
        <p:txBody>
          <a:bodyPr/>
          <a:lstStyle/>
          <a:p>
            <a:fld id="{EE04E1B5-63BC-4334-9D81-D58D41015F1C}" type="slidenum">
              <a:rPr lang="en-GB" smtClean="0"/>
              <a:t>48</a:t>
            </a:fld>
            <a:endParaRPr lang="en-GB"/>
          </a:p>
        </p:txBody>
      </p:sp>
    </p:spTree>
    <p:extLst>
      <p:ext uri="{BB962C8B-B14F-4D97-AF65-F5344CB8AC3E}">
        <p14:creationId xmlns:p14="http://schemas.microsoft.com/office/powerpoint/2010/main" val="2266014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DF90-D29F-616F-D744-A5AF57F8B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827F4-27F2-6AFE-2E70-6859B197688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4B2337E-46AB-016F-B78B-EF14B509C1C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B7DDF29-C742-3F97-F778-3E931CFD5E39}"/>
              </a:ext>
            </a:extLst>
          </p:cNvPr>
          <p:cNvSpPr>
            <a:spLocks noGrp="1"/>
          </p:cNvSpPr>
          <p:nvPr>
            <p:ph type="sldNum" sz="quarter" idx="10"/>
          </p:nvPr>
        </p:nvSpPr>
        <p:spPr/>
        <p:txBody>
          <a:bodyPr/>
          <a:lstStyle/>
          <a:p>
            <a:fld id="{EE04E1B5-63BC-4334-9D81-D58D41015F1C}" type="slidenum">
              <a:rPr lang="en-GB" smtClean="0"/>
              <a:t>49</a:t>
            </a:fld>
            <a:endParaRPr lang="en-GB"/>
          </a:p>
        </p:txBody>
      </p:sp>
    </p:spTree>
    <p:extLst>
      <p:ext uri="{BB962C8B-B14F-4D97-AF65-F5344CB8AC3E}">
        <p14:creationId xmlns:p14="http://schemas.microsoft.com/office/powerpoint/2010/main" val="418647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914400" y="2130426"/>
            <a:ext cx="10363200" cy="1470025"/>
          </a:xfrm>
        </p:spPr>
        <p:txBody>
          <a:bodyPr/>
          <a:lstStyle/>
          <a:p>
            <a:r>
              <a:rPr lang="it-IT"/>
              <a:t>Fare clic per modificare stile</a:t>
            </a:r>
          </a:p>
        </p:txBody>
      </p:sp>
      <p:sp>
        <p:nvSpPr>
          <p:cNvPr id="3" name="Sottotito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2C790A91-0F3D-9944-94EF-F5C93CDE0643}" type="datetimeFigureOut">
              <a:rPr lang="it-IT" smtClean="0"/>
              <a:t>30/04/2025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D9A2948-A980-434D-BAB3-FF8DF2F4692E}" type="slidenum">
              <a:rPr lang="it-IT" smtClean="0"/>
              <a:t>‹N›</a:t>
            </a:fld>
            <a:endParaRPr lang="it-IT"/>
          </a:p>
        </p:txBody>
      </p:sp>
    </p:spTree>
    <p:extLst>
      <p:ext uri="{BB962C8B-B14F-4D97-AF65-F5344CB8AC3E}">
        <p14:creationId xmlns:p14="http://schemas.microsoft.com/office/powerpoint/2010/main" val="3216873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it-IT"/>
              <a:t>Fare clic per modificare stile</a:t>
            </a:r>
          </a:p>
        </p:txBody>
      </p:sp>
      <p:sp>
        <p:nvSpPr>
          <p:cNvPr id="3" name="Segnaposto tes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790A91-0F3D-9944-94EF-F5C93CDE0643}" type="datetimeFigureOut">
              <a:rPr lang="it-IT" smtClean="0"/>
              <a:t>30/04/2025</a:t>
            </a:fld>
            <a:endParaRPr lang="it-IT"/>
          </a:p>
        </p:txBody>
      </p:sp>
      <p:sp>
        <p:nvSpPr>
          <p:cNvPr id="5" name="Segnaposto piè di pagina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9A2948-A980-434D-BAB3-FF8DF2F4692E}" type="slidenum">
              <a:rPr lang="it-IT" smtClean="0"/>
              <a:t>‹N›</a:t>
            </a:fld>
            <a:endParaRPr lang="it-IT"/>
          </a:p>
        </p:txBody>
      </p:sp>
    </p:spTree>
    <p:extLst>
      <p:ext uri="{BB962C8B-B14F-4D97-AF65-F5344CB8AC3E}">
        <p14:creationId xmlns:p14="http://schemas.microsoft.com/office/powerpoint/2010/main" val="1722204195"/>
      </p:ext>
    </p:extLst>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3.jpg"/><Relationship Id="rId4" Type="http://schemas.openxmlformats.org/officeDocument/2006/relationships/image" Target="../media/image22.jp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25.jpg"/><Relationship Id="rId4" Type="http://schemas.openxmlformats.org/officeDocument/2006/relationships/image" Target="../media/image24.jp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25.png"/><Relationship Id="rId4" Type="http://schemas.microsoft.com/office/2014/relationships/chartEx" Target="../charts/chartEx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26.png"/><Relationship Id="rId4" Type="http://schemas.microsoft.com/office/2014/relationships/chartEx" Target="../charts/chartEx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27.png"/><Relationship Id="rId4" Type="http://schemas.microsoft.com/office/2014/relationships/chartEx" Target="../charts/chartEx3.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descr="banne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1052622"/>
          </a:xfrm>
          <a:prstGeom prst="rect">
            <a:avLst/>
          </a:prstGeom>
        </p:spPr>
      </p:pic>
      <p:sp>
        <p:nvSpPr>
          <p:cNvPr id="11" name="Rettangolo 10"/>
          <p:cNvSpPr/>
          <p:nvPr/>
        </p:nvSpPr>
        <p:spPr>
          <a:xfrm>
            <a:off x="0" y="5934669"/>
            <a:ext cx="12192000" cy="923330"/>
          </a:xfrm>
          <a:prstGeom prst="rect">
            <a:avLst/>
          </a:prstGeom>
          <a:solidFill>
            <a:srgbClr val="FFDC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30" name="CasellaDiTesto 9">
            <a:extLst>
              <a:ext uri="{FF2B5EF4-FFF2-40B4-BE49-F238E27FC236}">
                <a16:creationId xmlns:a16="http://schemas.microsoft.com/office/drawing/2014/main" id="{25D6C0D8-3AB5-2879-A1AE-3041DE17451A}"/>
              </a:ext>
            </a:extLst>
          </p:cNvPr>
          <p:cNvSpPr txBox="1"/>
          <p:nvPr/>
        </p:nvSpPr>
        <p:spPr>
          <a:xfrm>
            <a:off x="217714" y="1147820"/>
            <a:ext cx="9110186" cy="923330"/>
          </a:xfrm>
          <a:prstGeom prst="rect">
            <a:avLst/>
          </a:prstGeom>
          <a:noFill/>
        </p:spPr>
        <p:txBody>
          <a:bodyPr wrap="none" rtlCol="0">
            <a:spAutoFit/>
          </a:bodyPr>
          <a:lstStyle/>
          <a:p>
            <a:r>
              <a:rPr lang="it-IT" sz="2800" dirty="0">
                <a:solidFill>
                  <a:srgbClr val="971720"/>
                </a:solidFill>
                <a:latin typeface="Century Gothic"/>
                <a:cs typeface="Century Gothic"/>
              </a:rPr>
              <a:t>D</a:t>
            </a:r>
            <a:r>
              <a:rPr lang="it-IT" dirty="0">
                <a:solidFill>
                  <a:srgbClr val="162230"/>
                </a:solidFill>
                <a:latin typeface="Century Gothic"/>
                <a:cs typeface="Century Gothic"/>
              </a:rPr>
              <a:t>IPARTIMENTO DI </a:t>
            </a:r>
            <a:r>
              <a:rPr lang="it-IT" sz="2800" dirty="0">
                <a:solidFill>
                  <a:srgbClr val="971720"/>
                </a:solidFill>
                <a:latin typeface="Century Gothic"/>
                <a:cs typeface="Century Gothic"/>
              </a:rPr>
              <a:t>I</a:t>
            </a:r>
            <a:r>
              <a:rPr lang="it-IT" dirty="0">
                <a:solidFill>
                  <a:srgbClr val="162230"/>
                </a:solidFill>
                <a:latin typeface="Century Gothic"/>
                <a:cs typeface="Century Gothic"/>
              </a:rPr>
              <a:t>NGEGNERIA</a:t>
            </a:r>
            <a:r>
              <a:rPr lang="it-IT" dirty="0">
                <a:latin typeface="Century Gothic"/>
                <a:cs typeface="Century Gothic"/>
              </a:rPr>
              <a:t> </a:t>
            </a:r>
            <a:r>
              <a:rPr lang="it-IT" sz="2800" dirty="0">
                <a:solidFill>
                  <a:srgbClr val="971720"/>
                </a:solidFill>
                <a:latin typeface="Century Gothic"/>
                <a:cs typeface="Century Gothic"/>
              </a:rPr>
              <a:t>E</a:t>
            </a:r>
            <a:r>
              <a:rPr lang="it-IT" dirty="0">
                <a:solidFill>
                  <a:srgbClr val="162230"/>
                </a:solidFill>
                <a:latin typeface="Century Gothic"/>
                <a:cs typeface="Century Gothic"/>
              </a:rPr>
              <a:t>LETTRICA E </a:t>
            </a:r>
            <a:r>
              <a:rPr lang="it-IT" sz="2800" dirty="0">
                <a:solidFill>
                  <a:srgbClr val="971720"/>
                </a:solidFill>
                <a:latin typeface="Century Gothic"/>
                <a:cs typeface="Century Gothic"/>
              </a:rPr>
              <a:t>T</a:t>
            </a:r>
            <a:r>
              <a:rPr lang="it-IT" dirty="0">
                <a:solidFill>
                  <a:srgbClr val="162230"/>
                </a:solidFill>
                <a:latin typeface="Century Gothic"/>
                <a:cs typeface="Century Gothic"/>
              </a:rPr>
              <a:t>ECNOLOGIE DEL</a:t>
            </a:r>
            <a:r>
              <a:rPr lang="it-IT" dirty="0">
                <a:latin typeface="Century Gothic"/>
                <a:cs typeface="Century Gothic"/>
              </a:rPr>
              <a:t>L’</a:t>
            </a:r>
            <a:r>
              <a:rPr lang="it-IT" sz="2800" dirty="0">
                <a:solidFill>
                  <a:srgbClr val="971720"/>
                </a:solidFill>
                <a:latin typeface="Century Gothic"/>
                <a:cs typeface="Century Gothic"/>
              </a:rPr>
              <a:t>I</a:t>
            </a:r>
            <a:r>
              <a:rPr lang="it-IT" dirty="0">
                <a:solidFill>
                  <a:srgbClr val="162230"/>
                </a:solidFill>
                <a:latin typeface="Century Gothic"/>
                <a:cs typeface="Century Gothic"/>
              </a:rPr>
              <a:t>NFORMAZIONE</a:t>
            </a:r>
          </a:p>
          <a:p>
            <a:endParaRPr lang="it-IT" sz="800" dirty="0">
              <a:solidFill>
                <a:srgbClr val="162230"/>
              </a:solidFill>
              <a:latin typeface="Century Gothic"/>
              <a:cs typeface="Century Gothic"/>
            </a:endParaRPr>
          </a:p>
          <a:p>
            <a:r>
              <a:rPr lang="it-IT" dirty="0">
                <a:solidFill>
                  <a:srgbClr val="162230"/>
                </a:solidFill>
                <a:latin typeface="Century Gothic"/>
                <a:cs typeface="Century Gothic"/>
              </a:rPr>
              <a:t>SCUOLA POLITECNICA E DELLE SCIENZE DI BASE</a:t>
            </a:r>
          </a:p>
        </p:txBody>
      </p:sp>
      <p:sp>
        <p:nvSpPr>
          <p:cNvPr id="32" name="CasellaDiTesto 12">
            <a:extLst>
              <a:ext uri="{FF2B5EF4-FFF2-40B4-BE49-F238E27FC236}">
                <a16:creationId xmlns:a16="http://schemas.microsoft.com/office/drawing/2014/main" id="{38EFD608-08ED-887B-303A-AEDE2A4AA94C}"/>
              </a:ext>
            </a:extLst>
          </p:cNvPr>
          <p:cNvSpPr txBox="1"/>
          <p:nvPr/>
        </p:nvSpPr>
        <p:spPr>
          <a:xfrm>
            <a:off x="217714" y="2902571"/>
            <a:ext cx="11227034" cy="2631490"/>
          </a:xfrm>
          <a:prstGeom prst="rect">
            <a:avLst/>
          </a:prstGeom>
          <a:noFill/>
        </p:spPr>
        <p:txBody>
          <a:bodyPr wrap="square" rtlCol="0">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3200" b="1" dirty="0">
                <a:solidFill>
                  <a:srgbClr val="971720"/>
                </a:solidFill>
                <a:latin typeface="Century Gothic"/>
                <a:cs typeface="Century Gothic"/>
              </a:rPr>
              <a:t>UNIKRAFT UNIKERNEL </a:t>
            </a:r>
          </a:p>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it-IT" sz="3200" b="1" dirty="0">
              <a:solidFill>
                <a:srgbClr val="971720"/>
              </a:solidFill>
              <a:latin typeface="Century Gothic"/>
              <a:cs typeface="Century Gothic"/>
            </a:endParaRPr>
          </a:p>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2800" dirty="0">
                <a:latin typeface="Century Gothic"/>
                <a:cs typeface="Century Gothic"/>
              </a:rPr>
              <a:t>Candidato: Andrea Scognamiglio M63001431</a:t>
            </a:r>
          </a:p>
          <a:p>
            <a:pPr>
              <a:spcBef>
                <a:spcPts val="18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2800" b="1" dirty="0">
                <a:latin typeface="Century Gothic"/>
              </a:rPr>
              <a:t>Relatori: Prof. Marcello Cinque, Prof. Luigi De Simone.</a:t>
            </a:r>
            <a:endParaRPr lang="it-IT" dirty="0"/>
          </a:p>
        </p:txBody>
      </p:sp>
      <p:sp>
        <p:nvSpPr>
          <p:cNvPr id="34" name="CasellaDiTesto 11">
            <a:extLst>
              <a:ext uri="{FF2B5EF4-FFF2-40B4-BE49-F238E27FC236}">
                <a16:creationId xmlns:a16="http://schemas.microsoft.com/office/drawing/2014/main" id="{544B29C9-AD94-C7B7-2FFE-708F9C0DC931}"/>
              </a:ext>
            </a:extLst>
          </p:cNvPr>
          <p:cNvSpPr txBox="1"/>
          <p:nvPr/>
        </p:nvSpPr>
        <p:spPr>
          <a:xfrm>
            <a:off x="249987" y="2375300"/>
            <a:ext cx="9075155" cy="369332"/>
          </a:xfrm>
          <a:prstGeom prst="rect">
            <a:avLst/>
          </a:prstGeom>
          <a:noFill/>
        </p:spPr>
        <p:txBody>
          <a:bodyPr wrap="square" rtlCol="0">
            <a:spAutoFit/>
          </a:bodyPr>
          <a:lstStyle/>
          <a:p>
            <a:r>
              <a:rPr lang="it-IT" b="1" dirty="0">
                <a:solidFill>
                  <a:srgbClr val="162230"/>
                </a:solidFill>
                <a:latin typeface="Century Gothic"/>
                <a:cs typeface="Century Gothic"/>
              </a:rPr>
              <a:t>ELABORATO DI REAL TIME INDUSTRIAL SYSTEMS AA. 2024/25</a:t>
            </a:r>
          </a:p>
        </p:txBody>
      </p:sp>
    </p:spTree>
    <p:extLst>
      <p:ext uri="{BB962C8B-B14F-4D97-AF65-F5344CB8AC3E}">
        <p14:creationId xmlns:p14="http://schemas.microsoft.com/office/powerpoint/2010/main" val="3165468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EFCA-9235-1C97-95A4-1BC04F3EE0A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D5663D3B-495F-E72B-AFB4-04C3314A5D96}"/>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CDC5660-88E2-96C8-7219-06DB4F10CE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DC32CF67-569C-DBB3-3AA2-EAD441FD3929}"/>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Sommario </a:t>
            </a:r>
          </a:p>
        </p:txBody>
      </p:sp>
      <p:sp>
        <p:nvSpPr>
          <p:cNvPr id="3" name="Rectangle 2">
            <a:extLst>
              <a:ext uri="{FF2B5EF4-FFF2-40B4-BE49-F238E27FC236}">
                <a16:creationId xmlns:a16="http://schemas.microsoft.com/office/drawing/2014/main" id="{BEA4E07B-E4D0-8476-7545-31EC366E35A2}"/>
              </a:ext>
            </a:extLst>
          </p:cNvPr>
          <p:cNvSpPr/>
          <p:nvPr/>
        </p:nvSpPr>
        <p:spPr>
          <a:xfrm>
            <a:off x="111616" y="122442"/>
            <a:ext cx="12080384" cy="6183809"/>
          </a:xfrm>
          <a:prstGeom prst="rect">
            <a:avLst/>
          </a:prstGeom>
        </p:spPr>
        <p:txBody>
          <a:bodyPr wrap="square">
            <a:spAutoFit/>
          </a:bodyPr>
          <a:lstStyle/>
          <a:p>
            <a:pPr>
              <a:spcAft>
                <a:spcPts val="600"/>
              </a:spcAft>
            </a:pPr>
            <a:r>
              <a:rPr lang="it-IT" sz="3200" dirty="0">
                <a:solidFill>
                  <a:srgbClr val="971720"/>
                </a:solidFill>
                <a:latin typeface="Century Gothic"/>
                <a:cs typeface="Century Gothic"/>
              </a:rPr>
              <a:t>SOMMARIO</a:t>
            </a:r>
          </a:p>
          <a:p>
            <a:pPr>
              <a:spcAft>
                <a:spcPts val="600"/>
              </a:spcAft>
            </a:pPr>
            <a:endParaRPr lang="it-IT" sz="3200" dirty="0">
              <a:solidFill>
                <a:srgbClr val="971720"/>
              </a:solidFill>
              <a:latin typeface="Century Gothic"/>
              <a:cs typeface="Century Gothic"/>
            </a:endParaRP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1.    Architettura Target</a:t>
            </a:r>
            <a:endParaRPr lang="it-IT" dirty="0">
              <a:solidFill>
                <a:srgbClr val="162230"/>
              </a:solidFill>
              <a:latin typeface="Century Gothic" pitchFamily="34" charset="0"/>
            </a:endParaRP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2.    </a:t>
            </a:r>
            <a:r>
              <a:rPr lang="it-IT" sz="2400" dirty="0" err="1">
                <a:solidFill>
                  <a:srgbClr val="162230"/>
                </a:solidFill>
                <a:latin typeface="Century Gothic" pitchFamily="34" charset="0"/>
              </a:rPr>
              <a:t>Xen</a:t>
            </a:r>
            <a:r>
              <a:rPr lang="it-IT" sz="2400" dirty="0">
                <a:solidFill>
                  <a:srgbClr val="162230"/>
                </a:solidFill>
                <a:latin typeface="Century Gothic" pitchFamily="34" charset="0"/>
              </a:rPr>
              <a:t> </a:t>
            </a:r>
            <a:r>
              <a:rPr lang="it-IT" sz="2400" dirty="0" err="1">
                <a:solidFill>
                  <a:srgbClr val="162230"/>
                </a:solidFill>
                <a:latin typeface="Century Gothic" pitchFamily="34" charset="0"/>
              </a:rPr>
              <a:t>hypervisor</a:t>
            </a:r>
            <a:endParaRPr lang="it-IT" sz="2400" dirty="0">
              <a:solidFill>
                <a:srgbClr val="162230"/>
              </a:solidFill>
              <a:latin typeface="Century Gothic" pitchFamily="34" charset="0"/>
            </a:endParaRP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3.	</a:t>
            </a:r>
            <a:r>
              <a:rPr lang="it-IT" sz="2400" dirty="0" err="1">
                <a:solidFill>
                  <a:srgbClr val="162230"/>
                </a:solidFill>
                <a:latin typeface="Century Gothic" pitchFamily="34" charset="0"/>
              </a:rPr>
              <a:t>Unikraft</a:t>
            </a:r>
            <a:r>
              <a:rPr lang="it-IT" sz="2400" dirty="0">
                <a:solidFill>
                  <a:srgbClr val="162230"/>
                </a:solidFill>
                <a:latin typeface="Century Gothic" pitchFamily="34" charset="0"/>
              </a:rPr>
              <a:t> </a:t>
            </a:r>
            <a:r>
              <a:rPr lang="it-IT" sz="2400" dirty="0" err="1">
                <a:solidFill>
                  <a:srgbClr val="162230"/>
                </a:solidFill>
                <a:latin typeface="Century Gothic" pitchFamily="34" charset="0"/>
              </a:rPr>
              <a:t>Unikernels</a:t>
            </a:r>
            <a:endParaRPr lang="it-IT" sz="2400" dirty="0">
              <a:solidFill>
                <a:srgbClr val="162230"/>
              </a:solidFill>
              <a:latin typeface="Century Gothic" pitchFamily="34" charset="0"/>
            </a:endParaRP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4.	Design of </a:t>
            </a:r>
            <a:r>
              <a:rPr lang="it-IT" sz="2400" dirty="0" err="1">
                <a:solidFill>
                  <a:srgbClr val="162230"/>
                </a:solidFill>
                <a:latin typeface="Century Gothic" pitchFamily="34" charset="0"/>
              </a:rPr>
              <a:t>Experiments</a:t>
            </a:r>
            <a:r>
              <a:rPr lang="it-IT" sz="2400" dirty="0">
                <a:solidFill>
                  <a:srgbClr val="162230"/>
                </a:solidFill>
                <a:latin typeface="Century Gothic" pitchFamily="34" charset="0"/>
              </a:rPr>
              <a:t> -</a:t>
            </a:r>
            <a:r>
              <a:rPr lang="it-IT" sz="2400" dirty="0" err="1">
                <a:solidFill>
                  <a:srgbClr val="162230"/>
                </a:solidFill>
                <a:latin typeface="Century Gothic" pitchFamily="34" charset="0"/>
              </a:rPr>
              <a:t>Dijkstra</a:t>
            </a:r>
            <a:endParaRPr lang="it-IT" sz="2400" dirty="0">
              <a:solidFill>
                <a:srgbClr val="162230"/>
              </a:solidFill>
              <a:latin typeface="Century Gothic" pitchFamily="34" charset="0"/>
            </a:endParaRP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5.	Risultati sperimentali - Interferenza</a:t>
            </a: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6.	Valutazione Parametri </a:t>
            </a:r>
            <a:r>
              <a:rPr lang="it-IT" sz="2400" dirty="0" err="1">
                <a:solidFill>
                  <a:srgbClr val="162230"/>
                </a:solidFill>
                <a:latin typeface="Century Gothic" pitchFamily="34" charset="0"/>
              </a:rPr>
              <a:t>Scheduler</a:t>
            </a:r>
            <a:r>
              <a:rPr lang="it-IT" sz="2400" dirty="0">
                <a:solidFill>
                  <a:srgbClr val="162230"/>
                </a:solidFill>
                <a:latin typeface="Century Gothic" pitchFamily="34" charset="0"/>
              </a:rPr>
              <a:t> – </a:t>
            </a:r>
            <a:r>
              <a:rPr lang="it-IT" sz="2400" dirty="0" err="1">
                <a:solidFill>
                  <a:srgbClr val="162230"/>
                </a:solidFill>
                <a:latin typeface="Century Gothic" pitchFamily="34" charset="0"/>
              </a:rPr>
              <a:t>DoE</a:t>
            </a:r>
            <a:endParaRPr lang="it-IT" sz="2400" dirty="0">
              <a:solidFill>
                <a:srgbClr val="162230"/>
              </a:solidFill>
              <a:latin typeface="Century Gothic" pitchFamily="34" charset="0"/>
            </a:endParaRP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7.	Confronto con VM classica</a:t>
            </a:r>
          </a:p>
          <a:p>
            <a:pPr marL="342900" lvl="0" indent="-342900">
              <a:lnSpc>
                <a:spcPct val="150000"/>
              </a:lnSpc>
              <a:spcBef>
                <a:spcPct val="20000"/>
              </a:spcBef>
              <a:buClr>
                <a:srgbClr val="FFDC00"/>
              </a:buClr>
              <a:buSzPct val="70000"/>
              <a:buFont typeface="Wingdings" pitchFamily="2" charset="2"/>
              <a:buChar char="u"/>
            </a:pPr>
            <a:r>
              <a:rPr lang="it-IT" sz="2400" dirty="0">
                <a:solidFill>
                  <a:srgbClr val="162230"/>
                </a:solidFill>
                <a:latin typeface="Century Gothic" pitchFamily="34" charset="0"/>
              </a:rPr>
              <a:t>8.	Problemi ed ostacoli incontrati</a:t>
            </a:r>
          </a:p>
        </p:txBody>
      </p:sp>
    </p:spTree>
    <p:extLst>
      <p:ext uri="{BB962C8B-B14F-4D97-AF65-F5344CB8AC3E}">
        <p14:creationId xmlns:p14="http://schemas.microsoft.com/office/powerpoint/2010/main" val="359071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tangolo 10"/>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686E09CE-CE20-4871-2E3C-302E81ED8FE2}"/>
              </a:ext>
            </a:extLst>
          </p:cNvPr>
          <p:cNvSpPr>
            <a:spLocks noGrp="1"/>
          </p:cNvSpPr>
          <p:nvPr>
            <p:ph type="ctrTitle"/>
          </p:nvPr>
        </p:nvSpPr>
        <p:spPr>
          <a:xfrm>
            <a:off x="914400" y="255640"/>
            <a:ext cx="10363200" cy="766915"/>
          </a:xfrm>
        </p:spPr>
        <p:txBody>
          <a:bodyPr/>
          <a:lstStyle/>
          <a:p>
            <a:r>
              <a:rPr lang="it-IT" dirty="0"/>
              <a:t>1. Architettura Target</a:t>
            </a:r>
          </a:p>
        </p:txBody>
      </p:sp>
      <p:sp>
        <p:nvSpPr>
          <p:cNvPr id="8" name="CasellaDiTesto 7">
            <a:extLst>
              <a:ext uri="{FF2B5EF4-FFF2-40B4-BE49-F238E27FC236}">
                <a16:creationId xmlns:a16="http://schemas.microsoft.com/office/drawing/2014/main" id="{B086FBC2-B468-5CE5-F99C-C435E1A6F610}"/>
              </a:ext>
            </a:extLst>
          </p:cNvPr>
          <p:cNvSpPr txBox="1"/>
          <p:nvPr/>
        </p:nvSpPr>
        <p:spPr>
          <a:xfrm>
            <a:off x="186813" y="1307690"/>
            <a:ext cx="4640826" cy="1477328"/>
          </a:xfrm>
          <a:prstGeom prst="rect">
            <a:avLst/>
          </a:prstGeom>
          <a:noFill/>
        </p:spPr>
        <p:txBody>
          <a:bodyPr wrap="square" rtlCol="0">
            <a:spAutoFit/>
          </a:bodyPr>
          <a:lstStyle/>
          <a:p>
            <a:r>
              <a:rPr lang="it-IT" sz="1800" kern="100" dirty="0">
                <a:effectLst/>
                <a:latin typeface="Aptos" panose="020B0004020202020204" pitchFamily="34" charset="0"/>
                <a:ea typeface="Aptos" panose="020B0004020202020204" pitchFamily="34" charset="0"/>
                <a:cs typeface="Times New Roman" panose="02020603050405020304" pitchFamily="18" charset="0"/>
              </a:rPr>
              <a:t>La macchina utilizzata per effettuare le analisi ha le seguenti caratteristiche:</a:t>
            </a:r>
          </a:p>
          <a:p>
            <a:r>
              <a:rPr lang="it-IT" sz="1800" dirty="0">
                <a:effectLst/>
                <a:latin typeface="Aptos" panose="020B0004020202020204" pitchFamily="34" charset="0"/>
                <a:ea typeface="Aptos" panose="020B0004020202020204" pitchFamily="34" charset="0"/>
                <a:cs typeface="Times New Roman" panose="02020603050405020304" pitchFamily="18" charset="0"/>
              </a:rPr>
              <a:t>- Processore: Intel Core-i7 10° generazione.</a:t>
            </a:r>
          </a:p>
          <a:p>
            <a:r>
              <a:rPr lang="de-DE" sz="1800" kern="100" dirty="0">
                <a:effectLst/>
                <a:latin typeface="Aptos" panose="020B0004020202020204" pitchFamily="34" charset="0"/>
                <a:ea typeface="Aptos" panose="020B0004020202020204" pitchFamily="34" charset="0"/>
                <a:cs typeface="Times New Roman" panose="02020603050405020304" pitchFamily="18" charset="0"/>
              </a:rPr>
              <a:t>- RAM: 2 x SODIMM 4 GB. (totale 8 GB).</a:t>
            </a: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it-IT" dirty="0"/>
          </a:p>
        </p:txBody>
      </p:sp>
      <p:pic>
        <p:nvPicPr>
          <p:cNvPr id="14" name="Immagine 13" descr="Immagine che contiene testo, schermata, Carattere, algebra&#10;&#10;Il contenuto generato dall'IA potrebbe non essere corretto.">
            <a:extLst>
              <a:ext uri="{FF2B5EF4-FFF2-40B4-BE49-F238E27FC236}">
                <a16:creationId xmlns:a16="http://schemas.microsoft.com/office/drawing/2014/main" id="{35891F2C-2286-82AA-8953-991FEAA5A429}"/>
              </a:ext>
            </a:extLst>
          </p:cNvPr>
          <p:cNvPicPr>
            <a:picLocks noChangeAspect="1"/>
          </p:cNvPicPr>
          <p:nvPr/>
        </p:nvPicPr>
        <p:blipFill>
          <a:blip r:embed="rId4"/>
          <a:stretch>
            <a:fillRect/>
          </a:stretch>
        </p:blipFill>
        <p:spPr>
          <a:xfrm>
            <a:off x="186813" y="2480638"/>
            <a:ext cx="2606408" cy="2546353"/>
          </a:xfrm>
          <a:prstGeom prst="rect">
            <a:avLst/>
          </a:prstGeom>
        </p:spPr>
      </p:pic>
      <p:pic>
        <p:nvPicPr>
          <p:cNvPr id="15" name="Immagine 14" descr="Immagine che contiene testo, schermata, documento, Carattere&#10;&#10;Il contenuto generato dall'IA potrebbe non essere corretto.">
            <a:extLst>
              <a:ext uri="{FF2B5EF4-FFF2-40B4-BE49-F238E27FC236}">
                <a16:creationId xmlns:a16="http://schemas.microsoft.com/office/drawing/2014/main" id="{59989B95-B611-59DC-6EAB-3A13DB2E7856}"/>
              </a:ext>
            </a:extLst>
          </p:cNvPr>
          <p:cNvPicPr>
            <a:picLocks noChangeAspect="1"/>
          </p:cNvPicPr>
          <p:nvPr/>
        </p:nvPicPr>
        <p:blipFill rotWithShape="1">
          <a:blip r:embed="rId5">
            <a:extLst>
              <a:ext uri="{28A0092B-C50C-407E-A947-70E740481C1C}">
                <a14:useLocalDpi xmlns:a14="http://schemas.microsoft.com/office/drawing/2010/main" val="0"/>
              </a:ext>
            </a:extLst>
          </a:blip>
          <a:srcRect t="22479"/>
          <a:stretch/>
        </p:blipFill>
        <p:spPr bwMode="auto">
          <a:xfrm>
            <a:off x="5377333" y="1293642"/>
            <a:ext cx="6796427" cy="4527055"/>
          </a:xfrm>
          <a:prstGeom prst="rect">
            <a:avLst/>
          </a:prstGeom>
          <a:noFill/>
          <a:ln>
            <a:noFill/>
          </a:ln>
          <a:extLst>
            <a:ext uri="{53640926-AAD7-44D8-BBD7-CCE9431645EC}">
              <a14:shadowObscured xmlns:a14="http://schemas.microsoft.com/office/drawing/2010/main"/>
            </a:ext>
          </a:extLst>
        </p:spPr>
      </p:pic>
      <p:sp>
        <p:nvSpPr>
          <p:cNvPr id="16" name="CasellaDiTesto 15">
            <a:extLst>
              <a:ext uri="{FF2B5EF4-FFF2-40B4-BE49-F238E27FC236}">
                <a16:creationId xmlns:a16="http://schemas.microsoft.com/office/drawing/2014/main" id="{4AD054D9-AC06-9F20-40D8-4339FF60C480}"/>
              </a:ext>
            </a:extLst>
          </p:cNvPr>
          <p:cNvSpPr txBox="1"/>
          <p:nvPr/>
        </p:nvSpPr>
        <p:spPr>
          <a:xfrm>
            <a:off x="186813" y="5026991"/>
            <a:ext cx="4916129" cy="1031564"/>
          </a:xfrm>
          <a:prstGeom prst="rect">
            <a:avLst/>
          </a:prstGeom>
          <a:noFill/>
        </p:spPr>
        <p:txBody>
          <a:bodyPr wrap="square" rtlCol="0">
            <a:spAutoFit/>
          </a:bodyPr>
          <a:lstStyle/>
          <a:p>
            <a:pPr>
              <a:lnSpc>
                <a:spcPct val="115000"/>
              </a:lnSpc>
              <a:spcAft>
                <a:spcPts val="800"/>
              </a:spcAft>
              <a:buNone/>
            </a:pPr>
            <a:r>
              <a:rPr lang="it-IT" sz="1800" dirty="0">
                <a:effectLst/>
                <a:latin typeface="Aptos" panose="020B0004020202020204" pitchFamily="34" charset="0"/>
                <a:ea typeface="Aptos" panose="020B0004020202020204" pitchFamily="34" charset="0"/>
                <a:cs typeface="Times New Roman" panose="02020603050405020304" pitchFamily="18" charset="0"/>
              </a:rPr>
              <a:t>Il kernel Linux installato è la versione 6.1.0-32-amd64, #1 SMP PREEMPT_DYNAMIC .</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dirty="0" err="1">
                <a:latin typeface="Aptos" panose="020B0004020202020204" pitchFamily="34" charset="0"/>
                <a:ea typeface="Aptos" panose="020B0004020202020204" pitchFamily="34" charset="0"/>
                <a:cs typeface="Times New Roman" panose="02020603050405020304" pitchFamily="18" charset="0"/>
              </a:rPr>
              <a:t>Distro</a:t>
            </a:r>
            <a:r>
              <a:rPr lang="it-IT" dirty="0">
                <a:latin typeface="Aptos" panose="020B0004020202020204" pitchFamily="34" charset="0"/>
                <a:ea typeface="Aptos" panose="020B0004020202020204" pitchFamily="34" charset="0"/>
                <a:cs typeface="Times New Roman" panose="02020603050405020304" pitchFamily="18" charset="0"/>
              </a:rPr>
              <a:t>: </a:t>
            </a:r>
            <a:r>
              <a:rPr lang="it-IT" sz="1800" dirty="0">
                <a:effectLst/>
                <a:latin typeface="Aptos" panose="020B0004020202020204" pitchFamily="34" charset="0"/>
                <a:ea typeface="Aptos" panose="020B0004020202020204" pitchFamily="34" charset="0"/>
                <a:cs typeface="Times New Roman" panose="02020603050405020304" pitchFamily="18" charset="0"/>
              </a:rPr>
              <a:t>Debian</a:t>
            </a:r>
            <a:r>
              <a:rPr lang="it-IT" dirty="0">
                <a:latin typeface="Aptos" panose="020B0004020202020204" pitchFamily="34" charset="0"/>
                <a:ea typeface="Aptos" panose="020B0004020202020204" pitchFamily="34" charset="0"/>
                <a:cs typeface="Times New Roman" panose="02020603050405020304" pitchFamily="18" charset="0"/>
              </a:rPr>
              <a:t>-12</a:t>
            </a:r>
            <a:r>
              <a:rPr lang="it-IT" sz="1800" dirty="0">
                <a:effectLst/>
                <a:latin typeface="Aptos" panose="020B0004020202020204" pitchFamily="34" charset="0"/>
                <a:ea typeface="Aptos" panose="020B0004020202020204" pitchFamily="34" charset="0"/>
                <a:cs typeface="Times New Roman" panose="02020603050405020304" pitchFamily="18" charset="0"/>
              </a:rPr>
              <a:t> </a:t>
            </a:r>
            <a:endParaRPr lang="it-IT" dirty="0"/>
          </a:p>
        </p:txBody>
      </p:sp>
    </p:spTree>
    <p:extLst>
      <p:ext uri="{BB962C8B-B14F-4D97-AF65-F5344CB8AC3E}">
        <p14:creationId xmlns:p14="http://schemas.microsoft.com/office/powerpoint/2010/main" val="3372211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F02A-37EC-6724-4229-3CAF28E2A3D9}"/>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29A53B6E-C363-2E79-6B4A-14B54670ADDE}"/>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569C0CB7-39FE-0B87-A6A8-503D461F9B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AC9F2909-06A4-5931-E0D3-02E051F715A6}"/>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29F20657-91D8-E2F9-9405-06BF9291BB54}"/>
              </a:ext>
            </a:extLst>
          </p:cNvPr>
          <p:cNvSpPr>
            <a:spLocks noGrp="1"/>
          </p:cNvSpPr>
          <p:nvPr>
            <p:ph type="ctrTitle"/>
          </p:nvPr>
        </p:nvSpPr>
        <p:spPr>
          <a:xfrm>
            <a:off x="914400" y="255640"/>
            <a:ext cx="10363200" cy="766915"/>
          </a:xfrm>
        </p:spPr>
        <p:txBody>
          <a:bodyPr/>
          <a:lstStyle/>
          <a:p>
            <a:r>
              <a:rPr lang="it-IT" dirty="0"/>
              <a:t> Architettura Target - BIOS</a:t>
            </a:r>
          </a:p>
        </p:txBody>
      </p:sp>
      <p:graphicFrame>
        <p:nvGraphicFramePr>
          <p:cNvPr id="3" name="Tabella 2">
            <a:extLst>
              <a:ext uri="{FF2B5EF4-FFF2-40B4-BE49-F238E27FC236}">
                <a16:creationId xmlns:a16="http://schemas.microsoft.com/office/drawing/2014/main" id="{FF6D96E8-F009-BA22-B3EF-466DA40E65EB}"/>
              </a:ext>
            </a:extLst>
          </p:cNvPr>
          <p:cNvGraphicFramePr>
            <a:graphicFrameLocks noGrp="1"/>
          </p:cNvGraphicFramePr>
          <p:nvPr>
            <p:extLst>
              <p:ext uri="{D42A27DB-BD31-4B8C-83A1-F6EECF244321}">
                <p14:modId xmlns:p14="http://schemas.microsoft.com/office/powerpoint/2010/main" val="2739296555"/>
              </p:ext>
            </p:extLst>
          </p:nvPr>
        </p:nvGraphicFramePr>
        <p:xfrm>
          <a:off x="2120490" y="3067937"/>
          <a:ext cx="8128000" cy="1849120"/>
        </p:xfrm>
        <a:graphic>
          <a:graphicData uri="http://schemas.openxmlformats.org/drawingml/2006/table">
            <a:tbl>
              <a:tblPr firstRow="1" bandRow="1">
                <a:tableStyleId>{93296810-A885-4BE3-A3E7-6D5BEEA58F35}</a:tableStyleId>
              </a:tblPr>
              <a:tblGrid>
                <a:gridCol w="4064000">
                  <a:extLst>
                    <a:ext uri="{9D8B030D-6E8A-4147-A177-3AD203B41FA5}">
                      <a16:colId xmlns:a16="http://schemas.microsoft.com/office/drawing/2014/main" val="2507869125"/>
                    </a:ext>
                  </a:extLst>
                </a:gridCol>
                <a:gridCol w="4064000">
                  <a:extLst>
                    <a:ext uri="{9D8B030D-6E8A-4147-A177-3AD203B41FA5}">
                      <a16:colId xmlns:a16="http://schemas.microsoft.com/office/drawing/2014/main" val="3925021376"/>
                    </a:ext>
                  </a:extLst>
                </a:gridCol>
              </a:tblGrid>
              <a:tr h="0">
                <a:tc>
                  <a:txBody>
                    <a:bodyPr/>
                    <a:lstStyle/>
                    <a:p>
                      <a:r>
                        <a:rPr lang="it-IT" dirty="0"/>
                        <a:t>ABILITATO</a:t>
                      </a:r>
                    </a:p>
                  </a:txBody>
                  <a:tcPr/>
                </a:tc>
                <a:tc>
                  <a:txBody>
                    <a:bodyPr/>
                    <a:lstStyle/>
                    <a:p>
                      <a:r>
                        <a:rPr lang="it-IT" dirty="0"/>
                        <a:t>DISABILITATO</a:t>
                      </a:r>
                    </a:p>
                  </a:txBody>
                  <a:tcPr/>
                </a:tc>
                <a:extLst>
                  <a:ext uri="{0D108BD9-81ED-4DB2-BD59-A6C34878D82A}">
                    <a16:rowId xmlns:a16="http://schemas.microsoft.com/office/drawing/2014/main" val="63460334"/>
                  </a:ext>
                </a:extLst>
              </a:tr>
              <a:tr h="370840">
                <a:tc>
                  <a:txBody>
                    <a:bodyPr/>
                    <a:lstStyle/>
                    <a:p>
                      <a:r>
                        <a:rPr lang="it-IT" dirty="0"/>
                        <a:t>Block </a:t>
                      </a:r>
                      <a:r>
                        <a:rPr lang="it-IT" dirty="0" err="1"/>
                        <a:t>Sleep</a:t>
                      </a:r>
                      <a:r>
                        <a:rPr lang="it-IT" dirty="0"/>
                        <a:t> [Power]</a:t>
                      </a:r>
                    </a:p>
                  </a:txBody>
                  <a:tcPr/>
                </a:tc>
                <a:tc>
                  <a:txBody>
                    <a:bodyPr/>
                    <a:lstStyle/>
                    <a:p>
                      <a:r>
                        <a:rPr lang="it-IT" dirty="0"/>
                        <a:t>Intel Speed Shift Technology</a:t>
                      </a:r>
                    </a:p>
                  </a:txBody>
                  <a:tcPr/>
                </a:tc>
                <a:extLst>
                  <a:ext uri="{0D108BD9-81ED-4DB2-BD59-A6C34878D82A}">
                    <a16:rowId xmlns:a16="http://schemas.microsoft.com/office/drawing/2014/main" val="2177115872"/>
                  </a:ext>
                </a:extLst>
              </a:tr>
              <a:tr h="370840">
                <a:tc>
                  <a:txBody>
                    <a:bodyPr/>
                    <a:lstStyle/>
                    <a:p>
                      <a:endParaRPr lang="it-IT"/>
                    </a:p>
                  </a:txBody>
                  <a:tcPr/>
                </a:tc>
                <a:tc>
                  <a:txBody>
                    <a:bodyPr/>
                    <a:lstStyle/>
                    <a:p>
                      <a:r>
                        <a:rPr lang="it-IT" dirty="0"/>
                        <a:t>Intel Speed Step [Performance]</a:t>
                      </a:r>
                    </a:p>
                  </a:txBody>
                  <a:tcPr/>
                </a:tc>
                <a:extLst>
                  <a:ext uri="{0D108BD9-81ED-4DB2-BD59-A6C34878D82A}">
                    <a16:rowId xmlns:a16="http://schemas.microsoft.com/office/drawing/2014/main" val="2549472842"/>
                  </a:ext>
                </a:extLst>
              </a:tr>
              <a:tr h="370840">
                <a:tc>
                  <a:txBody>
                    <a:bodyPr/>
                    <a:lstStyle/>
                    <a:p>
                      <a:endParaRPr lang="it-IT"/>
                    </a:p>
                  </a:txBody>
                  <a:tcPr/>
                </a:tc>
                <a:tc>
                  <a:txBody>
                    <a:bodyPr/>
                    <a:lstStyle/>
                    <a:p>
                      <a:r>
                        <a:rPr lang="it-IT" dirty="0"/>
                        <a:t>C-state Control</a:t>
                      </a:r>
                    </a:p>
                  </a:txBody>
                  <a:tcPr/>
                </a:tc>
                <a:extLst>
                  <a:ext uri="{0D108BD9-81ED-4DB2-BD59-A6C34878D82A}">
                    <a16:rowId xmlns:a16="http://schemas.microsoft.com/office/drawing/2014/main" val="2382933718"/>
                  </a:ext>
                </a:extLst>
              </a:tr>
              <a:tr h="370840">
                <a:tc>
                  <a:txBody>
                    <a:bodyPr/>
                    <a:lstStyle/>
                    <a:p>
                      <a:endParaRPr lang="it-IT"/>
                    </a:p>
                  </a:txBody>
                  <a:tcPr/>
                </a:tc>
                <a:tc>
                  <a:txBody>
                    <a:bodyPr/>
                    <a:lstStyle/>
                    <a:p>
                      <a:r>
                        <a:rPr lang="it-IT" dirty="0" err="1"/>
                        <a:t>Adaptive</a:t>
                      </a:r>
                      <a:r>
                        <a:rPr lang="it-IT" dirty="0"/>
                        <a:t> C-State for graphic</a:t>
                      </a:r>
                    </a:p>
                  </a:txBody>
                  <a:tcPr/>
                </a:tc>
                <a:extLst>
                  <a:ext uri="{0D108BD9-81ED-4DB2-BD59-A6C34878D82A}">
                    <a16:rowId xmlns:a16="http://schemas.microsoft.com/office/drawing/2014/main" val="2841709223"/>
                  </a:ext>
                </a:extLst>
              </a:tr>
            </a:tbl>
          </a:graphicData>
        </a:graphic>
      </p:graphicFrame>
      <p:sp>
        <p:nvSpPr>
          <p:cNvPr id="5" name="CasellaDiTesto 4">
            <a:extLst>
              <a:ext uri="{FF2B5EF4-FFF2-40B4-BE49-F238E27FC236}">
                <a16:creationId xmlns:a16="http://schemas.microsoft.com/office/drawing/2014/main" id="{900E3DC4-8F2B-0582-E729-C1D6EE8C8556}"/>
              </a:ext>
            </a:extLst>
          </p:cNvPr>
          <p:cNvSpPr txBox="1"/>
          <p:nvPr/>
        </p:nvSpPr>
        <p:spPr>
          <a:xfrm>
            <a:off x="1632155" y="1781101"/>
            <a:ext cx="9645445" cy="369332"/>
          </a:xfrm>
          <a:prstGeom prst="rect">
            <a:avLst/>
          </a:prstGeom>
          <a:noFill/>
        </p:spPr>
        <p:txBody>
          <a:bodyPr wrap="square" rtlCol="0">
            <a:spAutoFit/>
          </a:bodyPr>
          <a:lstStyle/>
          <a:p>
            <a:r>
              <a:rPr lang="it-IT" dirty="0"/>
              <a:t>Le seguenti impostazioni nel BIOS sono state attivate/disattivate:</a:t>
            </a:r>
          </a:p>
        </p:txBody>
      </p:sp>
    </p:spTree>
    <p:extLst>
      <p:ext uri="{BB962C8B-B14F-4D97-AF65-F5344CB8AC3E}">
        <p14:creationId xmlns:p14="http://schemas.microsoft.com/office/powerpoint/2010/main" val="3736735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0E347-4688-1883-8864-34B9D1C8792A}"/>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76F18863-E4B8-93DC-4278-142963C0549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2B7C0E51-5410-FEE0-2A19-1AE1615DD2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60D2587E-D50D-47BD-C802-D5D02CDB9790}"/>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CE627AEA-23B8-5C22-DDD2-AC938D821409}"/>
              </a:ext>
            </a:extLst>
          </p:cNvPr>
          <p:cNvSpPr>
            <a:spLocks noGrp="1"/>
          </p:cNvSpPr>
          <p:nvPr>
            <p:ph type="ctrTitle"/>
          </p:nvPr>
        </p:nvSpPr>
        <p:spPr>
          <a:xfrm>
            <a:off x="914400" y="255640"/>
            <a:ext cx="10363200" cy="766915"/>
          </a:xfrm>
        </p:spPr>
        <p:txBody>
          <a:bodyPr>
            <a:normAutofit/>
          </a:bodyPr>
          <a:lstStyle/>
          <a:p>
            <a:r>
              <a:rPr lang="it-IT" dirty="0"/>
              <a:t>2. </a:t>
            </a:r>
            <a:r>
              <a:rPr lang="it-IT" dirty="0" err="1"/>
              <a:t>Xen</a:t>
            </a:r>
            <a:r>
              <a:rPr lang="it-IT" dirty="0"/>
              <a:t> </a:t>
            </a:r>
            <a:r>
              <a:rPr lang="it-IT" dirty="0" err="1"/>
              <a:t>Hypervisor</a:t>
            </a:r>
            <a:endParaRPr lang="it-IT" dirty="0"/>
          </a:p>
        </p:txBody>
      </p:sp>
      <p:sp>
        <p:nvSpPr>
          <p:cNvPr id="3" name="CasellaDiTesto 2">
            <a:extLst>
              <a:ext uri="{FF2B5EF4-FFF2-40B4-BE49-F238E27FC236}">
                <a16:creationId xmlns:a16="http://schemas.microsoft.com/office/drawing/2014/main" id="{8B63ED44-2D62-8780-7538-C97A2BF5F57F}"/>
              </a:ext>
            </a:extLst>
          </p:cNvPr>
          <p:cNvSpPr txBox="1"/>
          <p:nvPr/>
        </p:nvSpPr>
        <p:spPr>
          <a:xfrm>
            <a:off x="766916" y="1484671"/>
            <a:ext cx="10874478" cy="3416320"/>
          </a:xfrm>
          <a:prstGeom prst="rect">
            <a:avLst/>
          </a:prstGeom>
          <a:noFill/>
        </p:spPr>
        <p:txBody>
          <a:bodyPr wrap="square" rtlCol="0">
            <a:spAutoFit/>
          </a:bodyPr>
          <a:lstStyle/>
          <a:p>
            <a:pPr marL="285750" indent="-285750">
              <a:buFont typeface="Arial" panose="020B0604020202020204" pitchFamily="34" charset="0"/>
              <a:buChar char="•"/>
            </a:pPr>
            <a:r>
              <a:rPr lang="it-IT" dirty="0" err="1"/>
              <a:t>Xen</a:t>
            </a:r>
            <a:r>
              <a:rPr lang="it-IT" dirty="0"/>
              <a:t> è un tipe-1 </a:t>
            </a:r>
            <a:r>
              <a:rPr lang="it-IT" dirty="0" err="1"/>
              <a:t>hypervisor</a:t>
            </a:r>
            <a:r>
              <a:rPr lang="it-IT" dirty="0"/>
              <a:t> molto leggero, che delega la gestione di dispositivi hardware al kernel utilizzato come Dom-0. </a:t>
            </a:r>
          </a:p>
          <a:p>
            <a:pPr marL="285750" indent="-285750">
              <a:buFont typeface="Arial" panose="020B0604020202020204" pitchFamily="34" charset="0"/>
              <a:buChar char="•"/>
            </a:pPr>
            <a:r>
              <a:rPr lang="it-IT" dirty="0"/>
              <a:t>Per questo elaborato è stata utilizzata la versione 4.17.5 di </a:t>
            </a:r>
            <a:r>
              <a:rPr lang="it-IT" dirty="0" err="1"/>
              <a:t>Xen</a:t>
            </a:r>
            <a:r>
              <a:rPr lang="it-IT" dirty="0"/>
              <a:t>.</a:t>
            </a:r>
          </a:p>
          <a:p>
            <a:pPr marL="285750" indent="-285750">
              <a:buFont typeface="Arial" panose="020B0604020202020204" pitchFamily="34" charset="0"/>
              <a:buChar char="•"/>
            </a:pPr>
            <a:r>
              <a:rPr lang="it-IT" dirty="0"/>
              <a:t>Siamo interessati alla valutazione in termini di prestazioni dei vari </a:t>
            </a:r>
            <a:r>
              <a:rPr lang="it-IT" dirty="0" err="1"/>
              <a:t>scheduler</a:t>
            </a:r>
            <a:r>
              <a:rPr lang="it-IT" dirty="0"/>
              <a:t> messi a disposizione da </a:t>
            </a:r>
            <a:r>
              <a:rPr lang="it-IT" dirty="0" err="1"/>
              <a:t>Xen</a:t>
            </a:r>
            <a:r>
              <a:rPr lang="it-IT" dirty="0"/>
              <a:t>. Per abilitare il supporto a tali </a:t>
            </a:r>
            <a:r>
              <a:rPr lang="it-IT" dirty="0" err="1"/>
              <a:t>scheduler</a:t>
            </a:r>
            <a:r>
              <a:rPr lang="it-IT" dirty="0"/>
              <a:t>, bisogna obbligatoriamente effettuare la build from source.</a:t>
            </a:r>
          </a:p>
          <a:p>
            <a:pPr marL="285750" indent="-285750">
              <a:buFont typeface="Arial" panose="020B0604020202020204" pitchFamily="34" charset="0"/>
              <a:buChar char="•"/>
            </a:pPr>
            <a:r>
              <a:rPr lang="it-IT" dirty="0"/>
              <a:t>Per selezionare gli </a:t>
            </a:r>
            <a:r>
              <a:rPr lang="it-IT" dirty="0" err="1"/>
              <a:t>scheduler</a:t>
            </a:r>
            <a:r>
              <a:rPr lang="it-IT" dirty="0"/>
              <a:t> NULL, CREDIT2 e RTDS:</a:t>
            </a:r>
            <a:br>
              <a:rPr lang="it-IT" dirty="0"/>
            </a:br>
            <a:r>
              <a:rPr lang="it-IT" dirty="0"/>
              <a:t>1. Entrare nel menu di configurazione (# make </a:t>
            </a:r>
            <a:r>
              <a:rPr lang="it-IT" dirty="0" err="1"/>
              <a:t>menuconfig</a:t>
            </a:r>
            <a:r>
              <a:rPr lang="it-IT" dirty="0"/>
              <a:t>, nella directory del progetto </a:t>
            </a:r>
            <a:r>
              <a:rPr lang="it-IT" dirty="0" err="1"/>
              <a:t>Xen</a:t>
            </a:r>
            <a:r>
              <a:rPr lang="it-IT" dirty="0"/>
              <a:t> scaricato in locale)</a:t>
            </a:r>
            <a:br>
              <a:rPr lang="it-IT" dirty="0"/>
            </a:br>
            <a:r>
              <a:rPr lang="it-IT" dirty="0"/>
              <a:t>2. Abilitare ‘Expert Features’ dal menù principale.</a:t>
            </a:r>
            <a:br>
              <a:rPr lang="it-IT" dirty="0"/>
            </a:br>
            <a:r>
              <a:rPr lang="it-IT" dirty="0"/>
              <a:t>3. Accedere al </a:t>
            </a:r>
            <a:r>
              <a:rPr lang="it-IT" dirty="0" err="1"/>
              <a:t>submenu</a:t>
            </a:r>
            <a:r>
              <a:rPr lang="it-IT" dirty="0"/>
              <a:t> ‘Common Features’ </a:t>
            </a:r>
            <a:r>
              <a:rPr lang="it-IT" dirty="0">
                <a:sym typeface="Wingdings" panose="05000000000000000000" pitchFamily="2" charset="2"/>
              </a:rPr>
              <a:t> ‘</a:t>
            </a:r>
            <a:r>
              <a:rPr lang="it-IT" dirty="0" err="1">
                <a:sym typeface="Wingdings" panose="05000000000000000000" pitchFamily="2" charset="2"/>
              </a:rPr>
              <a:t>Schedulers</a:t>
            </a:r>
            <a:r>
              <a:rPr lang="it-IT" dirty="0">
                <a:sym typeface="Wingdings" panose="05000000000000000000" pitchFamily="2" charset="2"/>
              </a:rPr>
              <a:t>’ .</a:t>
            </a:r>
            <a:br>
              <a:rPr lang="it-IT" dirty="0">
                <a:sym typeface="Wingdings" panose="05000000000000000000" pitchFamily="2" charset="2"/>
              </a:rPr>
            </a:br>
            <a:r>
              <a:rPr lang="it-IT" dirty="0">
                <a:sym typeface="Wingdings" panose="05000000000000000000" pitchFamily="2" charset="2"/>
              </a:rPr>
              <a:t>4. Cliccare ‘Y’ in corrispondenza di ogni </a:t>
            </a:r>
            <a:r>
              <a:rPr lang="it-IT" dirty="0" err="1">
                <a:sym typeface="Wingdings" panose="05000000000000000000" pitchFamily="2" charset="2"/>
              </a:rPr>
              <a:t>scheduler</a:t>
            </a:r>
            <a:r>
              <a:rPr lang="it-IT" dirty="0">
                <a:sym typeface="Wingdings" panose="05000000000000000000" pitchFamily="2" charset="2"/>
              </a:rPr>
              <a:t> che si vuole abilitare.</a:t>
            </a:r>
            <a:br>
              <a:rPr lang="it-IT" dirty="0">
                <a:sym typeface="Wingdings" panose="05000000000000000000" pitchFamily="2" charset="2"/>
              </a:rPr>
            </a:br>
            <a:r>
              <a:rPr lang="it-IT" dirty="0">
                <a:sym typeface="Wingdings" panose="05000000000000000000" pitchFamily="2" charset="2"/>
              </a:rPr>
              <a:t>5. Salvare la configurazione (verrà generato il .</a:t>
            </a:r>
            <a:r>
              <a:rPr lang="it-IT" dirty="0" err="1">
                <a:sym typeface="Wingdings" panose="05000000000000000000" pitchFamily="2" charset="2"/>
              </a:rPr>
              <a:t>config</a:t>
            </a:r>
            <a:r>
              <a:rPr lang="it-IT" dirty="0">
                <a:sym typeface="Wingdings" panose="05000000000000000000" pitchFamily="2" charset="2"/>
              </a:rPr>
              <a:t>).</a:t>
            </a:r>
          </a:p>
          <a:p>
            <a:pPr marL="285750" indent="-285750">
              <a:buFont typeface="Arial" panose="020B0604020202020204" pitchFamily="34" charset="0"/>
              <a:buChar char="•"/>
            </a:pPr>
            <a:r>
              <a:rPr lang="it-IT" dirty="0">
                <a:sym typeface="Wingdings" panose="05000000000000000000" pitchFamily="2" charset="2"/>
              </a:rPr>
              <a:t>Per tutti i passaggi, fare riferimento alla guida fornita insieme al seguente ppt.</a:t>
            </a:r>
            <a:r>
              <a:rPr lang="it-IT" dirty="0"/>
              <a:t> </a:t>
            </a:r>
          </a:p>
        </p:txBody>
      </p:sp>
    </p:spTree>
    <p:extLst>
      <p:ext uri="{BB962C8B-B14F-4D97-AF65-F5344CB8AC3E}">
        <p14:creationId xmlns:p14="http://schemas.microsoft.com/office/powerpoint/2010/main" val="3231028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B408C-6E82-18D3-26D5-A002A9100E31}"/>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768AC0F9-9405-D819-C46F-192123358710}"/>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2E193EE1-D1D1-F8FA-F572-FFE3823F82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7B73326F-9A33-B885-2D0A-76185DCDE9A4}"/>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07925B7A-2F38-2C0B-D63D-E2B669E9B66E}"/>
              </a:ext>
            </a:extLst>
          </p:cNvPr>
          <p:cNvSpPr>
            <a:spLocks noGrp="1"/>
          </p:cNvSpPr>
          <p:nvPr>
            <p:ph type="ctrTitle"/>
          </p:nvPr>
        </p:nvSpPr>
        <p:spPr>
          <a:xfrm>
            <a:off x="914400" y="255640"/>
            <a:ext cx="10363200" cy="766915"/>
          </a:xfrm>
        </p:spPr>
        <p:txBody>
          <a:bodyPr>
            <a:normAutofit/>
          </a:bodyPr>
          <a:lstStyle/>
          <a:p>
            <a:r>
              <a:rPr lang="it-IT" dirty="0" err="1"/>
              <a:t>Xen</a:t>
            </a:r>
            <a:r>
              <a:rPr lang="it-IT" dirty="0"/>
              <a:t> </a:t>
            </a:r>
            <a:r>
              <a:rPr lang="it-IT" dirty="0" err="1"/>
              <a:t>Schedulers</a:t>
            </a:r>
            <a:endParaRPr lang="it-IT" dirty="0"/>
          </a:p>
        </p:txBody>
      </p:sp>
      <p:sp>
        <p:nvSpPr>
          <p:cNvPr id="3" name="CasellaDiTesto 2">
            <a:extLst>
              <a:ext uri="{FF2B5EF4-FFF2-40B4-BE49-F238E27FC236}">
                <a16:creationId xmlns:a16="http://schemas.microsoft.com/office/drawing/2014/main" id="{B1C75968-C9B6-B1BD-3147-23F65ED1AC2F}"/>
              </a:ext>
            </a:extLst>
          </p:cNvPr>
          <p:cNvSpPr txBox="1"/>
          <p:nvPr/>
        </p:nvSpPr>
        <p:spPr>
          <a:xfrm>
            <a:off x="766916" y="1484671"/>
            <a:ext cx="10874478" cy="3174202"/>
          </a:xfrm>
          <a:prstGeom prst="rect">
            <a:avLst/>
          </a:prstGeom>
          <a:noFill/>
        </p:spPr>
        <p:txBody>
          <a:bodyPr wrap="square" rtlCol="0">
            <a:spAutoFit/>
          </a:bodyPr>
          <a:lstStyle/>
          <a:p>
            <a:pPr>
              <a:lnSpc>
                <a:spcPct val="115000"/>
              </a:lnSpc>
              <a:spcBef>
                <a:spcPts val="800"/>
              </a:spcBef>
              <a:spcAft>
                <a:spcPts val="400"/>
              </a:spcAft>
              <a:buNone/>
            </a:pPr>
            <a:r>
              <a:rPr lang="it-IT"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Credit2</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E’ 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di default che segue la politica fair-share.</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Specializzato per carichi misti (mixed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workloads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 l’obiettivo principale di migliorare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fairness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responsiveness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scalability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Fairness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Ogni VM prende possesso di una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maniera fair share.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total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fairness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raggiunta se ogni VM prende in maniera equa la capacità totale diviso il numero di VM in competizione per essa. </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Responsiveness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workload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sensitive dovrebbero lavorare “abbastanza bene”.</a:t>
            </a:r>
          </a:p>
          <a:p>
            <a:pPr marL="342900" lvl="0" indent="-342900">
              <a:lnSpc>
                <a:spcPct val="115000"/>
              </a:lnSpc>
              <a:spcAft>
                <a:spcPts val="800"/>
              </a:spcAft>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Scalability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l’overhead su grandi servers con un numero enorme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dovrebbe essere piccolo.</a:t>
            </a:r>
          </a:p>
          <a:p>
            <a:endParaRPr lang="it-IT" dirty="0"/>
          </a:p>
        </p:txBody>
      </p:sp>
    </p:spTree>
    <p:extLst>
      <p:ext uri="{BB962C8B-B14F-4D97-AF65-F5344CB8AC3E}">
        <p14:creationId xmlns:p14="http://schemas.microsoft.com/office/powerpoint/2010/main" val="1244178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AE7F4-2311-CED8-F72E-F1A86F65B0DC}"/>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D77E665D-03FE-6FAF-311A-6DF11CE5CFFA}"/>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FFD2ADCD-CA92-9C6C-E335-9D59B94BE3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4838FA6-55AD-3932-13CA-1D7E725864D0}"/>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F5380ABD-8F28-BA90-6BB3-B3500EED1F27}"/>
              </a:ext>
            </a:extLst>
          </p:cNvPr>
          <p:cNvSpPr>
            <a:spLocks noGrp="1"/>
          </p:cNvSpPr>
          <p:nvPr>
            <p:ph type="ctrTitle"/>
          </p:nvPr>
        </p:nvSpPr>
        <p:spPr>
          <a:xfrm>
            <a:off x="914400" y="255640"/>
            <a:ext cx="10363200" cy="766915"/>
          </a:xfrm>
        </p:spPr>
        <p:txBody>
          <a:bodyPr>
            <a:normAutofit/>
          </a:bodyPr>
          <a:lstStyle/>
          <a:p>
            <a:r>
              <a:rPr lang="it-IT" dirty="0" err="1"/>
              <a:t>Xen</a:t>
            </a:r>
            <a:r>
              <a:rPr lang="it-IT" dirty="0"/>
              <a:t> </a:t>
            </a:r>
            <a:r>
              <a:rPr lang="it-IT" dirty="0" err="1"/>
              <a:t>Schedulers</a:t>
            </a:r>
            <a:endParaRPr lang="it-IT" dirty="0"/>
          </a:p>
        </p:txBody>
      </p:sp>
      <p:sp>
        <p:nvSpPr>
          <p:cNvPr id="3" name="CasellaDiTesto 2">
            <a:extLst>
              <a:ext uri="{FF2B5EF4-FFF2-40B4-BE49-F238E27FC236}">
                <a16:creationId xmlns:a16="http://schemas.microsoft.com/office/drawing/2014/main" id="{61486022-DDB7-E4B7-28DC-9CC99CB85B02}"/>
              </a:ext>
            </a:extLst>
          </p:cNvPr>
          <p:cNvSpPr txBox="1"/>
          <p:nvPr/>
        </p:nvSpPr>
        <p:spPr>
          <a:xfrm>
            <a:off x="825909" y="1002885"/>
            <a:ext cx="10874478" cy="5506636"/>
          </a:xfrm>
          <a:prstGeom prst="rect">
            <a:avLst/>
          </a:prstGeom>
          <a:noFill/>
        </p:spPr>
        <p:txBody>
          <a:bodyPr wrap="square" rtlCol="0">
            <a:spAutoFit/>
          </a:bodyPr>
          <a:lstStyle/>
          <a:p>
            <a:pPr>
              <a:lnSpc>
                <a:spcPct val="115000"/>
              </a:lnSpc>
              <a:spcBef>
                <a:spcPts val="800"/>
              </a:spcBef>
              <a:spcAft>
                <a:spcPts val="400"/>
              </a:spcAft>
              <a:buNone/>
            </a:pPr>
            <a:r>
              <a:rPr lang="it-IT"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Credit2</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I parametri di credit2 sono:</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Weight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determina la priorità relativa di un dominio virtuale rispetto ad altri in caso di competizione (contesa). Più alto è il valore del weight, maggiore sarà la quantità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che il dominio riceverà in caso di concorrenza. Il valore di default è 256.</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Cap</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cap</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se abilitato fissa un limite massimo alla quantità di CPU che un dominio può utilizzare.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cap</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espresso in percentuale: 100 vuol dire 1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50 è metà di 1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mentre ad esempio 400 vuol dire 4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Ratelimit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il minimo tempo in microsecondi in cui una VM è abilitata ad eseguire senza che venga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preemptata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Il valore di default è 1000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Quando una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viene eseguita consumerà dei crediti. Di tanto in tanto viene eseguito il conteggio dei crediti guadagnati e consumati da 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Se il bilancio è positivo può eseguire, altrimenti deve attendere che i crediti tornino ad essere positivi.</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b="1" kern="100" dirty="0">
                <a:effectLst/>
                <a:latin typeface="Aptos" panose="020B0004020202020204" pitchFamily="34" charset="0"/>
                <a:ea typeface="Aptos" panose="020B0004020202020204" pitchFamily="34" charset="0"/>
                <a:cs typeface="Times New Roman" panose="02020603050405020304" pitchFamily="18" charset="0"/>
              </a:rPr>
              <a:t>Credit2 effettua load balancing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questo aiuta nel rassicurare che ogni VM riceva in maniera fair il proprio CPU time.</a:t>
            </a:r>
          </a:p>
          <a:p>
            <a:endParaRPr lang="it-IT" dirty="0"/>
          </a:p>
        </p:txBody>
      </p:sp>
    </p:spTree>
    <p:extLst>
      <p:ext uri="{BB962C8B-B14F-4D97-AF65-F5344CB8AC3E}">
        <p14:creationId xmlns:p14="http://schemas.microsoft.com/office/powerpoint/2010/main" val="1477549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D65E3-B2EF-1880-6737-4067BFEC25E7}"/>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504194E0-9F2F-61A2-2BED-7A74677688DB}"/>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F43C9497-2541-5B34-DB8E-BC1A9073F8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AEB62BA1-A6B4-BA53-DD22-69071CB7DD25}"/>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26F4CB88-44D8-BFDE-5D59-019E83870182}"/>
              </a:ext>
            </a:extLst>
          </p:cNvPr>
          <p:cNvSpPr>
            <a:spLocks noGrp="1"/>
          </p:cNvSpPr>
          <p:nvPr>
            <p:ph type="ctrTitle"/>
          </p:nvPr>
        </p:nvSpPr>
        <p:spPr>
          <a:xfrm>
            <a:off x="914400" y="255640"/>
            <a:ext cx="10363200" cy="766915"/>
          </a:xfrm>
        </p:spPr>
        <p:txBody>
          <a:bodyPr>
            <a:normAutofit/>
          </a:bodyPr>
          <a:lstStyle/>
          <a:p>
            <a:r>
              <a:rPr lang="it-IT" dirty="0" err="1"/>
              <a:t>Xen</a:t>
            </a:r>
            <a:r>
              <a:rPr lang="it-IT" dirty="0"/>
              <a:t> </a:t>
            </a:r>
            <a:r>
              <a:rPr lang="it-IT" dirty="0" err="1"/>
              <a:t>Schedulers</a:t>
            </a:r>
            <a:endParaRPr lang="it-IT" dirty="0"/>
          </a:p>
        </p:txBody>
      </p:sp>
      <p:sp>
        <p:nvSpPr>
          <p:cNvPr id="3" name="CasellaDiTesto 2">
            <a:extLst>
              <a:ext uri="{FF2B5EF4-FFF2-40B4-BE49-F238E27FC236}">
                <a16:creationId xmlns:a16="http://schemas.microsoft.com/office/drawing/2014/main" id="{293ADE6B-8F61-2466-2108-B2B59927A075}"/>
              </a:ext>
            </a:extLst>
          </p:cNvPr>
          <p:cNvSpPr txBox="1"/>
          <p:nvPr/>
        </p:nvSpPr>
        <p:spPr>
          <a:xfrm>
            <a:off x="825909" y="1002885"/>
            <a:ext cx="10874478" cy="4679423"/>
          </a:xfrm>
          <a:prstGeom prst="rect">
            <a:avLst/>
          </a:prstGeom>
          <a:noFill/>
        </p:spPr>
        <p:txBody>
          <a:bodyPr wrap="square" rtlCol="0">
            <a:spAutoFit/>
          </a:bodyPr>
          <a:lstStyle/>
          <a:p>
            <a:pPr>
              <a:lnSpc>
                <a:spcPct val="115000"/>
              </a:lnSpc>
              <a:spcBef>
                <a:spcPts val="800"/>
              </a:spcBef>
              <a:spcAft>
                <a:spcPts val="400"/>
              </a:spcAft>
              <a:buNone/>
            </a:pPr>
            <a:r>
              <a:rPr lang="it-IT"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RTDS – Real Time </a:t>
            </a:r>
            <a:r>
              <a:rPr lang="it-IT" sz="1800" b="1" kern="100" dirty="0" err="1">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Deferrable</a:t>
            </a:r>
            <a:r>
              <a:rPr lang="it-IT"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Server</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Ad  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di ogni dominio viene assegnato un budget ed un periodo. 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 un budget &lt;b&gt; ed un periodo &lt;p&gt; sarà eseguita per &lt;b&gt;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(non necessariamente in maniera continua) in ogni periodo &lt;p&gt;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La deadline di 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il termine del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period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&lt;p&gt;.</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All’inizio di ogni periodo il budget di 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viene ripristinato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replenishment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Il budget non utilizzato viene scartato al termine del periodo, altrimenti, se il budget non basta per la completa esecuzione all’interno del periodo, il task viene comunque bloccato e dovrà attendere l’inizio del prossimo periodo per ottenere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replenishment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si comporta come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deferrable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server: quando c’è un task in esecuzione su essa, il budget viene consumato, altrimenti no.</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segue il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Global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Earliest</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Deadline First (EDF)</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schedulare 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Ad ogni scheduling point,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 la deadline più vicina ha la priorità maggiore.</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2434903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CCC79-54BA-30D3-BFAD-67CA78AA62A4}"/>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4B3C25DC-6CD4-2146-D6D8-E13C04FAA1C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E1507E60-8A24-81A3-B865-20F9216AF9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11903FF9-C0AD-D8FF-1622-35503AF300A1}"/>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A7721E76-3346-49CC-99ED-4CC4F51CDC24}"/>
              </a:ext>
            </a:extLst>
          </p:cNvPr>
          <p:cNvSpPr>
            <a:spLocks noGrp="1"/>
          </p:cNvSpPr>
          <p:nvPr>
            <p:ph type="ctrTitle"/>
          </p:nvPr>
        </p:nvSpPr>
        <p:spPr>
          <a:xfrm>
            <a:off x="914400" y="255640"/>
            <a:ext cx="10363200" cy="766915"/>
          </a:xfrm>
        </p:spPr>
        <p:txBody>
          <a:bodyPr>
            <a:normAutofit/>
          </a:bodyPr>
          <a:lstStyle/>
          <a:p>
            <a:r>
              <a:rPr lang="it-IT" dirty="0" err="1"/>
              <a:t>Xen</a:t>
            </a:r>
            <a:r>
              <a:rPr lang="it-IT" dirty="0"/>
              <a:t> </a:t>
            </a:r>
            <a:r>
              <a:rPr lang="it-IT" dirty="0" err="1"/>
              <a:t>Schedulers</a:t>
            </a:r>
            <a:endParaRPr lang="it-IT" dirty="0"/>
          </a:p>
        </p:txBody>
      </p:sp>
      <p:sp>
        <p:nvSpPr>
          <p:cNvPr id="3" name="CasellaDiTesto 2">
            <a:extLst>
              <a:ext uri="{FF2B5EF4-FFF2-40B4-BE49-F238E27FC236}">
                <a16:creationId xmlns:a16="http://schemas.microsoft.com/office/drawing/2014/main" id="{B731F8FA-C12F-15D8-32D4-0D977ACB8440}"/>
              </a:ext>
            </a:extLst>
          </p:cNvPr>
          <p:cNvSpPr txBox="1"/>
          <p:nvPr/>
        </p:nvSpPr>
        <p:spPr>
          <a:xfrm>
            <a:off x="658761" y="1522997"/>
            <a:ext cx="10874478" cy="3812006"/>
          </a:xfrm>
          <a:prstGeom prst="rect">
            <a:avLst/>
          </a:prstGeom>
          <a:noFill/>
        </p:spPr>
        <p:txBody>
          <a:bodyPr wrap="square" rtlCol="0">
            <a:spAutoFit/>
          </a:bodyPr>
          <a:lstStyle/>
          <a:p>
            <a:pPr>
              <a:lnSpc>
                <a:spcPct val="115000"/>
              </a:lnSpc>
              <a:spcBef>
                <a:spcPts val="800"/>
              </a:spcBef>
              <a:spcAft>
                <a:spcPts val="400"/>
              </a:spcAft>
              <a:buNone/>
            </a:pPr>
            <a:r>
              <a:rPr lang="it-IT"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NULL</a:t>
            </a:r>
          </a:p>
          <a:p>
            <a:pPr>
              <a:buNone/>
            </a:pPr>
            <a:r>
              <a:rPr lang="it-IT" sz="1800" dirty="0">
                <a:effectLst/>
                <a:latin typeface="Aptos" panose="020B0004020202020204" pitchFamily="34" charset="0"/>
                <a:ea typeface="Aptos" panose="020B0004020202020204" pitchFamily="34" charset="0"/>
                <a:cs typeface="Times New Roman" panose="02020603050405020304" pitchFamily="18" charset="0"/>
              </a:rPr>
              <a:t>L'algoritmo di </a:t>
            </a:r>
            <a:r>
              <a:rPr lang="it-IT" sz="18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dirty="0">
                <a:effectLst/>
                <a:latin typeface="Aptos" panose="020B0004020202020204" pitchFamily="34" charset="0"/>
                <a:ea typeface="Aptos" panose="020B0004020202020204" pitchFamily="34" charset="0"/>
                <a:cs typeface="Times New Roman" panose="02020603050405020304" pitchFamily="18" charset="0"/>
              </a:rPr>
              <a:t> è estremamente semplice: </a:t>
            </a:r>
            <a:r>
              <a:rPr lang="it-IT" sz="1800" b="1" dirty="0">
                <a:effectLst/>
                <a:latin typeface="Aptos" panose="020B0004020202020204" pitchFamily="34" charset="0"/>
                <a:ea typeface="Aptos" panose="020B0004020202020204" pitchFamily="34" charset="0"/>
                <a:cs typeface="Times New Roman" panose="02020603050405020304" pitchFamily="18" charset="0"/>
              </a:rPr>
              <a:t>se una CPU ha un'unica VM assegnata, questa eseguirà senza interruzioni; se ci sono più VM sulla stessa CPU, verranno eseguite con una politica FIFO (First-In, First-Out) senza nessuna forma di </a:t>
            </a:r>
            <a:r>
              <a:rPr lang="it-IT" sz="1800" b="1" dirty="0" err="1">
                <a:effectLst/>
                <a:latin typeface="Aptos" panose="020B0004020202020204" pitchFamily="34" charset="0"/>
                <a:ea typeface="Aptos" panose="020B0004020202020204" pitchFamily="34" charset="0"/>
                <a:cs typeface="Times New Roman" panose="02020603050405020304" pitchFamily="18" charset="0"/>
              </a:rPr>
              <a:t>fairness</a:t>
            </a:r>
            <a:r>
              <a:rPr lang="it-IT" sz="1800" b="1" dirty="0">
                <a:effectLst/>
                <a:latin typeface="Aptos" panose="020B0004020202020204" pitchFamily="34" charset="0"/>
                <a:ea typeface="Aptos" panose="020B0004020202020204" pitchFamily="34" charset="0"/>
                <a:cs typeface="Times New Roman" panose="02020603050405020304" pitchFamily="18" charset="0"/>
              </a:rPr>
              <a:t> o </a:t>
            </a:r>
            <a:r>
              <a:rPr lang="it-IT" sz="1800" b="1" dirty="0" err="1">
                <a:effectLst/>
                <a:latin typeface="Aptos" panose="020B0004020202020204" pitchFamily="34" charset="0"/>
                <a:ea typeface="Aptos" panose="020B0004020202020204" pitchFamily="34" charset="0"/>
                <a:cs typeface="Times New Roman" panose="02020603050405020304" pitchFamily="18" charset="0"/>
              </a:rPr>
              <a:t>preemption</a:t>
            </a:r>
            <a:r>
              <a:rPr lang="it-IT" sz="1800" b="1" dirty="0">
                <a:effectLst/>
                <a:latin typeface="Aptos" panose="020B0004020202020204" pitchFamily="34" charset="0"/>
                <a:ea typeface="Aptos" panose="020B0004020202020204" pitchFamily="34" charset="0"/>
                <a:cs typeface="Times New Roman" panose="02020603050405020304" pitchFamily="18" charset="0"/>
              </a:rPr>
              <a:t> attiva.</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dirty="0">
                <a:effectLst/>
                <a:latin typeface="Aptos" panose="020B0004020202020204" pitchFamily="34" charset="0"/>
                <a:ea typeface="Aptos" panose="020B0004020202020204" pitchFamily="34" charset="0"/>
                <a:cs typeface="Times New Roman" panose="02020603050405020304" pitchFamily="18" charset="0"/>
              </a:rPr>
              <a:t>Per quanto riguarda le affinità, </a:t>
            </a:r>
            <a:r>
              <a:rPr lang="it-IT" sz="18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dirty="0">
                <a:effectLst/>
                <a:latin typeface="Aptos" panose="020B0004020202020204" pitchFamily="34" charset="0"/>
                <a:ea typeface="Aptos" panose="020B0004020202020204" pitchFamily="34" charset="0"/>
                <a:cs typeface="Times New Roman" panose="02020603050405020304" pitchFamily="18" charset="0"/>
              </a:rPr>
              <a:t> permette di vincolare una VM a un sottoinsieme specifico di CPU, garantendo che esegua sempre su quei core senza migrazione automatica. Ciò può migliorare le prestazioni in scenari dove la coerenza della cache e la latenza sono critiche, ma al contempo impedisce una distribuzione dinamica del carico.</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dirty="0">
                <a:effectLst/>
                <a:latin typeface="Aptos" panose="020B0004020202020204" pitchFamily="34" charset="0"/>
                <a:ea typeface="Aptos" panose="020B0004020202020204" pitchFamily="34" charset="0"/>
                <a:cs typeface="Times New Roman" panose="02020603050405020304" pitchFamily="18" charset="0"/>
              </a:rPr>
              <a:t>Lo </a:t>
            </a:r>
            <a:r>
              <a:rPr lang="it-IT" sz="18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dirty="0">
                <a:effectLst/>
                <a:latin typeface="Aptos" panose="020B0004020202020204" pitchFamily="34" charset="0"/>
                <a:ea typeface="Aptos" panose="020B0004020202020204" pitchFamily="34" charset="0"/>
                <a:cs typeface="Times New Roman" panose="02020603050405020304" pitchFamily="18" charset="0"/>
              </a:rPr>
              <a:t> </a:t>
            </a:r>
            <a:r>
              <a:rPr lang="it-IT" sz="18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dirty="0">
                <a:effectLst/>
                <a:latin typeface="Aptos" panose="020B0004020202020204" pitchFamily="34" charset="0"/>
                <a:ea typeface="Aptos" panose="020B0004020202020204" pitchFamily="34" charset="0"/>
                <a:cs typeface="Times New Roman" panose="02020603050405020304" pitchFamily="18" charset="0"/>
              </a:rPr>
              <a:t> in </a:t>
            </a:r>
            <a:r>
              <a:rPr lang="it-IT" sz="1800" dirty="0" err="1">
                <a:effectLst/>
                <a:latin typeface="Aptos" panose="020B0004020202020204" pitchFamily="34" charset="0"/>
                <a:ea typeface="Aptos" panose="020B0004020202020204" pitchFamily="34" charset="0"/>
                <a:cs typeface="Times New Roman" panose="02020603050405020304" pitchFamily="18" charset="0"/>
              </a:rPr>
              <a:t>Xen</a:t>
            </a:r>
            <a:r>
              <a:rPr lang="it-IT" sz="1800" dirty="0">
                <a:effectLst/>
                <a:latin typeface="Aptos" panose="020B0004020202020204" pitchFamily="34" charset="0"/>
                <a:ea typeface="Aptos" panose="020B0004020202020204" pitchFamily="34" charset="0"/>
                <a:cs typeface="Times New Roman" panose="02020603050405020304" pitchFamily="18" charset="0"/>
              </a:rPr>
              <a:t> è uno </a:t>
            </a:r>
            <a:r>
              <a:rPr lang="it-IT" sz="18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dirty="0">
                <a:effectLst/>
                <a:latin typeface="Aptos" panose="020B0004020202020204" pitchFamily="34" charset="0"/>
                <a:ea typeface="Aptos" panose="020B0004020202020204" pitchFamily="34" charset="0"/>
                <a:cs typeface="Times New Roman" panose="02020603050405020304" pitchFamily="18" charset="0"/>
              </a:rPr>
              <a:t> minimale che non implementa alcun algoritmo avanzato di bilanciamento del carico o di allocazione delle risorse. </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dirty="0">
                <a:effectLst/>
                <a:latin typeface="Aptos" panose="020B0004020202020204" pitchFamily="34" charset="0"/>
                <a:ea typeface="Aptos" panose="020B0004020202020204" pitchFamily="34" charset="0"/>
                <a:cs typeface="Times New Roman" panose="02020603050405020304" pitchFamily="18" charset="0"/>
              </a:rPr>
              <a:t>Per tale motivo il nome "</a:t>
            </a:r>
            <a:r>
              <a:rPr lang="it-IT" sz="18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dirty="0">
                <a:effectLst/>
                <a:latin typeface="Aptos" panose="020B0004020202020204" pitchFamily="34" charset="0"/>
                <a:ea typeface="Aptos" panose="020B0004020202020204" pitchFamily="34" charset="0"/>
                <a:cs typeface="Times New Roman" panose="02020603050405020304" pitchFamily="18" charset="0"/>
              </a:rPr>
              <a:t>" deriva dal fatto che, essenzialmente, non applica alcuna politica complessa di scheduling.</a:t>
            </a:r>
            <a:endParaRPr lang="it-IT" dirty="0"/>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832436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9FDEA-E86E-5767-207F-1EA907301B72}"/>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A6276004-AC87-9874-A074-C00249F60E7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2A66CCDB-25EB-1CFE-223C-88545374DC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EB79C292-9831-545F-F934-358B5768F90E}"/>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70BF02C2-762D-2E6E-B033-301D437EF5A1}"/>
              </a:ext>
            </a:extLst>
          </p:cNvPr>
          <p:cNvSpPr>
            <a:spLocks noGrp="1"/>
          </p:cNvSpPr>
          <p:nvPr>
            <p:ph type="ctrTitle"/>
          </p:nvPr>
        </p:nvSpPr>
        <p:spPr>
          <a:xfrm>
            <a:off x="914400" y="255640"/>
            <a:ext cx="10363200" cy="766915"/>
          </a:xfrm>
        </p:spPr>
        <p:txBody>
          <a:bodyPr>
            <a:normAutofit/>
          </a:bodyPr>
          <a:lstStyle/>
          <a:p>
            <a:r>
              <a:rPr lang="it-IT" dirty="0"/>
              <a:t>3. </a:t>
            </a:r>
            <a:r>
              <a:rPr lang="it-IT" dirty="0" err="1"/>
              <a:t>Unikraft</a:t>
            </a:r>
            <a:r>
              <a:rPr lang="it-IT" dirty="0"/>
              <a:t> </a:t>
            </a:r>
          </a:p>
        </p:txBody>
      </p:sp>
      <p:sp>
        <p:nvSpPr>
          <p:cNvPr id="3" name="CasellaDiTesto 2">
            <a:extLst>
              <a:ext uri="{FF2B5EF4-FFF2-40B4-BE49-F238E27FC236}">
                <a16:creationId xmlns:a16="http://schemas.microsoft.com/office/drawing/2014/main" id="{C6AA2F0D-E81B-A127-5A3E-0AE36250D967}"/>
              </a:ext>
            </a:extLst>
          </p:cNvPr>
          <p:cNvSpPr txBox="1"/>
          <p:nvPr/>
        </p:nvSpPr>
        <p:spPr>
          <a:xfrm>
            <a:off x="147483" y="1059801"/>
            <a:ext cx="4444182" cy="5378588"/>
          </a:xfrm>
          <a:prstGeom prst="rect">
            <a:avLst/>
          </a:prstGeom>
          <a:noFill/>
        </p:spPr>
        <p:txBody>
          <a:bodyPr wrap="square" rtlCol="0">
            <a:spAutoFit/>
          </a:bodyPr>
          <a:lstStyle/>
          <a:p>
            <a:pPr>
              <a:lnSpc>
                <a:spcPct val="115000"/>
              </a:lnSpc>
              <a:spcAft>
                <a:spcPts val="800"/>
              </a:spcAft>
              <a:buNone/>
            </a:pP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Development Kit sicuro ed open-source, che consente di costruire ed eseguire macchine virtuali molto leggere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Ha un’architettura modulare e configurabile, le cui componenti principali sono le seguenti:</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Micro-libraries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componenti software che implementano le API del core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Build System</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fornisce un menu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Kconfig-based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che consente di selezionare le micro-librerie da utilizzare prima della build dell’applicazione, scegliere la piattaforma e l’architettura target.</a:t>
            </a:r>
            <a:endParaRPr lang="it-IT"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pP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6" name="Immagine 5" descr="Immagine che contiene testo, schermata, diagramma, design&#10;&#10;Il contenuto generato dall'IA potrebbe non essere corretto.">
            <a:extLst>
              <a:ext uri="{FF2B5EF4-FFF2-40B4-BE49-F238E27FC236}">
                <a16:creationId xmlns:a16="http://schemas.microsoft.com/office/drawing/2014/main" id="{4436DA94-9C26-05B3-86CE-D9E7700D3219}"/>
              </a:ext>
            </a:extLst>
          </p:cNvPr>
          <p:cNvPicPr>
            <a:picLocks noChangeAspect="1"/>
          </p:cNvPicPr>
          <p:nvPr/>
        </p:nvPicPr>
        <p:blipFill>
          <a:blip r:embed="rId4"/>
          <a:stretch>
            <a:fillRect/>
          </a:stretch>
        </p:blipFill>
        <p:spPr>
          <a:xfrm>
            <a:off x="4738609" y="1114185"/>
            <a:ext cx="7000247" cy="4870966"/>
          </a:xfrm>
          <a:prstGeom prst="rect">
            <a:avLst/>
          </a:prstGeom>
        </p:spPr>
      </p:pic>
    </p:spTree>
    <p:extLst>
      <p:ext uri="{BB962C8B-B14F-4D97-AF65-F5344CB8AC3E}">
        <p14:creationId xmlns:p14="http://schemas.microsoft.com/office/powerpoint/2010/main" val="3229411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6D9BA-27E2-5B16-05E0-E3B2B2F04096}"/>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60FDA23E-713C-6EA3-BFF9-C2FDBA7377D0}"/>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05BE13D0-FC8A-594D-8574-F08879A0C8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E207F670-61A4-6511-0E6C-C9AB52F83A5B}"/>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A2274166-56E2-6D5B-453D-EBD48BE3C312}"/>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a:t>
            </a:r>
          </a:p>
        </p:txBody>
      </p:sp>
      <p:sp>
        <p:nvSpPr>
          <p:cNvPr id="3" name="CasellaDiTesto 2">
            <a:extLst>
              <a:ext uri="{FF2B5EF4-FFF2-40B4-BE49-F238E27FC236}">
                <a16:creationId xmlns:a16="http://schemas.microsoft.com/office/drawing/2014/main" id="{A8AE2FF4-261D-4C4A-4621-F3BD96ADB410}"/>
              </a:ext>
            </a:extLst>
          </p:cNvPr>
          <p:cNvSpPr txBox="1"/>
          <p:nvPr/>
        </p:nvSpPr>
        <p:spPr>
          <a:xfrm>
            <a:off x="147483" y="1059801"/>
            <a:ext cx="9950246" cy="4309578"/>
          </a:xfrm>
          <a:prstGeom prst="rect">
            <a:avLst/>
          </a:prstGeom>
          <a:noFill/>
        </p:spPr>
        <p:txBody>
          <a:bodyPr wrap="square" rtlCol="0">
            <a:spAutoFit/>
          </a:bodyPr>
          <a:lstStyle/>
          <a:p>
            <a:pPr lvl="0">
              <a:lnSpc>
                <a:spcPct val="115000"/>
              </a:lnSpc>
              <a:spcAft>
                <a:spcPts val="800"/>
              </a:spcAft>
            </a:pPr>
            <a:r>
              <a:rPr lang="it-IT" kern="100" dirty="0">
                <a:latin typeface="Aptos" panose="020B0004020202020204" pitchFamily="34" charset="0"/>
                <a:ea typeface="Aptos" panose="020B0004020202020204" pitchFamily="34" charset="0"/>
                <a:cs typeface="Times New Roman" panose="02020603050405020304" pitchFamily="18" charset="0"/>
              </a:rPr>
              <a:t>-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Core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il vero kernel. A sua volta composto da diverse componenti:</a:t>
            </a:r>
          </a:p>
          <a:p>
            <a:pPr lvl="0">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o	Architecture code: Definisce il comportamento e le interazioni hardware 			specifiche dell’architettura target. Definisce ad esempio i registri, dimensione 		dei tipi di dati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etc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etc.</a:t>
            </a:r>
          </a:p>
          <a:p>
            <a:pPr lvl="0">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o	Platform code: Definisce l’interazione con l’hardware nel caso in cui sia presente 		(o no)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hypervisor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Nel caso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Xen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l’interazione con i componenti hardware 		avviene tramite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hypercalls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modo tale da ridurre l’interazione diretta tra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l’hardware.</a:t>
            </a:r>
          </a:p>
          <a:p>
            <a:pPr lvl="0">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Internal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libraries: sono le stesse per ogni piattaforma o architettura. Definiscono 		comportamenti indipendenti dall’hardware, come ad esempio scheduling, 		networking,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memory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allocation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basic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file systems.</a:t>
            </a:r>
          </a:p>
          <a:p>
            <a:pPr marL="342900" lvl="0" indent="-342900">
              <a:lnSpc>
                <a:spcPct val="115000"/>
              </a:lnSpc>
              <a:spcAft>
                <a:spcPts val="800"/>
              </a:spcAft>
              <a:buFont typeface="Aptos" panose="020B0004020202020204" pitchFamily="34" charset="0"/>
              <a:buChar char="-"/>
            </a:pP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78963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A76BD-D348-52A1-EB82-9A489C2CF623}"/>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D09DFA3A-54E0-5F63-A11C-0CA618DC9815}"/>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B395CEE9-F7C2-B4EF-AD66-CC8F12B120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B1B01909-A02D-436F-4A74-E1144B24C3B8}"/>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05FDA4A1-D07B-9EA3-281B-63DB32469D0B}"/>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endParaRPr lang="it-IT" dirty="0"/>
          </a:p>
        </p:txBody>
      </p:sp>
      <p:sp>
        <p:nvSpPr>
          <p:cNvPr id="5" name="CasellaDiTesto 4">
            <a:extLst>
              <a:ext uri="{FF2B5EF4-FFF2-40B4-BE49-F238E27FC236}">
                <a16:creationId xmlns:a16="http://schemas.microsoft.com/office/drawing/2014/main" id="{FCD1A65B-D15E-BEE5-13F9-9F54FF089DFA}"/>
              </a:ext>
            </a:extLst>
          </p:cNvPr>
          <p:cNvSpPr txBox="1"/>
          <p:nvPr/>
        </p:nvSpPr>
        <p:spPr>
          <a:xfrm>
            <a:off x="176980" y="1187595"/>
            <a:ext cx="3195485" cy="5034199"/>
          </a:xfrm>
          <a:prstGeom prst="rect">
            <a:avLst/>
          </a:prstGeom>
          <a:noFill/>
        </p:spPr>
        <p:txBody>
          <a:bodyPr wrap="square" rtlCol="0">
            <a:spAutoFit/>
          </a:bodyPr>
          <a:lstStyle/>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Il ciclo di vita della costruzione di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include diversi step:</a:t>
            </a:r>
          </a:p>
          <a:p>
            <a:pPr marL="342900" lvl="0" indent="-342900">
              <a:lnSpc>
                <a:spcPct val="115000"/>
              </a:lnSpc>
              <a:buFont typeface="Aptos" panose="020B00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Configurare l’applicazione con le compile-time options.</a:t>
            </a:r>
          </a:p>
          <a:p>
            <a:pPr marL="342900" lvl="0" indent="-342900">
              <a:lnSpc>
                <a:spcPct val="115000"/>
              </a:lnSpc>
              <a:buFont typeface="Aptos" panose="020B0004020202020204" pitchFamily="34" charset="0"/>
              <a:buChar char="-"/>
            </a:pP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Fetching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preparazione dei codici sorgenti delle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external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libraries.</a:t>
            </a:r>
          </a:p>
          <a:p>
            <a:pPr marL="342900" lvl="0" indent="-342900">
              <a:lnSpc>
                <a:spcPct val="115000"/>
              </a:lnSpc>
              <a:buFont typeface="Aptos" panose="020B00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Compilazione delle librerie e del core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ptos" panose="020B00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Linking per la generazione dell’immagine finale dell’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endParaRPr lang="it-IT" dirty="0"/>
          </a:p>
        </p:txBody>
      </p:sp>
      <p:pic>
        <p:nvPicPr>
          <p:cNvPr id="6" name="Immagine 5" descr="Immagine che contiene testo, schermata, Rettangolo, quadrato&#10;&#10;Il contenuto generato dall'IA potrebbe non essere corretto.">
            <a:extLst>
              <a:ext uri="{FF2B5EF4-FFF2-40B4-BE49-F238E27FC236}">
                <a16:creationId xmlns:a16="http://schemas.microsoft.com/office/drawing/2014/main" id="{F7074273-A89D-D37F-A813-D8D6C01F5662}"/>
              </a:ext>
            </a:extLst>
          </p:cNvPr>
          <p:cNvPicPr>
            <a:picLocks noChangeAspect="1"/>
          </p:cNvPicPr>
          <p:nvPr/>
        </p:nvPicPr>
        <p:blipFill>
          <a:blip r:embed="rId4"/>
          <a:stretch>
            <a:fillRect/>
          </a:stretch>
        </p:blipFill>
        <p:spPr>
          <a:xfrm>
            <a:off x="3530864" y="1285834"/>
            <a:ext cx="8059882" cy="4131739"/>
          </a:xfrm>
          <a:prstGeom prst="rect">
            <a:avLst/>
          </a:prstGeom>
        </p:spPr>
      </p:pic>
    </p:spTree>
    <p:extLst>
      <p:ext uri="{BB962C8B-B14F-4D97-AF65-F5344CB8AC3E}">
        <p14:creationId xmlns:p14="http://schemas.microsoft.com/office/powerpoint/2010/main" val="4212879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43CB0-4E01-8684-7B22-0E47E9B4E11A}"/>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665D6CBA-BF69-8360-5123-27382473FC2A}"/>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CAD03F13-94A5-4A3C-630A-CF78773AE0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104B87F7-483F-0E1A-73FC-6D780E5CC0BB}"/>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9A7E06CE-6BA5-2C4B-22E1-D0D6CC46879B}"/>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endParaRPr lang="it-IT" dirty="0"/>
          </a:p>
        </p:txBody>
      </p:sp>
      <p:sp>
        <p:nvSpPr>
          <p:cNvPr id="5" name="CasellaDiTesto 4">
            <a:extLst>
              <a:ext uri="{FF2B5EF4-FFF2-40B4-BE49-F238E27FC236}">
                <a16:creationId xmlns:a16="http://schemas.microsoft.com/office/drawing/2014/main" id="{0561EFCD-718D-4222-795C-76D41BA2BC6C}"/>
              </a:ext>
            </a:extLst>
          </p:cNvPr>
          <p:cNvSpPr txBox="1"/>
          <p:nvPr/>
        </p:nvSpPr>
        <p:spPr>
          <a:xfrm>
            <a:off x="176980" y="1187595"/>
            <a:ext cx="2989007" cy="3970318"/>
          </a:xfrm>
          <a:prstGeom prst="rect">
            <a:avLst/>
          </a:prstGeom>
          <a:noFill/>
        </p:spPr>
        <p:txBody>
          <a:bodyPr wrap="square" rtlCol="0">
            <a:spAutoFit/>
          </a:bodyPr>
          <a:lstStyle/>
          <a:p>
            <a:r>
              <a:rPr lang="it-IT" sz="1800" dirty="0">
                <a:effectLst/>
                <a:latin typeface="Aptos" panose="020B0004020202020204" pitchFamily="34" charset="0"/>
                <a:ea typeface="Aptos" panose="020B0004020202020204" pitchFamily="34" charset="0"/>
                <a:cs typeface="Times New Roman" panose="02020603050405020304" pitchFamily="18" charset="0"/>
              </a:rPr>
              <a:t>I file </a:t>
            </a:r>
            <a:r>
              <a:rPr lang="it-IT" sz="1800" b="1" dirty="0">
                <a:effectLst/>
                <a:latin typeface="Aptos" panose="020B0004020202020204" pitchFamily="34" charset="0"/>
                <a:ea typeface="Aptos" panose="020B0004020202020204" pitchFamily="34" charset="0"/>
                <a:cs typeface="Times New Roman" panose="02020603050405020304" pitchFamily="18" charset="0"/>
              </a:rPr>
              <a:t>Config.uk </a:t>
            </a:r>
            <a:r>
              <a:rPr lang="it-IT" sz="1800" dirty="0">
                <a:effectLst/>
                <a:latin typeface="Aptos" panose="020B0004020202020204" pitchFamily="34" charset="0"/>
                <a:ea typeface="Aptos" panose="020B0004020202020204" pitchFamily="34" charset="0"/>
                <a:cs typeface="Times New Roman" panose="02020603050405020304" pitchFamily="18" charset="0"/>
              </a:rPr>
              <a:t>servono per generare il file </a:t>
            </a:r>
            <a:r>
              <a:rPr lang="it-IT" sz="1800" b="1" dirty="0">
                <a:effectLst/>
                <a:latin typeface="Aptos" panose="020B0004020202020204" pitchFamily="34" charset="0"/>
                <a:ea typeface="Aptos" panose="020B0004020202020204" pitchFamily="34" charset="0"/>
                <a:cs typeface="Times New Roman" panose="02020603050405020304" pitchFamily="18" charset="0"/>
              </a:rPr>
              <a:t>.</a:t>
            </a:r>
            <a:r>
              <a:rPr lang="it-IT" sz="1800" b="1" dirty="0" err="1">
                <a:effectLst/>
                <a:latin typeface="Aptos" panose="020B0004020202020204" pitchFamily="34" charset="0"/>
                <a:ea typeface="Aptos" panose="020B0004020202020204" pitchFamily="34" charset="0"/>
                <a:cs typeface="Times New Roman" panose="02020603050405020304" pitchFamily="18" charset="0"/>
              </a:rPr>
              <a:t>config</a:t>
            </a:r>
            <a:r>
              <a:rPr lang="it-IT" sz="1800" b="1" dirty="0">
                <a:effectLst/>
                <a:latin typeface="Aptos" panose="020B0004020202020204" pitchFamily="34" charset="0"/>
                <a:ea typeface="Aptos" panose="020B0004020202020204" pitchFamily="34" charset="0"/>
                <a:cs typeface="Times New Roman" panose="02020603050405020304" pitchFamily="18" charset="0"/>
              </a:rPr>
              <a:t> </a:t>
            </a:r>
            <a:r>
              <a:rPr lang="it-IT" sz="1800" dirty="0">
                <a:effectLst/>
                <a:latin typeface="Aptos" panose="020B0004020202020204" pitchFamily="34" charset="0"/>
                <a:ea typeface="Aptos" panose="020B0004020202020204" pitchFamily="34" charset="0"/>
                <a:cs typeface="Times New Roman" panose="02020603050405020304" pitchFamily="18" charset="0"/>
              </a:rPr>
              <a:t>. Lanciando il comando :</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b="1" dirty="0">
                <a:effectLst/>
                <a:latin typeface="Aptos" panose="020B0004020202020204" pitchFamily="34" charset="0"/>
                <a:ea typeface="Aptos" panose="020B0004020202020204" pitchFamily="34" charset="0"/>
                <a:cs typeface="Times New Roman" panose="02020603050405020304" pitchFamily="18" charset="0"/>
              </a:rPr>
              <a:t>$ make </a:t>
            </a:r>
            <a:r>
              <a:rPr lang="it-IT" sz="1800" b="1" dirty="0" err="1">
                <a:effectLst/>
                <a:latin typeface="Aptos" panose="020B0004020202020204" pitchFamily="34" charset="0"/>
                <a:ea typeface="Aptos" panose="020B0004020202020204" pitchFamily="34" charset="0"/>
                <a:cs typeface="Times New Roman" panose="02020603050405020304" pitchFamily="18" charset="0"/>
              </a:rPr>
              <a:t>menuconfig</a:t>
            </a:r>
            <a:r>
              <a:rPr lang="it-IT" sz="1800" b="1" dirty="0">
                <a:effectLst/>
                <a:latin typeface="Aptos" panose="020B0004020202020204" pitchFamily="34" charset="0"/>
                <a:ea typeface="Aptos" panose="020B0004020202020204" pitchFamily="34" charset="0"/>
                <a:cs typeface="Times New Roman" panose="02020603050405020304" pitchFamily="18" charset="0"/>
              </a:rPr>
              <a:t>  </a:t>
            </a:r>
            <a:r>
              <a:rPr lang="it-IT" sz="1800" dirty="0">
                <a:effectLst/>
                <a:latin typeface="Aptos" panose="020B0004020202020204" pitchFamily="34" charset="0"/>
                <a:ea typeface="Aptos" panose="020B0004020202020204" pitchFamily="34" charset="0"/>
                <a:cs typeface="Times New Roman" panose="02020603050405020304" pitchFamily="18" charset="0"/>
              </a:rPr>
              <a:t>oppure </a:t>
            </a:r>
            <a:r>
              <a:rPr lang="it-IT" sz="1800" b="1" dirty="0">
                <a:effectLst/>
                <a:latin typeface="Aptos" panose="020B0004020202020204" pitchFamily="34" charset="0"/>
                <a:ea typeface="Aptos" panose="020B0004020202020204" pitchFamily="34" charset="0"/>
                <a:cs typeface="Times New Roman" panose="02020603050405020304" pitchFamily="18" charset="0"/>
              </a:rPr>
              <a:t>$ kraft menu</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dirty="0">
                <a:effectLst/>
                <a:latin typeface="Aptos" panose="020B0004020202020204" pitchFamily="34" charset="0"/>
                <a:ea typeface="Aptos" panose="020B0004020202020204" pitchFamily="34" charset="0"/>
                <a:cs typeface="Times New Roman" panose="02020603050405020304" pitchFamily="18" charset="0"/>
              </a:rPr>
              <a:t>si aprirà un menu interattivo, che mostrerà tutte le opzioni configurabili contenute nei file Config.uk .</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dirty="0">
                <a:effectLst/>
                <a:latin typeface="Aptos" panose="020B0004020202020204" pitchFamily="34" charset="0"/>
                <a:ea typeface="Aptos" panose="020B0004020202020204" pitchFamily="34" charset="0"/>
                <a:cs typeface="Times New Roman" panose="02020603050405020304" pitchFamily="18" charset="0"/>
              </a:rPr>
              <a:t>L’utente può selezionare le opzioni per la propria applicazione. Dopodiché salvando la configurazione, verrà generato il .</a:t>
            </a:r>
            <a:r>
              <a:rPr lang="it-IT" sz="1800" dirty="0" err="1">
                <a:effectLst/>
                <a:latin typeface="Aptos" panose="020B0004020202020204" pitchFamily="34" charset="0"/>
                <a:ea typeface="Aptos" panose="020B0004020202020204" pitchFamily="34" charset="0"/>
                <a:cs typeface="Times New Roman" panose="02020603050405020304" pitchFamily="18" charset="0"/>
              </a:rPr>
              <a:t>config</a:t>
            </a:r>
            <a:r>
              <a:rPr lang="it-IT" sz="1800" dirty="0">
                <a:effectLst/>
                <a:latin typeface="Aptos" panose="020B0004020202020204" pitchFamily="34" charset="0"/>
                <a:ea typeface="Aptos" panose="020B0004020202020204" pitchFamily="34" charset="0"/>
                <a:cs typeface="Times New Roman" panose="02020603050405020304" pitchFamily="18" charset="0"/>
              </a:rPr>
              <a:t>.</a:t>
            </a:r>
            <a:endParaRPr lang="it-IT" dirty="0"/>
          </a:p>
        </p:txBody>
      </p:sp>
      <p:pic>
        <p:nvPicPr>
          <p:cNvPr id="3" name="Immagine 2" descr="Immagine che contiene testo, schermata, Rettangolo, quadrato&#10;&#10;Il contenuto generato dall'IA potrebbe non essere corretto.">
            <a:extLst>
              <a:ext uri="{FF2B5EF4-FFF2-40B4-BE49-F238E27FC236}">
                <a16:creationId xmlns:a16="http://schemas.microsoft.com/office/drawing/2014/main" id="{A50122C5-41FA-04F3-CD76-53815E9449A9}"/>
              </a:ext>
            </a:extLst>
          </p:cNvPr>
          <p:cNvPicPr>
            <a:picLocks noChangeAspect="1"/>
          </p:cNvPicPr>
          <p:nvPr/>
        </p:nvPicPr>
        <p:blipFill>
          <a:blip r:embed="rId4"/>
          <a:stretch>
            <a:fillRect/>
          </a:stretch>
        </p:blipFill>
        <p:spPr>
          <a:xfrm>
            <a:off x="3530864" y="1285834"/>
            <a:ext cx="8059882" cy="4131739"/>
          </a:xfrm>
          <a:prstGeom prst="rect">
            <a:avLst/>
          </a:prstGeom>
        </p:spPr>
      </p:pic>
      <p:sp>
        <p:nvSpPr>
          <p:cNvPr id="6" name="Rettangolo 5">
            <a:extLst>
              <a:ext uri="{FF2B5EF4-FFF2-40B4-BE49-F238E27FC236}">
                <a16:creationId xmlns:a16="http://schemas.microsoft.com/office/drawing/2014/main" id="{82ACDF65-4E92-25F2-2D6F-73B85182070A}"/>
              </a:ext>
            </a:extLst>
          </p:cNvPr>
          <p:cNvSpPr/>
          <p:nvPr/>
        </p:nvSpPr>
        <p:spPr>
          <a:xfrm>
            <a:off x="4581833" y="2800357"/>
            <a:ext cx="1258529" cy="7447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t-IT" dirty="0"/>
              <a:t>Kraft menu</a:t>
            </a:r>
          </a:p>
        </p:txBody>
      </p:sp>
      <p:cxnSp>
        <p:nvCxnSpPr>
          <p:cNvPr id="8" name="Connettore 2 7">
            <a:extLst>
              <a:ext uri="{FF2B5EF4-FFF2-40B4-BE49-F238E27FC236}">
                <a16:creationId xmlns:a16="http://schemas.microsoft.com/office/drawing/2014/main" id="{5EBE901D-A909-E151-B255-006A097AC6F8}"/>
              </a:ext>
            </a:extLst>
          </p:cNvPr>
          <p:cNvCxnSpPr/>
          <p:nvPr/>
        </p:nvCxnSpPr>
        <p:spPr>
          <a:xfrm flipV="1">
            <a:off x="5211097" y="2202426"/>
            <a:ext cx="0" cy="5979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Rettangolo 10">
            <a:extLst>
              <a:ext uri="{FF2B5EF4-FFF2-40B4-BE49-F238E27FC236}">
                <a16:creationId xmlns:a16="http://schemas.microsoft.com/office/drawing/2014/main" id="{B8D65198-1E05-C31C-5019-352E5F0FBBD8}"/>
              </a:ext>
            </a:extLst>
          </p:cNvPr>
          <p:cNvSpPr/>
          <p:nvPr/>
        </p:nvSpPr>
        <p:spPr>
          <a:xfrm>
            <a:off x="7138219" y="5454819"/>
            <a:ext cx="1406013" cy="76691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dirty="0"/>
              <a:t>Kraft build</a:t>
            </a:r>
          </a:p>
        </p:txBody>
      </p:sp>
      <p:cxnSp>
        <p:nvCxnSpPr>
          <p:cNvPr id="13" name="Connettore 2 12">
            <a:extLst>
              <a:ext uri="{FF2B5EF4-FFF2-40B4-BE49-F238E27FC236}">
                <a16:creationId xmlns:a16="http://schemas.microsoft.com/office/drawing/2014/main" id="{83B62253-8A43-4633-37D5-ED5284FEB4D6}"/>
              </a:ext>
            </a:extLst>
          </p:cNvPr>
          <p:cNvCxnSpPr/>
          <p:nvPr/>
        </p:nvCxnSpPr>
        <p:spPr>
          <a:xfrm>
            <a:off x="7787148" y="3755923"/>
            <a:ext cx="0" cy="16616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0459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B83C6-155D-8B49-1BEF-02243736A0E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83DD5E29-29E7-627E-5FEC-3D44847C04B0}"/>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7C0B3973-FCD9-E53E-2597-DA3DC276C5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BB105D2-1049-E2AF-DBD2-7014E37ED635}"/>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8E2AE685-644B-2D9F-EB53-FFA07F61353C}"/>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endParaRPr lang="it-IT" dirty="0"/>
          </a:p>
        </p:txBody>
      </p:sp>
      <p:sp>
        <p:nvSpPr>
          <p:cNvPr id="7" name="CasellaDiTesto 6">
            <a:extLst>
              <a:ext uri="{FF2B5EF4-FFF2-40B4-BE49-F238E27FC236}">
                <a16:creationId xmlns:a16="http://schemas.microsoft.com/office/drawing/2014/main" id="{BE41978F-DEAC-B6A5-DBFE-AC2D86B904DC}"/>
              </a:ext>
            </a:extLst>
          </p:cNvPr>
          <p:cNvSpPr txBox="1"/>
          <p:nvPr/>
        </p:nvSpPr>
        <p:spPr>
          <a:xfrm>
            <a:off x="484238" y="1550639"/>
            <a:ext cx="4874343" cy="4001801"/>
          </a:xfrm>
          <a:prstGeom prst="rect">
            <a:avLst/>
          </a:prstGeom>
          <a:noFill/>
        </p:spPr>
        <p:txBody>
          <a:bodyPr wrap="square">
            <a:spAutoFit/>
          </a:bodyPr>
          <a:lstStyle/>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Il file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config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conterrà tutti i simboli, che a loro volta potranno essere utilizzati nel codice C (se selezionati nel processo di configurazione), oppure anche in fase di building, per includere (o escludere) i file sorgente da compilare.</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Questa ultima cosa viene fatta nei Makefile.uk, dove i source code files sono aggiunti alle librerie.</a:t>
            </a:r>
          </a:p>
          <a:p>
            <a:pPr>
              <a:lnSpc>
                <a:spcPct val="115000"/>
              </a:lnSpc>
              <a:spcAft>
                <a:spcPts val="800"/>
              </a:spcAft>
            </a:pPr>
            <a:r>
              <a:rPr lang="it-IT" b="1" kern="100" dirty="0">
                <a:latin typeface="Aptos" panose="020B0004020202020204" pitchFamily="34" charset="0"/>
                <a:ea typeface="Aptos" panose="020B0004020202020204" pitchFamily="34" charset="0"/>
                <a:cs typeface="Times New Roman" panose="02020603050405020304" pitchFamily="18" charset="0"/>
              </a:rPr>
              <a:t>ATTENZIONE!!! Se si vuole procedere alla creazione di un </a:t>
            </a:r>
            <a:r>
              <a:rPr lang="it-IT" b="1" kern="100" dirty="0" err="1">
                <a:latin typeface="Aptos" panose="020B0004020202020204" pitchFamily="34" charset="0"/>
                <a:ea typeface="Aptos" panose="020B0004020202020204" pitchFamily="34" charset="0"/>
                <a:cs typeface="Times New Roman" panose="02020603050405020304" pitchFamily="18" charset="0"/>
              </a:rPr>
              <a:t>Unikernel</a:t>
            </a:r>
            <a:r>
              <a:rPr lang="it-IT" b="1" kern="100" dirty="0">
                <a:latin typeface="Aptos" panose="020B0004020202020204" pitchFamily="34" charset="0"/>
                <a:ea typeface="Aptos" panose="020B0004020202020204" pitchFamily="34" charset="0"/>
                <a:cs typeface="Times New Roman" panose="02020603050405020304" pitchFamily="18" charset="0"/>
              </a:rPr>
              <a:t> </a:t>
            </a:r>
            <a:r>
              <a:rPr lang="it-IT" b="1" kern="100" dirty="0" err="1">
                <a:latin typeface="Aptos" panose="020B0004020202020204" pitchFamily="34" charset="0"/>
                <a:ea typeface="Aptos" panose="020B0004020202020204" pitchFamily="34" charset="0"/>
                <a:cs typeface="Times New Roman" panose="02020603050405020304" pitchFamily="18" charset="0"/>
              </a:rPr>
              <a:t>Unikraft</a:t>
            </a:r>
            <a:r>
              <a:rPr lang="it-IT" b="1" kern="100" dirty="0">
                <a:latin typeface="Aptos" panose="020B0004020202020204" pitchFamily="34" charset="0"/>
                <a:ea typeface="Aptos" panose="020B0004020202020204" pitchFamily="34" charset="0"/>
                <a:cs typeface="Times New Roman" panose="02020603050405020304" pitchFamily="18" charset="0"/>
              </a:rPr>
              <a:t> tramite KRAFT (CLI </a:t>
            </a:r>
            <a:r>
              <a:rPr lang="it-IT" b="1" kern="100" dirty="0" err="1">
                <a:latin typeface="Aptos" panose="020B0004020202020204" pitchFamily="34" charset="0"/>
                <a:ea typeface="Aptos" panose="020B0004020202020204" pitchFamily="34" charset="0"/>
                <a:cs typeface="Times New Roman" panose="02020603050405020304" pitchFamily="18" charset="0"/>
              </a:rPr>
              <a:t>Unikraft</a:t>
            </a:r>
            <a:r>
              <a:rPr lang="it-IT" b="1" kern="100" dirty="0">
                <a:latin typeface="Aptos" panose="020B0004020202020204" pitchFamily="34" charset="0"/>
                <a:ea typeface="Aptos" panose="020B0004020202020204" pitchFamily="34" charset="0"/>
                <a:cs typeface="Times New Roman" panose="02020603050405020304" pitchFamily="18" charset="0"/>
              </a:rPr>
              <a:t>) è necessaria la creazione di un </a:t>
            </a:r>
            <a:r>
              <a:rPr lang="it-IT" b="1" kern="100" dirty="0" err="1">
                <a:latin typeface="Aptos" panose="020B0004020202020204" pitchFamily="34" charset="0"/>
                <a:ea typeface="Aptos" panose="020B0004020202020204" pitchFamily="34" charset="0"/>
                <a:cs typeface="Times New Roman" panose="02020603050405020304" pitchFamily="18" charset="0"/>
              </a:rPr>
              <a:t>Kraftfile</a:t>
            </a:r>
            <a:r>
              <a:rPr lang="it-IT" b="1" kern="100" dirty="0">
                <a:latin typeface="Aptos" panose="020B0004020202020204" pitchFamily="34" charset="0"/>
                <a:ea typeface="Aptos" panose="020B0004020202020204" pitchFamily="34" charset="0"/>
                <a:cs typeface="Times New Roman" panose="02020603050405020304" pitchFamily="18" charset="0"/>
              </a:rPr>
              <a:t>!!!</a:t>
            </a:r>
            <a:endParaRPr lang="it-IT"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4" name="Immagine 13">
            <a:extLst>
              <a:ext uri="{FF2B5EF4-FFF2-40B4-BE49-F238E27FC236}">
                <a16:creationId xmlns:a16="http://schemas.microsoft.com/office/drawing/2014/main" id="{D5181195-3146-986F-53C2-CB88D0AA84A8}"/>
              </a:ext>
            </a:extLst>
          </p:cNvPr>
          <p:cNvPicPr>
            <a:picLocks noChangeAspect="1"/>
          </p:cNvPicPr>
          <p:nvPr/>
        </p:nvPicPr>
        <p:blipFill>
          <a:blip r:embed="rId4"/>
          <a:stretch>
            <a:fillRect/>
          </a:stretch>
        </p:blipFill>
        <p:spPr>
          <a:xfrm>
            <a:off x="5262115" y="1185324"/>
            <a:ext cx="5753599" cy="4732430"/>
          </a:xfrm>
          <a:prstGeom prst="rect">
            <a:avLst/>
          </a:prstGeom>
        </p:spPr>
      </p:pic>
    </p:spTree>
    <p:extLst>
      <p:ext uri="{BB962C8B-B14F-4D97-AF65-F5344CB8AC3E}">
        <p14:creationId xmlns:p14="http://schemas.microsoft.com/office/powerpoint/2010/main" val="3773643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06E8-625B-C193-39BF-38C1FF8ED92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687F1295-F8C3-4E71-EBD9-D970FC0B6B3C}"/>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05CF7B2C-279E-032C-63B0-5C7AFCE702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D285E5C7-FECA-6FAA-0C22-E3CFC8D5AEA9}"/>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12B5CAFD-FD0A-4811-BFCE-B40F89AF15FF}"/>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endParaRPr lang="it-IT" dirty="0"/>
          </a:p>
        </p:txBody>
      </p:sp>
      <p:sp>
        <p:nvSpPr>
          <p:cNvPr id="7" name="CasellaDiTesto 6">
            <a:extLst>
              <a:ext uri="{FF2B5EF4-FFF2-40B4-BE49-F238E27FC236}">
                <a16:creationId xmlns:a16="http://schemas.microsoft.com/office/drawing/2014/main" id="{EC2C9C6F-DCA6-5098-4B2A-5524A6868CC0}"/>
              </a:ext>
            </a:extLst>
          </p:cNvPr>
          <p:cNvSpPr txBox="1"/>
          <p:nvPr/>
        </p:nvSpPr>
        <p:spPr>
          <a:xfrm>
            <a:off x="484238" y="1550639"/>
            <a:ext cx="4874343" cy="3467296"/>
          </a:xfrm>
          <a:prstGeom prst="rect">
            <a:avLst/>
          </a:prstGeom>
          <a:noFill/>
        </p:spPr>
        <p:txBody>
          <a:bodyPr wrap="square">
            <a:spAutoFit/>
          </a:bodyPr>
          <a:lstStyle/>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L’immagine dell’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finale potrà essere costruita con i comandi:</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kraft build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oppure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make.</a:t>
            </a:r>
          </a:p>
          <a:p>
            <a:pPr>
              <a:lnSpc>
                <a:spcPct val="115000"/>
              </a:lnSpc>
              <a:spcAft>
                <a:spcPts val="800"/>
              </a:spcAft>
            </a:pPr>
            <a:r>
              <a:rPr lang="it-IT" kern="100" dirty="0">
                <a:latin typeface="Aptos" panose="020B0004020202020204" pitchFamily="34" charset="0"/>
                <a:ea typeface="Aptos" panose="020B0004020202020204" pitchFamily="34" charset="0"/>
                <a:cs typeface="Times New Roman" panose="02020603050405020304" pitchFamily="18" charset="0"/>
              </a:rPr>
              <a:t>Da quanto si evince dalla diapositiva a destra, sia il codice di </a:t>
            </a:r>
            <a:r>
              <a:rPr lang="it-IT" kern="100" dirty="0" err="1">
                <a:latin typeface="Aptos" panose="020B0004020202020204" pitchFamily="34" charset="0"/>
                <a:ea typeface="Aptos" panose="020B0004020202020204" pitchFamily="34" charset="0"/>
                <a:cs typeface="Times New Roman" panose="02020603050405020304" pitchFamily="18" charset="0"/>
              </a:rPr>
              <a:t>Unikraft</a:t>
            </a:r>
            <a:r>
              <a:rPr lang="it-IT" kern="100" dirty="0">
                <a:latin typeface="Aptos" panose="020B0004020202020204" pitchFamily="34" charset="0"/>
                <a:ea typeface="Aptos" panose="020B0004020202020204" pitchFamily="34" charset="0"/>
                <a:cs typeface="Times New Roman" panose="02020603050405020304" pitchFamily="18" charset="0"/>
              </a:rPr>
              <a:t> (opportunamente configurato) sia il codice dell’applicazione utente sviluppata, vengono uniti per creare un unico eseguibile veloce e leggero!</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it-IT" b="1" kern="100" dirty="0">
                <a:latin typeface="Aptos" panose="020B0004020202020204" pitchFamily="34" charset="0"/>
                <a:ea typeface="Aptos" panose="020B0004020202020204" pitchFamily="34" charset="0"/>
                <a:cs typeface="Times New Roman" panose="02020603050405020304" pitchFamily="18" charset="0"/>
              </a:rPr>
              <a:t>Nelle prossime slides saranno mostrati nel dettaglio i vari componenti del build </a:t>
            </a:r>
            <a:r>
              <a:rPr lang="it-IT" b="1" kern="100" dirty="0" err="1">
                <a:latin typeface="Aptos" panose="020B0004020202020204" pitchFamily="34" charset="0"/>
                <a:ea typeface="Aptos" panose="020B0004020202020204" pitchFamily="34" charset="0"/>
                <a:cs typeface="Times New Roman" panose="02020603050405020304" pitchFamily="18" charset="0"/>
              </a:rPr>
              <a:t>process</a:t>
            </a:r>
            <a:r>
              <a:rPr lang="it-IT" b="1" kern="100" dirty="0">
                <a:latin typeface="Aptos" panose="020B0004020202020204" pitchFamily="34" charset="0"/>
                <a:ea typeface="Aptos" panose="020B0004020202020204" pitchFamily="34" charset="0"/>
                <a:cs typeface="Times New Roman" panose="02020603050405020304" pitchFamily="18" charset="0"/>
              </a:rPr>
              <a:t>.</a:t>
            </a:r>
            <a:endParaRPr lang="it-IT"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4" name="Immagine 13">
            <a:extLst>
              <a:ext uri="{FF2B5EF4-FFF2-40B4-BE49-F238E27FC236}">
                <a16:creationId xmlns:a16="http://schemas.microsoft.com/office/drawing/2014/main" id="{B58B0747-3463-9D4E-0B22-72C56856F02A}"/>
              </a:ext>
            </a:extLst>
          </p:cNvPr>
          <p:cNvPicPr>
            <a:picLocks noChangeAspect="1"/>
          </p:cNvPicPr>
          <p:nvPr/>
        </p:nvPicPr>
        <p:blipFill>
          <a:blip r:embed="rId4"/>
          <a:stretch>
            <a:fillRect/>
          </a:stretch>
        </p:blipFill>
        <p:spPr>
          <a:xfrm>
            <a:off x="5262115" y="1185324"/>
            <a:ext cx="5753599" cy="4732430"/>
          </a:xfrm>
          <a:prstGeom prst="rect">
            <a:avLst/>
          </a:prstGeom>
        </p:spPr>
      </p:pic>
    </p:spTree>
    <p:extLst>
      <p:ext uri="{BB962C8B-B14F-4D97-AF65-F5344CB8AC3E}">
        <p14:creationId xmlns:p14="http://schemas.microsoft.com/office/powerpoint/2010/main" val="408595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DECD3-6CA0-F92C-70AB-0FD9AA53429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32570C78-A587-0C09-ED14-82ECF1C2DE67}"/>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02D89AA-C99B-13CB-A1AD-2B418E4AF2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50CF3AB5-BC21-5670-A631-2BE091848D0F}"/>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E98759C4-9F4D-CF5D-BAA2-D5377D033152}"/>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r>
              <a:rPr lang="it-IT" dirty="0"/>
              <a:t> - </a:t>
            </a:r>
            <a:r>
              <a:rPr lang="it-IT" dirty="0" err="1"/>
              <a:t>Internals</a:t>
            </a:r>
            <a:endParaRPr lang="it-IT" dirty="0"/>
          </a:p>
        </p:txBody>
      </p:sp>
      <p:sp>
        <p:nvSpPr>
          <p:cNvPr id="7" name="CasellaDiTesto 6">
            <a:extLst>
              <a:ext uri="{FF2B5EF4-FFF2-40B4-BE49-F238E27FC236}">
                <a16:creationId xmlns:a16="http://schemas.microsoft.com/office/drawing/2014/main" id="{09644F79-CC52-82F8-CD4C-82A8F29A484E}"/>
              </a:ext>
            </a:extLst>
          </p:cNvPr>
          <p:cNvSpPr txBox="1"/>
          <p:nvPr/>
        </p:nvSpPr>
        <p:spPr>
          <a:xfrm>
            <a:off x="463345" y="1324497"/>
            <a:ext cx="11265310" cy="5880264"/>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Se si usa il tool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Kraftkit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lo sviluppo e la creazione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necessario creare dapprima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Kraftfile</a:t>
            </a:r>
            <a:r>
              <a:rPr lang="it-IT" kern="100" dirty="0">
                <a:latin typeface="Aptos" panose="020B0004020202020204" pitchFamily="34" charset="0"/>
                <a:ea typeface="Aptos" panose="020B0004020202020204" pitchFamily="34" charset="0"/>
                <a:cs typeface="Times New Roman" panose="02020603050405020304" pitchFamily="18" charset="0"/>
              </a:rPr>
              <a:t>.</a:t>
            </a: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Il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Kraftfile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un file di configurazione statico, utilizzato per effettuare la build, il package ed eventualmente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run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dell’applicazione utilizzando Kraft e va salvato nella cartella principale di ogni progetto. </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Di seguito una spiegazione dei vari attributi:</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spec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viene utilizzato da Kraft per validare ed effettuare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parsing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del resto del file correttamente.</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name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specifica il nome dell’applicazione.</a:t>
            </a:r>
          </a:p>
          <a:p>
            <a:pPr marL="342900" lvl="0" indent="-342900">
              <a:lnSpc>
                <a:spcPct val="115000"/>
              </a:lnSpc>
              <a:spcAft>
                <a:spcPts val="800"/>
              </a:spcAft>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definisce la location del core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buNone/>
            </a:pPr>
            <a:r>
              <a:rPr lang="it-IT" sz="1800" dirty="0">
                <a:effectLst/>
                <a:latin typeface="Aptos" panose="020B0004020202020204" pitchFamily="34" charset="0"/>
                <a:ea typeface="Aptos" panose="020B0004020202020204" pitchFamily="34" charset="0"/>
                <a:cs typeface="Times New Roman" panose="02020603050405020304" pitchFamily="18" charset="0"/>
              </a:rPr>
              <a:t>Se si vuole l’ultima versione stabile di </a:t>
            </a:r>
            <a:r>
              <a:rPr lang="it-IT" sz="18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dirty="0">
                <a:effectLst/>
                <a:latin typeface="Aptos" panose="020B0004020202020204" pitchFamily="34" charset="0"/>
                <a:ea typeface="Aptos" panose="020B0004020202020204" pitchFamily="34" charset="0"/>
                <a:cs typeface="Times New Roman" panose="02020603050405020304" pitchFamily="18" charset="0"/>
              </a:rPr>
              <a:t> allora bisogna inserire l’attributo ‘</a:t>
            </a:r>
            <a:r>
              <a:rPr lang="it-IT" sz="1800" dirty="0" err="1">
                <a:effectLst/>
                <a:latin typeface="Aptos" panose="020B0004020202020204" pitchFamily="34" charset="0"/>
                <a:ea typeface="Aptos" panose="020B0004020202020204" pitchFamily="34" charset="0"/>
                <a:cs typeface="Times New Roman" panose="02020603050405020304" pitchFamily="18" charset="0"/>
              </a:rPr>
              <a:t>stable</a:t>
            </a:r>
            <a:r>
              <a:rPr lang="it-IT" sz="1800" dirty="0">
                <a:effectLst/>
                <a:latin typeface="Aptos" panose="020B0004020202020204" pitchFamily="34" charset="0"/>
                <a:ea typeface="Aptos" panose="020B0004020202020204" pitchFamily="34" charset="0"/>
                <a:cs typeface="Times New Roman" panose="02020603050405020304" pitchFamily="18" charset="0"/>
              </a:rPr>
              <a:t>’. </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kconfig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Serve a dichiarare opzioni specifiche del sistema di configurazione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Tutte queste opzioni devono sempre iniziare con ‘CONFIG_’ .</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libraries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questo attributo serve a specificare quali tra le librerie di terze parti devono far parte del processo di building. Anche in questo caso, si possono specificare la source e la versione per ognuna di esse, ed anche un set di opzioni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Kconfig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target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è un’etichetta che consente di specificare l’architettura e la piattaforma.</a:t>
            </a:r>
          </a:p>
          <a:p>
            <a:pPr>
              <a:buNone/>
            </a:pPr>
            <a:br>
              <a:rPr lang="it-IT" sz="1800" dirty="0">
                <a:effectLst/>
                <a:latin typeface="Aptos" panose="020B0004020202020204" pitchFamily="34" charset="0"/>
                <a:ea typeface="Aptos" panose="020B0004020202020204" pitchFamily="34" charset="0"/>
                <a:cs typeface="Times New Roman" panose="02020603050405020304" pitchFamily="18" charset="0"/>
              </a:rPr>
            </a:b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it-IT"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95741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1F56E-7D36-DCCE-C2FB-A12F8C29BB88}"/>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B7B22E9E-EF28-4DF7-1C80-61FDBE1402CB}"/>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24D1AFB4-BFB6-A799-0962-D47000299C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4E023294-CDCB-7822-FFC8-2A70016D9067}"/>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928DA9B7-C96C-DC6C-50C7-D53E1B3DD365}"/>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r>
              <a:rPr lang="it-IT" dirty="0"/>
              <a:t> - </a:t>
            </a:r>
            <a:r>
              <a:rPr lang="it-IT" dirty="0" err="1"/>
              <a:t>Internals</a:t>
            </a:r>
            <a:endParaRPr lang="it-IT" dirty="0"/>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827EE015-BE7D-F15C-4F38-53ECA8040545}"/>
              </a:ext>
            </a:extLst>
          </p:cNvPr>
          <p:cNvPicPr>
            <a:picLocks noChangeAspect="1"/>
          </p:cNvPicPr>
          <p:nvPr/>
        </p:nvPicPr>
        <p:blipFill>
          <a:blip r:embed="rId4"/>
          <a:stretch>
            <a:fillRect/>
          </a:stretch>
        </p:blipFill>
        <p:spPr>
          <a:xfrm>
            <a:off x="6762394" y="921057"/>
            <a:ext cx="4810174" cy="5400607"/>
          </a:xfrm>
          <a:prstGeom prst="rect">
            <a:avLst/>
          </a:prstGeom>
        </p:spPr>
      </p:pic>
      <p:sp>
        <p:nvSpPr>
          <p:cNvPr id="5" name="CasellaDiTesto 4">
            <a:extLst>
              <a:ext uri="{FF2B5EF4-FFF2-40B4-BE49-F238E27FC236}">
                <a16:creationId xmlns:a16="http://schemas.microsoft.com/office/drawing/2014/main" id="{66EFB184-6B48-52C4-8B31-E529713D84C4}"/>
              </a:ext>
            </a:extLst>
          </p:cNvPr>
          <p:cNvSpPr txBox="1"/>
          <p:nvPr/>
        </p:nvSpPr>
        <p:spPr>
          <a:xfrm>
            <a:off x="481781" y="1317523"/>
            <a:ext cx="5742038" cy="4524315"/>
          </a:xfrm>
          <a:prstGeom prst="rect">
            <a:avLst/>
          </a:prstGeom>
          <a:noFill/>
        </p:spPr>
        <p:txBody>
          <a:bodyPr wrap="square" rtlCol="0">
            <a:spAutoFit/>
          </a:bodyPr>
          <a:lstStyle/>
          <a:p>
            <a:r>
              <a:rPr lang="it-IT" dirty="0"/>
              <a:t>Questo è il </a:t>
            </a:r>
            <a:r>
              <a:rPr lang="it-IT" dirty="0" err="1"/>
              <a:t>Kraftfile</a:t>
            </a:r>
            <a:r>
              <a:rPr lang="it-IT" dirty="0"/>
              <a:t> per l’</a:t>
            </a:r>
            <a:r>
              <a:rPr lang="it-IT" dirty="0" err="1"/>
              <a:t>unikernel</a:t>
            </a:r>
            <a:r>
              <a:rPr lang="it-IT" dirty="0"/>
              <a:t> </a:t>
            </a:r>
            <a:r>
              <a:rPr lang="it-IT" dirty="0" err="1"/>
              <a:t>Dijkstra</a:t>
            </a:r>
            <a:r>
              <a:rPr lang="it-IT" dirty="0"/>
              <a:t> (ne discuteremo in seguito). </a:t>
            </a:r>
            <a:br>
              <a:rPr lang="it-IT" dirty="0"/>
            </a:br>
            <a:r>
              <a:rPr lang="it-IT" dirty="0"/>
              <a:t>Da quanto si osserva, è stata scelta la versione </a:t>
            </a:r>
            <a:r>
              <a:rPr lang="it-IT" dirty="0" err="1"/>
              <a:t>stable</a:t>
            </a:r>
            <a:r>
              <a:rPr lang="it-IT" dirty="0"/>
              <a:t> di </a:t>
            </a:r>
            <a:r>
              <a:rPr lang="it-IT" dirty="0" err="1"/>
              <a:t>Unikraft</a:t>
            </a:r>
            <a:r>
              <a:rPr lang="it-IT" dirty="0"/>
              <a:t>. </a:t>
            </a:r>
          </a:p>
          <a:p>
            <a:pPr marL="285750" indent="-285750">
              <a:buFont typeface="Arial" panose="020B0604020202020204" pitchFamily="34" charset="0"/>
              <a:buChar char="•"/>
            </a:pPr>
            <a:r>
              <a:rPr lang="it-IT" dirty="0"/>
              <a:t>Al momento della build verrà creata una cartella nascosta ./.</a:t>
            </a:r>
            <a:r>
              <a:rPr lang="it-IT" dirty="0" err="1"/>
              <a:t>unikraft</a:t>
            </a:r>
            <a:r>
              <a:rPr lang="it-IT" dirty="0"/>
              <a:t> che conterrà il core scaricato di </a:t>
            </a:r>
            <a:r>
              <a:rPr lang="it-IT" dirty="0" err="1"/>
              <a:t>Unikraft</a:t>
            </a:r>
            <a:r>
              <a:rPr lang="it-IT" dirty="0"/>
              <a:t> e la cartella di Build con i vari eseguibili e librerie </a:t>
            </a:r>
            <a:r>
              <a:rPr lang="it-IT" b="1" dirty="0"/>
              <a:t>(libraries) .</a:t>
            </a:r>
            <a:r>
              <a:rPr lang="it-IT" dirty="0"/>
              <a:t> </a:t>
            </a:r>
          </a:p>
          <a:p>
            <a:pPr marL="285750" indent="-285750">
              <a:buFont typeface="Arial" panose="020B0604020202020204" pitchFamily="34" charset="0"/>
              <a:buChar char="•"/>
            </a:pPr>
            <a:r>
              <a:rPr lang="it-IT" dirty="0"/>
              <a:t>Nella cartella Build inoltre, saranno presenti le varie immagini dell’ </a:t>
            </a:r>
            <a:r>
              <a:rPr lang="it-IT" dirty="0" err="1"/>
              <a:t>unikernel</a:t>
            </a:r>
            <a:r>
              <a:rPr lang="it-IT" dirty="0"/>
              <a:t> (in base alla architettura e alla piattaforma selezionate nella sezione </a:t>
            </a:r>
            <a:r>
              <a:rPr lang="it-IT" b="1" dirty="0"/>
              <a:t>targets</a:t>
            </a:r>
            <a:r>
              <a:rPr lang="it-IT" dirty="0"/>
              <a:t>).</a:t>
            </a:r>
          </a:p>
          <a:p>
            <a:pPr marL="285750" indent="-285750">
              <a:buFont typeface="Arial" panose="020B0604020202020204" pitchFamily="34" charset="0"/>
              <a:buChar char="•"/>
            </a:pPr>
            <a:r>
              <a:rPr lang="it-IT" b="1" dirty="0" err="1"/>
              <a:t>Kconfig</a:t>
            </a:r>
            <a:r>
              <a:rPr lang="it-IT" b="1" dirty="0"/>
              <a:t>: </a:t>
            </a:r>
            <a:r>
              <a:rPr lang="it-IT" dirty="0"/>
              <a:t>sono state specificate le opzioni riguardo l’inclusione di alcune librerie interne di </a:t>
            </a:r>
            <a:r>
              <a:rPr lang="it-IT" dirty="0" err="1"/>
              <a:t>Unikraft</a:t>
            </a:r>
            <a:r>
              <a:rPr lang="it-IT" dirty="0"/>
              <a:t> (</a:t>
            </a:r>
            <a:r>
              <a:rPr lang="it-IT" b="1" dirty="0" err="1"/>
              <a:t>microlibraries</a:t>
            </a:r>
            <a:r>
              <a:rPr lang="it-IT" b="1" dirty="0"/>
              <a:t>)</a:t>
            </a:r>
            <a:r>
              <a:rPr lang="it-IT" dirty="0"/>
              <a:t> e attivate alcune modalità di esecuzione sulla </a:t>
            </a:r>
            <a:r>
              <a:rPr lang="it-IT" dirty="0" err="1"/>
              <a:t>platform</a:t>
            </a:r>
            <a:r>
              <a:rPr lang="it-IT" dirty="0"/>
              <a:t> </a:t>
            </a:r>
            <a:r>
              <a:rPr lang="it-IT" dirty="0" err="1"/>
              <a:t>Xen</a:t>
            </a:r>
            <a:r>
              <a:rPr lang="it-IT" dirty="0"/>
              <a:t>, come ad esempio la </a:t>
            </a:r>
            <a:r>
              <a:rPr lang="it-IT" b="1" dirty="0" err="1"/>
              <a:t>grant</a:t>
            </a:r>
            <a:r>
              <a:rPr lang="it-IT" b="1" dirty="0"/>
              <a:t> </a:t>
            </a:r>
            <a:r>
              <a:rPr lang="it-IT" b="1" dirty="0" err="1"/>
              <a:t>table</a:t>
            </a:r>
            <a:r>
              <a:rPr lang="it-IT" b="1" dirty="0"/>
              <a:t> (GNTTAB), </a:t>
            </a:r>
            <a:r>
              <a:rPr lang="it-IT" b="1" dirty="0" err="1"/>
              <a:t>xenbus</a:t>
            </a:r>
            <a:r>
              <a:rPr lang="it-IT" b="1" dirty="0"/>
              <a:t>, la console </a:t>
            </a:r>
            <a:r>
              <a:rPr lang="it-IT" b="1" dirty="0" err="1"/>
              <a:t>etc</a:t>
            </a:r>
            <a:r>
              <a:rPr lang="it-IT" b="1" dirty="0"/>
              <a:t> </a:t>
            </a:r>
            <a:r>
              <a:rPr lang="it-IT" b="1" dirty="0" err="1"/>
              <a:t>etc</a:t>
            </a:r>
            <a:r>
              <a:rPr lang="it-IT" b="1" dirty="0"/>
              <a:t> …</a:t>
            </a:r>
          </a:p>
        </p:txBody>
      </p:sp>
    </p:spTree>
    <p:extLst>
      <p:ext uri="{BB962C8B-B14F-4D97-AF65-F5344CB8AC3E}">
        <p14:creationId xmlns:p14="http://schemas.microsoft.com/office/powerpoint/2010/main" val="2227462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7808-BFE7-B014-3DF0-654DE5F727A6}"/>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F7442EB5-A4DF-5D1A-36A5-1977E88E2E63}"/>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84A853B9-F4B8-8033-8FA0-414191C685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3DDA1D6E-EF7D-526C-08CB-A0C702FF09A4}"/>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B0AB90F2-5983-F20F-F0DF-890A8755BAA3}"/>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r>
              <a:rPr lang="it-IT" dirty="0"/>
              <a:t> - </a:t>
            </a:r>
            <a:r>
              <a:rPr lang="it-IT" dirty="0" err="1"/>
              <a:t>Internals</a:t>
            </a:r>
            <a:endParaRPr lang="it-IT" dirty="0"/>
          </a:p>
        </p:txBody>
      </p:sp>
      <p:sp>
        <p:nvSpPr>
          <p:cNvPr id="7" name="CasellaDiTesto 6">
            <a:extLst>
              <a:ext uri="{FF2B5EF4-FFF2-40B4-BE49-F238E27FC236}">
                <a16:creationId xmlns:a16="http://schemas.microsoft.com/office/drawing/2014/main" id="{F0569D30-CC4C-8747-83B0-04988BFCD4C3}"/>
              </a:ext>
            </a:extLst>
          </p:cNvPr>
          <p:cNvSpPr txBox="1"/>
          <p:nvPr/>
        </p:nvSpPr>
        <p:spPr>
          <a:xfrm>
            <a:off x="621891" y="1338491"/>
            <a:ext cx="4589206" cy="4741491"/>
          </a:xfrm>
          <a:prstGeom prst="rect">
            <a:avLst/>
          </a:prstGeom>
          <a:noFill/>
        </p:spPr>
        <p:txBody>
          <a:bodyPr wrap="square">
            <a:spAutoFit/>
          </a:bodyPr>
          <a:lstStyle/>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Per costruire un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 partire da un’applicazione bisogna fornire specifici file:</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Makefile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specificare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path</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del repository principale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quello dell’applicazione o di qualsiasi altra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external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library.</a:t>
            </a:r>
          </a:p>
          <a:p>
            <a:pPr marL="342900" lvl="0" indent="-342900">
              <a:lnSpc>
                <a:spcPct val="115000"/>
              </a:lnSpc>
              <a:spcAft>
                <a:spcPts val="800"/>
              </a:spcAft>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Makefile.uk</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specificare quali sorgenti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buildare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Font typeface="Aptos" panose="020B0004020202020204" pitchFamily="34" charset="0"/>
              <a:buChar char="-"/>
            </a:pPr>
            <a:r>
              <a:rPr lang="it-IT" kern="100" dirty="0">
                <a:latin typeface="Aptos" panose="020B0004020202020204" pitchFamily="34" charset="0"/>
                <a:ea typeface="Aptos" panose="020B0004020202020204" pitchFamily="34" charset="0"/>
                <a:cs typeface="Times New Roman" panose="02020603050405020304" pitchFamily="18" charset="0"/>
              </a:rPr>
              <a:t>Nel nostro caso il </a:t>
            </a:r>
            <a:r>
              <a:rPr lang="it-IT" kern="100" dirty="0" err="1">
                <a:latin typeface="Aptos" panose="020B0004020202020204" pitchFamily="34" charset="0"/>
                <a:ea typeface="Aptos" panose="020B0004020202020204" pitchFamily="34" charset="0"/>
                <a:cs typeface="Times New Roman" panose="02020603050405020304" pitchFamily="18" charset="0"/>
              </a:rPr>
              <a:t>Makefile</a:t>
            </a:r>
            <a:r>
              <a:rPr lang="it-IT" kern="100" dirty="0">
                <a:latin typeface="Aptos" panose="020B0004020202020204" pitchFamily="34" charset="0"/>
                <a:ea typeface="Aptos" panose="020B0004020202020204" pitchFamily="34" charset="0"/>
                <a:cs typeface="Times New Roman" panose="02020603050405020304" pitchFamily="18" charset="0"/>
              </a:rPr>
              <a:t> non è necessario in quanto la cartella con il core </a:t>
            </a:r>
            <a:r>
              <a:rPr lang="it-IT" kern="100" dirty="0" err="1">
                <a:latin typeface="Aptos" panose="020B0004020202020204" pitchFamily="34" charset="0"/>
                <a:ea typeface="Aptos" panose="020B0004020202020204" pitchFamily="34" charset="0"/>
                <a:cs typeface="Times New Roman" panose="02020603050405020304" pitchFamily="18" charset="0"/>
              </a:rPr>
              <a:t>Unikraft</a:t>
            </a:r>
            <a:r>
              <a:rPr lang="it-IT" kern="100" dirty="0">
                <a:latin typeface="Aptos" panose="020B0004020202020204" pitchFamily="34" charset="0"/>
                <a:ea typeface="Aptos" panose="020B0004020202020204" pitchFamily="34" charset="0"/>
                <a:cs typeface="Times New Roman" panose="02020603050405020304" pitchFamily="18" charset="0"/>
              </a:rPr>
              <a:t> viene creata nella stessa directory dalla quale viene lanciato il comando </a:t>
            </a:r>
            <a:r>
              <a:rPr lang="it-IT" b="1" kern="100" dirty="0">
                <a:latin typeface="Aptos" panose="020B0004020202020204" pitchFamily="34" charset="0"/>
                <a:ea typeface="Aptos" panose="020B0004020202020204" pitchFamily="34" charset="0"/>
                <a:cs typeface="Times New Roman" panose="02020603050405020304" pitchFamily="18" charset="0"/>
              </a:rPr>
              <a:t>$ Kraft build.</a:t>
            </a:r>
          </a:p>
        </p:txBody>
      </p:sp>
      <p:pic>
        <p:nvPicPr>
          <p:cNvPr id="11" name="Immagine 10">
            <a:extLst>
              <a:ext uri="{FF2B5EF4-FFF2-40B4-BE49-F238E27FC236}">
                <a16:creationId xmlns:a16="http://schemas.microsoft.com/office/drawing/2014/main" id="{E662FDAA-C363-F1CD-7F26-829FA82E586D}"/>
              </a:ext>
            </a:extLst>
          </p:cNvPr>
          <p:cNvPicPr>
            <a:picLocks noChangeAspect="1"/>
          </p:cNvPicPr>
          <p:nvPr/>
        </p:nvPicPr>
        <p:blipFill>
          <a:blip r:embed="rId4"/>
          <a:stretch>
            <a:fillRect/>
          </a:stretch>
        </p:blipFill>
        <p:spPr>
          <a:xfrm>
            <a:off x="5211097" y="2655930"/>
            <a:ext cx="6705600" cy="2093051"/>
          </a:xfrm>
          <a:prstGeom prst="rect">
            <a:avLst/>
          </a:prstGeom>
        </p:spPr>
      </p:pic>
    </p:spTree>
    <p:extLst>
      <p:ext uri="{BB962C8B-B14F-4D97-AF65-F5344CB8AC3E}">
        <p14:creationId xmlns:p14="http://schemas.microsoft.com/office/powerpoint/2010/main" val="375429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B83CD-51DA-BEC6-1769-268469820E9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F69F839D-4071-7491-2E1A-F4B1EE99105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62B6324F-BA68-AB83-B4A0-5699E6CD5C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6E8CD9DA-C844-CE4E-5B49-2DE2E2570972}"/>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4520CF66-BF6C-7E7A-F946-C51677B18930}"/>
              </a:ext>
            </a:extLst>
          </p:cNvPr>
          <p:cNvSpPr>
            <a:spLocks noGrp="1"/>
          </p:cNvSpPr>
          <p:nvPr>
            <p:ph type="ctrTitle"/>
          </p:nvPr>
        </p:nvSpPr>
        <p:spPr>
          <a:xfrm>
            <a:off x="914400" y="255640"/>
            <a:ext cx="10363200" cy="766915"/>
          </a:xfrm>
        </p:spPr>
        <p:txBody>
          <a:bodyPr>
            <a:normAutofit/>
          </a:bodyPr>
          <a:lstStyle/>
          <a:p>
            <a:r>
              <a:rPr lang="it-IT" dirty="0"/>
              <a:t> </a:t>
            </a:r>
            <a:r>
              <a:rPr lang="it-IT" dirty="0" err="1"/>
              <a:t>Unikraft</a:t>
            </a:r>
            <a:r>
              <a:rPr lang="it-IT" dirty="0"/>
              <a:t> – Build </a:t>
            </a:r>
            <a:r>
              <a:rPr lang="it-IT" dirty="0" err="1"/>
              <a:t>Process</a:t>
            </a:r>
            <a:r>
              <a:rPr lang="it-IT" dirty="0"/>
              <a:t> - </a:t>
            </a:r>
            <a:r>
              <a:rPr lang="it-IT" dirty="0" err="1"/>
              <a:t>Internals</a:t>
            </a:r>
            <a:endParaRPr lang="it-IT" dirty="0"/>
          </a:p>
        </p:txBody>
      </p:sp>
      <p:sp>
        <p:nvSpPr>
          <p:cNvPr id="7" name="CasellaDiTesto 6">
            <a:extLst>
              <a:ext uri="{FF2B5EF4-FFF2-40B4-BE49-F238E27FC236}">
                <a16:creationId xmlns:a16="http://schemas.microsoft.com/office/drawing/2014/main" id="{B648B903-8D78-F1E9-4087-A09B65CB05D5}"/>
              </a:ext>
            </a:extLst>
          </p:cNvPr>
          <p:cNvSpPr txBox="1"/>
          <p:nvPr/>
        </p:nvSpPr>
        <p:spPr>
          <a:xfrm>
            <a:off x="621891" y="1338491"/>
            <a:ext cx="9642986" cy="1134862"/>
          </a:xfrm>
          <a:prstGeom prst="rect">
            <a:avLst/>
          </a:prstGeom>
          <a:noFill/>
        </p:spPr>
        <p:txBody>
          <a:bodyPr wrap="square">
            <a:spAutoFit/>
          </a:bodyPr>
          <a:lstStyle/>
          <a:p>
            <a:pPr>
              <a:lnSpc>
                <a:spcPct val="115000"/>
              </a:lnSpc>
              <a:spcAft>
                <a:spcPts val="800"/>
              </a:spcAft>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Config.uk</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linguaggio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Kconfig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utilizzato per popolare il menù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 opzioni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application-specific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endParaRPr lang="it-IT" b="1"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Immagine 4">
            <a:extLst>
              <a:ext uri="{FF2B5EF4-FFF2-40B4-BE49-F238E27FC236}">
                <a16:creationId xmlns:a16="http://schemas.microsoft.com/office/drawing/2014/main" id="{B8BE0747-6939-C7F9-F243-AACEA53981FC}"/>
              </a:ext>
            </a:extLst>
          </p:cNvPr>
          <p:cNvPicPr>
            <a:picLocks noChangeAspect="1"/>
          </p:cNvPicPr>
          <p:nvPr/>
        </p:nvPicPr>
        <p:blipFill>
          <a:blip r:embed="rId4"/>
          <a:stretch>
            <a:fillRect/>
          </a:stretch>
        </p:blipFill>
        <p:spPr>
          <a:xfrm>
            <a:off x="609419" y="2288858"/>
            <a:ext cx="7183708" cy="3142160"/>
          </a:xfrm>
          <a:prstGeom prst="rect">
            <a:avLst/>
          </a:prstGeom>
        </p:spPr>
      </p:pic>
      <p:sp>
        <p:nvSpPr>
          <p:cNvPr id="6" name="CasellaDiTesto 5">
            <a:extLst>
              <a:ext uri="{FF2B5EF4-FFF2-40B4-BE49-F238E27FC236}">
                <a16:creationId xmlns:a16="http://schemas.microsoft.com/office/drawing/2014/main" id="{4C932EBC-1939-4FB7-A3E0-71591282C7AA}"/>
              </a:ext>
            </a:extLst>
          </p:cNvPr>
          <p:cNvSpPr txBox="1"/>
          <p:nvPr/>
        </p:nvSpPr>
        <p:spPr>
          <a:xfrm>
            <a:off x="7708490" y="2288858"/>
            <a:ext cx="4050891" cy="1754326"/>
          </a:xfrm>
          <a:prstGeom prst="rect">
            <a:avLst/>
          </a:prstGeom>
          <a:noFill/>
        </p:spPr>
        <p:txBody>
          <a:bodyPr wrap="square" rtlCol="0">
            <a:spAutoFit/>
          </a:bodyPr>
          <a:lstStyle/>
          <a:p>
            <a:r>
              <a:rPr lang="it-IT" b="1" dirty="0"/>
              <a:t>WORKTIME : </a:t>
            </a:r>
            <a:r>
              <a:rPr lang="it-IT" dirty="0"/>
              <a:t>Abilitando questa opzione, sarà possibile settare un </a:t>
            </a:r>
            <a:r>
              <a:rPr lang="it-IT" b="1" dirty="0"/>
              <a:t>TOTAL_RUNTIME_SEC </a:t>
            </a:r>
            <a:r>
              <a:rPr lang="it-IT" dirty="0"/>
              <a:t>a piacere.</a:t>
            </a:r>
            <a:br>
              <a:rPr lang="it-IT" dirty="0"/>
            </a:br>
            <a:r>
              <a:rPr lang="it-IT" dirty="0"/>
              <a:t>Quest’ultima variabile è il tempo (intero, in secondi) di esecuzione del benchmark.</a:t>
            </a:r>
            <a:br>
              <a:rPr lang="it-IT" dirty="0"/>
            </a:br>
            <a:endParaRPr lang="it-IT" b="1" dirty="0"/>
          </a:p>
        </p:txBody>
      </p:sp>
    </p:spTree>
    <p:extLst>
      <p:ext uri="{BB962C8B-B14F-4D97-AF65-F5344CB8AC3E}">
        <p14:creationId xmlns:p14="http://schemas.microsoft.com/office/powerpoint/2010/main" val="3990708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EA776-664E-A689-67BA-D54FA0AEFC2D}"/>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877270ED-DEE7-4100-72EF-AF4CCD10942E}"/>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E473A37-65A2-8E36-B953-DF3FFB07D6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71231E7C-D421-1515-278B-AC6605142EE5}"/>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1B8662E8-9283-3F1D-6D8F-00A0EDDDD7D6}"/>
              </a:ext>
            </a:extLst>
          </p:cNvPr>
          <p:cNvSpPr>
            <a:spLocks noGrp="1"/>
          </p:cNvSpPr>
          <p:nvPr>
            <p:ph type="ctrTitle"/>
          </p:nvPr>
        </p:nvSpPr>
        <p:spPr>
          <a:xfrm>
            <a:off x="914400" y="255640"/>
            <a:ext cx="10363200" cy="766915"/>
          </a:xfrm>
        </p:spPr>
        <p:txBody>
          <a:bodyPr>
            <a:normAutofit/>
          </a:bodyPr>
          <a:lstStyle/>
          <a:p>
            <a:r>
              <a:rPr lang="it-IT" dirty="0"/>
              <a:t> 4. Design of </a:t>
            </a:r>
            <a:r>
              <a:rPr lang="it-IT" dirty="0" err="1"/>
              <a:t>Experiments</a:t>
            </a:r>
            <a:r>
              <a:rPr lang="it-IT" dirty="0"/>
              <a:t> - </a:t>
            </a:r>
            <a:r>
              <a:rPr lang="it-IT" dirty="0" err="1"/>
              <a:t>Dijkstra</a:t>
            </a:r>
            <a:endParaRPr lang="it-IT" dirty="0"/>
          </a:p>
        </p:txBody>
      </p:sp>
      <p:sp>
        <p:nvSpPr>
          <p:cNvPr id="8" name="CasellaDiTesto 7">
            <a:extLst>
              <a:ext uri="{FF2B5EF4-FFF2-40B4-BE49-F238E27FC236}">
                <a16:creationId xmlns:a16="http://schemas.microsoft.com/office/drawing/2014/main" id="{45C444A8-FFF0-7A87-44A2-3D86B5BDF39D}"/>
              </a:ext>
            </a:extLst>
          </p:cNvPr>
          <p:cNvSpPr txBox="1"/>
          <p:nvPr/>
        </p:nvSpPr>
        <p:spPr>
          <a:xfrm>
            <a:off x="352782" y="1059801"/>
            <a:ext cx="11157154" cy="5697137"/>
          </a:xfrm>
          <a:prstGeom prst="rect">
            <a:avLst/>
          </a:prstGeom>
          <a:noFill/>
        </p:spPr>
        <p:txBody>
          <a:bodyPr wrap="square">
            <a:spAutoFit/>
          </a:bodyPr>
          <a:lstStyle/>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L’obiettivo è provare a valutare l’interferenza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Xen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(dom0) osservando le performance di tre dei suoi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configurabili ( credit2,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rtds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presenza di stress sul dom0.</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Di seguito saranno elencati i fattori e le risposte adoperate.</a:t>
            </a:r>
            <a:br>
              <a:rPr lang="it-IT" kern="100" dirty="0">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Come fattori sono stati scelti: </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Dom0Mem</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memoria del dom0. Dato che il dom0 gestisce interrupt, IO, ed altre interazioni con l’hardware, si ipotizza che assegnare meno memoria al dom0 possa influenzare negativamente le prestazioni. Per cui sono stati scelti due livelli: 2 GB ed 8 GB. Sarebbe stato opportuno scegliere 1 GB anziché 2 GB come livello minimo, ma in tal caso si verificano troppi problemi dovuti allo stress che rendevano quasi impossibile effettuare le catture.</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Sched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Ha tre livelli come descritto sopra: credit2,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ed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rtds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Stress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Tramite il tool stress-ng è stato applicato uno stress al dom0. </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I livelli sono 5: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io , interrupt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int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network (net),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vm</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virtual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memory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CategoryBench</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Ogni benchmark eseguito come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Unikraft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appartiene alla suite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TACle-bench</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particolare sono state analizzate 4 categorie di benchmark: app, kernel,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sequential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test.</a:t>
            </a:r>
          </a:p>
          <a:p>
            <a:pPr marL="342900" lvl="0" indent="-342900">
              <a:lnSpc>
                <a:spcPct val="115000"/>
              </a:lnSpc>
              <a:spcAft>
                <a:spcPts val="800"/>
              </a:spcAft>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Benchmark</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 benchmark trasformati in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sono i seguenti: Lift,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Powerwindow</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Binarysearch</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Bsort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Dijkstra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Epic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Cover e Duff, esattamente due per ogni categoria.</a:t>
            </a:r>
          </a:p>
          <a:p>
            <a:pPr>
              <a:lnSpc>
                <a:spcPct val="115000"/>
              </a:lnSpc>
              <a:spcAft>
                <a:spcPts val="800"/>
              </a:spcAft>
            </a:pP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78864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2581B-AF38-9DE7-FDEA-AAF57B988DCA}"/>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B98A601E-C0B8-965F-3006-D08DB00AFD48}"/>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2AEA45DC-F2FC-C72A-12F4-A22F93FA60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D48C44C-2BCE-A208-6ACE-F720D73D3E8D}"/>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B38DF91D-C8B6-2AE2-4E91-E11C09BBCB25}"/>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A808EAE5-64A6-1F67-C7F8-1EF86CE55219}"/>
              </a:ext>
            </a:extLst>
          </p:cNvPr>
          <p:cNvSpPr txBox="1"/>
          <p:nvPr/>
        </p:nvSpPr>
        <p:spPr>
          <a:xfrm>
            <a:off x="523567" y="1059801"/>
            <a:ext cx="10363200" cy="4957447"/>
          </a:xfrm>
          <a:prstGeom prst="rect">
            <a:avLst/>
          </a:prstGeom>
          <a:noFill/>
        </p:spPr>
        <p:txBody>
          <a:bodyPr wrap="square">
            <a:spAutoFit/>
          </a:bodyPr>
          <a:lstStyle/>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Tutte le metriche hanno unità di misura in microsecondi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Come risposte sono state scelte:</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ExecTime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tempo di esecuzione del singolo benchmark (per ogni ripetizione è stata calcolata la media).</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WakeupLatency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ogni benchmark esegue con periodo di 1 secondo.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viene calcolata come la differenza tra l’istante di tempo in cui viene eseguito il benchmark (post sospensione) e l’istante di tempo immediatamente prima la sospensione. Dunque non può mai essere negativa. Data la presenza di enorme variabilità di alcuni dati, di tale risposta è stata valutata la mediana tra le varie ripetizioni.</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Start Jitter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si ricava dalla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Le formule utilizzate saranno mostrate successivamente nel codice. Dato che non aggiunge varianza rispetto alla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WakeupLatency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si è deciso di prendere il massimo Jitter per ogni ripetizione.</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MaxWL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la massima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osservata. Poiché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WakeupLatency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una mediana, si è scelto di introdurre questa risposta per evidenziare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nel caso peggiore.</a:t>
            </a:r>
          </a:p>
          <a:p>
            <a:pPr marL="342900" lvl="0" indent="-342900">
              <a:lnSpc>
                <a:spcPct val="115000"/>
              </a:lnSpc>
              <a:spcAft>
                <a:spcPts val="800"/>
              </a:spcAft>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WCET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il massimo tempo di esecuzione ottenuto da ogni benchmark.</a:t>
            </a:r>
          </a:p>
        </p:txBody>
      </p:sp>
    </p:spTree>
    <p:extLst>
      <p:ext uri="{BB962C8B-B14F-4D97-AF65-F5344CB8AC3E}">
        <p14:creationId xmlns:p14="http://schemas.microsoft.com/office/powerpoint/2010/main" val="502992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41AE6-5DE9-937F-03F7-A1AEEADD65C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E8BB0DBE-9E89-9160-D7D4-5CD82AF1F3AE}"/>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3755C617-428C-A7EB-F72D-76F6325A78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9A981C0E-75A0-CD7F-40DD-4EA043917440}"/>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808A7072-573E-5B20-D2D2-C660566E6320}"/>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FBACF9A7-FFD1-803E-0B62-3971B86ED326}"/>
              </a:ext>
            </a:extLst>
          </p:cNvPr>
          <p:cNvSpPr txBox="1"/>
          <p:nvPr/>
        </p:nvSpPr>
        <p:spPr>
          <a:xfrm>
            <a:off x="523566" y="1059801"/>
            <a:ext cx="10754033" cy="5100563"/>
          </a:xfrm>
          <a:prstGeom prst="rect">
            <a:avLst/>
          </a:prstGeom>
          <a:noFill/>
        </p:spPr>
        <p:txBody>
          <a:bodyPr wrap="square">
            <a:spAutoFit/>
          </a:bodyPr>
          <a:lstStyle/>
          <a:p>
            <a:pPr>
              <a:lnSpc>
                <a:spcPct val="115000"/>
              </a:lnSpc>
              <a:spcAft>
                <a:spcPts val="800"/>
              </a:spcAft>
              <a:buNone/>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PIANO DOE</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Sono state effettuate 5 ripetizioni per ogni esperimento, per un totale di 1200 catture.</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Possiamo definire il piano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DoE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come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full design con ripetizioni</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Bef>
                <a:spcPts val="800"/>
              </a:spcBef>
              <a:spcAft>
                <a:spcPts val="400"/>
              </a:spcAft>
              <a:buNone/>
            </a:pPr>
            <a:r>
              <a:rPr lang="it-IT" sz="1800" b="1" kern="100" dirty="0">
                <a:effectLst/>
                <a:latin typeface="Aptos Display" panose="020B0004020202020204" pitchFamily="34" charset="0"/>
                <a:ea typeface="Times New Roman" panose="02020603050405020304" pitchFamily="18" charset="0"/>
                <a:cs typeface="Times New Roman" panose="02020603050405020304" pitchFamily="18" charset="0"/>
              </a:rPr>
              <a:t>SETTAGGIO AMBIENTE PER ESPERIMENTI</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Tutti gli esperimenti sono stati condotti nelle seguenti condizioni:</a:t>
            </a:r>
          </a:p>
          <a:p>
            <a:pPr marL="342900" lvl="0" indent="-342900">
              <a:lnSpc>
                <a:spcPct val="115000"/>
              </a:lnSpc>
              <a:buFont typeface="+mj-lt"/>
              <a:buAutoNum type="arabicPeriod"/>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Stress lanciato direttamente sul dom0 tramite il tool stress-ng.</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Esempio</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stress-ng  - -class </a:t>
            </a:r>
            <a:r>
              <a:rPr lang="en-US" sz="1800" b="1" kern="100" dirty="0" err="1">
                <a:effectLst/>
                <a:latin typeface="Aptos" panose="020B0004020202020204" pitchFamily="34" charset="0"/>
                <a:ea typeface="Aptos" panose="020B0004020202020204" pitchFamily="34" charset="0"/>
                <a:cs typeface="Times New Roman" panose="02020603050405020304" pitchFamily="18" charset="0"/>
              </a:rPr>
              <a:t>cpu</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 -all 0  - -maximize  - -verbose </a:t>
            </a:r>
            <a:endParaRPr lang="it-IT"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mj-lt"/>
              <a:buAutoNum type="arabicPeriod"/>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Massimo numero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assegnate al dom0, in particolare:</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per gli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rtds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credit2 </a:t>
            </a:r>
            <a:r>
              <a:rPr lang="it-IT" sz="18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 vcpu_dom0 = 12;</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per 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Aptos"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 vcpu_dom0 = 11.</a:t>
            </a:r>
          </a:p>
          <a:p>
            <a:pPr marL="342900" lvl="0" indent="-342900">
              <a:lnSpc>
                <a:spcPct val="115000"/>
              </a:lnSpc>
              <a:spcAft>
                <a:spcPts val="800"/>
              </a:spcAft>
              <a:buFont typeface="+mj-lt"/>
              <a:buAutoNum type="arabicPeriod"/>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Tutte 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sia del dom0 che della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vm</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 l’</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erano libere di eseguire su qualsiasi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pinning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cpupools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 eccezione per 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tal caso 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vm</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doveva per forza essere eseguita su una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dedicata (ma era 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 decidere, no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pinning</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endParaRPr lang="it-IT"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4709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A944-994B-3750-7608-103870391A22}"/>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92E7A6E3-A2A5-989F-1388-C95D9FED0DB7}"/>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C2BB34B5-7DF0-274D-C7BA-A8DB7463B7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F04AEEB3-1405-F94A-2EBF-6C7707BC9B54}"/>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26500F31-D1D6-3DB6-9329-763D3FD9A16E}"/>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BB097FC5-ADD5-8066-C367-833E9CD4ED29}"/>
              </a:ext>
            </a:extLst>
          </p:cNvPr>
          <p:cNvSpPr txBox="1"/>
          <p:nvPr/>
        </p:nvSpPr>
        <p:spPr>
          <a:xfrm>
            <a:off x="523566" y="1059801"/>
            <a:ext cx="10754033" cy="1237455"/>
          </a:xfrm>
          <a:prstGeom prst="rect">
            <a:avLst/>
          </a:prstGeom>
          <a:noFill/>
        </p:spPr>
        <p:txBody>
          <a:bodyPr wrap="square">
            <a:spAutoFit/>
          </a:bodyPr>
          <a:lstStyle/>
          <a:p>
            <a:pPr>
              <a:lnSpc>
                <a:spcPct val="115000"/>
              </a:lnSpc>
              <a:spcAft>
                <a:spcPts val="800"/>
              </a:spcAft>
              <a:buNone/>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Dijkstra</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è un benchmark  in linguaggio C estrapolato dalla suite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TACle-bench</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su GitHub.</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Di seguito verranno mostrate le modifiche apportate al codice per la raccolta dei dati da analizzare:</a:t>
            </a:r>
          </a:p>
          <a:p>
            <a:pPr>
              <a:lnSpc>
                <a:spcPct val="115000"/>
              </a:lnSpc>
              <a:spcAft>
                <a:spcPts val="800"/>
              </a:spcAft>
              <a:buNone/>
            </a:pP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D695108A-D3F6-5059-C645-014CD915E915}"/>
              </a:ext>
            </a:extLst>
          </p:cNvPr>
          <p:cNvPicPr>
            <a:picLocks noChangeAspect="1"/>
          </p:cNvPicPr>
          <p:nvPr/>
        </p:nvPicPr>
        <p:blipFill>
          <a:blip r:embed="rId4"/>
          <a:stretch>
            <a:fillRect/>
          </a:stretch>
        </p:blipFill>
        <p:spPr>
          <a:xfrm>
            <a:off x="424631" y="2125359"/>
            <a:ext cx="4991100" cy="3672840"/>
          </a:xfrm>
          <a:prstGeom prst="rect">
            <a:avLst/>
          </a:prstGeom>
        </p:spPr>
      </p:pic>
      <p:sp>
        <p:nvSpPr>
          <p:cNvPr id="7" name="CasellaDiTesto 6">
            <a:extLst>
              <a:ext uri="{FF2B5EF4-FFF2-40B4-BE49-F238E27FC236}">
                <a16:creationId xmlns:a16="http://schemas.microsoft.com/office/drawing/2014/main" id="{C69A24B0-60EE-443B-5CF7-737A0D411BA3}"/>
              </a:ext>
            </a:extLst>
          </p:cNvPr>
          <p:cNvSpPr txBox="1"/>
          <p:nvPr/>
        </p:nvSpPr>
        <p:spPr>
          <a:xfrm>
            <a:off x="6921910" y="2555813"/>
            <a:ext cx="3635478" cy="2862322"/>
          </a:xfrm>
          <a:prstGeom prst="rect">
            <a:avLst/>
          </a:prstGeom>
          <a:noFill/>
        </p:spPr>
        <p:txBody>
          <a:bodyPr wrap="square">
            <a:spAutoFit/>
          </a:bodyPr>
          <a:lstStyle/>
          <a:p>
            <a:r>
              <a:rPr lang="it-IT" sz="1800" dirty="0">
                <a:effectLst/>
                <a:latin typeface="Aptos" panose="020B0004020202020204" pitchFamily="34" charset="0"/>
                <a:ea typeface="Aptos" panose="020B0004020202020204" pitchFamily="34" charset="0"/>
                <a:cs typeface="Times New Roman" panose="02020603050405020304" pitchFamily="18" charset="0"/>
              </a:rPr>
              <a:t>L’aggiunta di tali funzioni consente di calcolare le diverse metriche con unità di misura in microsecondi. Inoltre la funzione </a:t>
            </a:r>
            <a:r>
              <a:rPr lang="it-IT" sz="1800" b="1" dirty="0" err="1">
                <a:effectLst/>
                <a:latin typeface="Aptos" panose="020B0004020202020204" pitchFamily="34" charset="0"/>
                <a:ea typeface="Aptos" panose="020B0004020202020204" pitchFamily="34" charset="0"/>
                <a:cs typeface="Times New Roman" panose="02020603050405020304" pitchFamily="18" charset="0"/>
              </a:rPr>
              <a:t>llround</a:t>
            </a:r>
            <a:r>
              <a:rPr lang="it-IT" sz="1800" dirty="0">
                <a:effectLst/>
                <a:latin typeface="Aptos" panose="020B0004020202020204" pitchFamily="34" charset="0"/>
                <a:ea typeface="Aptos" panose="020B0004020202020204" pitchFamily="34" charset="0"/>
                <a:cs typeface="Times New Roman" panose="02020603050405020304" pitchFamily="18" charset="0"/>
              </a:rPr>
              <a:t> arrotonda tale risultato, in modo da fornire solo la parte intera (senza le cifre decimali). Nel codice è stata utilizzata solo la </a:t>
            </a:r>
            <a:r>
              <a:rPr lang="it-IT" sz="1800" b="1" dirty="0" err="1">
                <a:effectLst/>
                <a:latin typeface="Aptos" panose="020B0004020202020204" pitchFamily="34" charset="0"/>
                <a:ea typeface="Aptos" panose="020B0004020202020204" pitchFamily="34" charset="0"/>
                <a:cs typeface="Times New Roman" panose="02020603050405020304" pitchFamily="18" charset="0"/>
              </a:rPr>
              <a:t>timespec_to_usec_long</a:t>
            </a:r>
            <a:r>
              <a:rPr lang="it-IT" sz="1800" dirty="0">
                <a:effectLst/>
                <a:latin typeface="Aptos" panose="020B0004020202020204" pitchFamily="34" charset="0"/>
                <a:ea typeface="Aptos" panose="020B0004020202020204" pitchFamily="34" charset="0"/>
                <a:cs typeface="Times New Roman" panose="02020603050405020304" pitchFamily="18" charset="0"/>
              </a:rPr>
              <a:t>.</a:t>
            </a:r>
            <a:br>
              <a:rPr lang="it-IT" sz="1800" dirty="0">
                <a:effectLst/>
                <a:latin typeface="Aptos" panose="020B0004020202020204" pitchFamily="34" charset="0"/>
                <a:ea typeface="Aptos" panose="020B0004020202020204" pitchFamily="34" charset="0"/>
                <a:cs typeface="Times New Roman" panose="02020603050405020304" pitchFamily="18" charset="0"/>
              </a:rPr>
            </a:br>
            <a:endParaRPr lang="it-IT" dirty="0"/>
          </a:p>
        </p:txBody>
      </p:sp>
    </p:spTree>
    <p:extLst>
      <p:ext uri="{BB962C8B-B14F-4D97-AF65-F5344CB8AC3E}">
        <p14:creationId xmlns:p14="http://schemas.microsoft.com/office/powerpoint/2010/main" val="1420535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90D22-B253-8226-EB19-74E1BC26566C}"/>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3CC1ECBB-25C6-BFF3-2DA2-754984FAC0F4}"/>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DF51CD1-3F83-A509-601C-051609E2F4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A6885D18-61E3-3851-83F5-98DF82D2ECFA}"/>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79B02C29-F623-AC2F-1D4C-CA2E73F76B01}"/>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pic>
        <p:nvPicPr>
          <p:cNvPr id="6" name="Immagine 5" descr="Immagine che contiene testo, schermata, Carattere, numero&#10;&#10;Il contenuto generato dall'IA potrebbe non essere corretto.">
            <a:extLst>
              <a:ext uri="{FF2B5EF4-FFF2-40B4-BE49-F238E27FC236}">
                <a16:creationId xmlns:a16="http://schemas.microsoft.com/office/drawing/2014/main" id="{EEE22AF2-55C2-BEB6-3DFF-1E488AE38090}"/>
              </a:ext>
            </a:extLst>
          </p:cNvPr>
          <p:cNvPicPr>
            <a:picLocks noChangeAspect="1"/>
          </p:cNvPicPr>
          <p:nvPr/>
        </p:nvPicPr>
        <p:blipFill>
          <a:blip r:embed="rId4"/>
          <a:stretch>
            <a:fillRect/>
          </a:stretch>
        </p:blipFill>
        <p:spPr>
          <a:xfrm>
            <a:off x="14286" y="1022555"/>
            <a:ext cx="10072041" cy="5462519"/>
          </a:xfrm>
          <a:prstGeom prst="rect">
            <a:avLst/>
          </a:prstGeom>
        </p:spPr>
      </p:pic>
    </p:spTree>
    <p:extLst>
      <p:ext uri="{BB962C8B-B14F-4D97-AF65-F5344CB8AC3E}">
        <p14:creationId xmlns:p14="http://schemas.microsoft.com/office/powerpoint/2010/main" val="885182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09E51-CF0C-272E-FD07-898208898DF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C9944180-64C4-2EAD-2259-809005D1626F}"/>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29349DF3-E62A-CE53-2723-4139282A99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3CB9EF0-F174-C7FF-956E-9E51C774753D}"/>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00824B94-DF05-369B-22F0-B7484B3CBB69}"/>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01E08C80-6EC5-60D3-93D1-37CE6E288F7B}"/>
              </a:ext>
            </a:extLst>
          </p:cNvPr>
          <p:cNvSpPr txBox="1"/>
          <p:nvPr/>
        </p:nvSpPr>
        <p:spPr>
          <a:xfrm>
            <a:off x="435076" y="1189703"/>
            <a:ext cx="11216150" cy="4638899"/>
          </a:xfrm>
          <a:prstGeom prst="rect">
            <a:avLst/>
          </a:prstGeom>
          <a:noFill/>
        </p:spPr>
        <p:txBody>
          <a:bodyPr wrap="square">
            <a:spAutoFit/>
          </a:bodyPr>
          <a:lstStyle/>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total_exec_start_time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è la variabile che contiene il tempo immediatamente precedente al ciclo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while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nel quale verrà richiamato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main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buFont typeface="Aptos" panose="020B0004020202020204" pitchFamily="34" charset="0"/>
              <a:buChar char="-"/>
            </a:pPr>
            <a:r>
              <a:rPr lang="it-IT" sz="1800" b="1" kern="100" dirty="0">
                <a:effectLst/>
                <a:latin typeface="Aptos" panose="020B0004020202020204" pitchFamily="34" charset="0"/>
                <a:ea typeface="Aptos" panose="020B0004020202020204" pitchFamily="34" charset="0"/>
                <a:cs typeface="Times New Roman" panose="02020603050405020304" pitchFamily="18" charset="0"/>
              </a:rPr>
              <a:t>TOTAL_RUNTIME_SEC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è una variabile nella quale vi è un valore costante (in secondi) scelto in fase di configurazione dell’</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unikernel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Tale valore è stato impostato a 40 s, sta a significare che il ciclo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while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verrà eseguito per 40 secondi (quindi ci aspettiamo 40 tempi di esecuzione,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latencies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jitter per ogni ripetizione dell’esperimento).</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start_time</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ed</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end_time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sono le variabili che verranno usate per il calcolo dell’</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execution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time, che sarà dunque pari 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end_time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start_time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end_time_before_sleep</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tale variabile contiene l’istante di tempo immediatamente prima della sospensione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nanosleep</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Font typeface="Aptos" panose="020B0004020202020204" pitchFamily="34" charset="0"/>
              <a:buChar char="-"/>
            </a:pP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t_exec</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struct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di tipo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timespec</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che viene utilizzata per il calcolo del tempo trascorso all’interno del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while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Nonappena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arriva a 40 secondi,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while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si interrompe e l’esecuzione del benchmark termina.</a:t>
            </a:r>
          </a:p>
          <a:p>
            <a:pPr lvl="0">
              <a:lnSpc>
                <a:spcPct val="115000"/>
              </a:lnSpc>
              <a:spcAft>
                <a:spcPts val="800"/>
              </a:spcAft>
            </a:pPr>
            <a:r>
              <a:rPr lang="it-IT" b="1" kern="100" dirty="0">
                <a:latin typeface="Aptos" panose="020B0004020202020204" pitchFamily="34" charset="0"/>
                <a:ea typeface="Aptos" panose="020B0004020202020204" pitchFamily="34" charset="0"/>
                <a:cs typeface="Times New Roman" panose="02020603050405020304" pitchFamily="18" charset="0"/>
              </a:rPr>
              <a:t>ATTENZIONE!!! Per come sono stati calcolati il jitter e la </a:t>
            </a:r>
            <a:r>
              <a:rPr lang="it-IT" b="1" kern="100" dirty="0" err="1">
                <a:latin typeface="Aptos" panose="020B0004020202020204" pitchFamily="34" charset="0"/>
                <a:ea typeface="Aptos" panose="020B0004020202020204" pitchFamily="34" charset="0"/>
                <a:cs typeface="Times New Roman" panose="02020603050405020304" pitchFamily="18" charset="0"/>
              </a:rPr>
              <a:t>wake</a:t>
            </a:r>
            <a:r>
              <a:rPr lang="it-IT" b="1" kern="100" dirty="0">
                <a:latin typeface="Aptos" panose="020B0004020202020204" pitchFamily="34" charset="0"/>
                <a:ea typeface="Aptos" panose="020B0004020202020204" pitchFamily="34" charset="0"/>
                <a:cs typeface="Times New Roman" panose="02020603050405020304" pitchFamily="18" charset="0"/>
              </a:rPr>
              <a:t> up </a:t>
            </a:r>
            <a:r>
              <a:rPr lang="it-IT" b="1" kern="100" dirty="0" err="1">
                <a:latin typeface="Aptos" panose="020B0004020202020204" pitchFamily="34" charset="0"/>
                <a:ea typeface="Aptos" panose="020B0004020202020204" pitchFamily="34" charset="0"/>
                <a:cs typeface="Times New Roman" panose="02020603050405020304" pitchFamily="18" charset="0"/>
              </a:rPr>
              <a:t>latency</a:t>
            </a:r>
            <a:r>
              <a:rPr lang="it-IT" b="1" kern="100" dirty="0">
                <a:latin typeface="Aptos" panose="020B0004020202020204" pitchFamily="34" charset="0"/>
                <a:ea typeface="Aptos" panose="020B0004020202020204" pitchFamily="34" charset="0"/>
                <a:cs typeface="Times New Roman" panose="02020603050405020304" pitchFamily="18" charset="0"/>
              </a:rPr>
              <a:t>, sarebbe opportuno escludere le prime due righe di dati in quanto il valore iniziale non è significativo.</a:t>
            </a:r>
          </a:p>
        </p:txBody>
      </p:sp>
    </p:spTree>
    <p:extLst>
      <p:ext uri="{BB962C8B-B14F-4D97-AF65-F5344CB8AC3E}">
        <p14:creationId xmlns:p14="http://schemas.microsoft.com/office/powerpoint/2010/main" val="420449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B905B-13E4-7D90-7A92-C2C28C6A0EA0}"/>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CF5E8099-2913-F2F7-665B-AC6A3A20BDBD}"/>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0F1B0072-4A08-BA85-2F72-C8C13E36F2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94744248-D823-8383-7341-3C9F56032FDE}"/>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1F38A1F8-C393-238D-B617-FE3B801A5C93}"/>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B9E883BE-1C98-4CA6-5FDD-5E77C2BFC472}"/>
              </a:ext>
            </a:extLst>
          </p:cNvPr>
          <p:cNvSpPr txBox="1"/>
          <p:nvPr/>
        </p:nvSpPr>
        <p:spPr>
          <a:xfrm>
            <a:off x="1559641" y="1838632"/>
            <a:ext cx="9072718" cy="3580660"/>
          </a:xfrm>
          <a:prstGeom prst="rect">
            <a:avLst/>
          </a:prstGeom>
          <a:noFill/>
        </p:spPr>
        <p:txBody>
          <a:bodyPr wrap="square">
            <a:spAutoFit/>
          </a:bodyPr>
          <a:lstStyle/>
          <a:p>
            <a:pPr lvl="0">
              <a:lnSpc>
                <a:spcPct val="115000"/>
              </a:lnSpc>
            </a:pPr>
            <a:r>
              <a:rPr lang="it-IT" b="1" kern="100" dirty="0">
                <a:latin typeface="Aptos" panose="020B0004020202020204" pitchFamily="34" charset="0"/>
                <a:ea typeface="Aptos" panose="020B0004020202020204" pitchFamily="34" charset="0"/>
                <a:cs typeface="Times New Roman" panose="02020603050405020304" pitchFamily="18" charset="0"/>
              </a:rPr>
              <a:t>Risultati </a:t>
            </a:r>
            <a:r>
              <a:rPr lang="it-IT" b="1" kern="100" dirty="0" err="1">
                <a:latin typeface="Aptos" panose="020B0004020202020204" pitchFamily="34" charset="0"/>
                <a:ea typeface="Aptos" panose="020B0004020202020204" pitchFamily="34" charset="0"/>
                <a:cs typeface="Times New Roman" panose="02020603050405020304" pitchFamily="18" charset="0"/>
              </a:rPr>
              <a:t>DoE</a:t>
            </a:r>
            <a:r>
              <a:rPr lang="it-IT" b="1" kern="100" dirty="0">
                <a:latin typeface="Aptos" panose="020B0004020202020204" pitchFamily="34" charset="0"/>
                <a:ea typeface="Aptos" panose="020B0004020202020204" pitchFamily="34" charset="0"/>
                <a:cs typeface="Times New Roman" panose="02020603050405020304" pitchFamily="18" charset="0"/>
              </a:rPr>
              <a:t>:</a:t>
            </a:r>
          </a:p>
          <a:p>
            <a:pPr marL="285750" lvl="0" indent="-285750">
              <a:lnSpc>
                <a:spcPct val="115000"/>
              </a:lnSpc>
              <a:buFont typeface="Arial" panose="020B0604020202020204" pitchFamily="34" charset="0"/>
              <a:buChar char="•"/>
            </a:pPr>
            <a:r>
              <a:rPr lang="it-IT" kern="100" dirty="0">
                <a:latin typeface="Aptos" panose="020B0004020202020204" pitchFamily="34" charset="0"/>
                <a:ea typeface="Aptos" panose="020B0004020202020204" pitchFamily="34" charset="0"/>
                <a:cs typeface="Times New Roman" panose="02020603050405020304" pitchFamily="18" charset="0"/>
              </a:rPr>
              <a:t>Con un intervallo di confidenza del 95% si può affermare che i fattori </a:t>
            </a:r>
            <a:r>
              <a:rPr lang="it-IT" b="1" kern="100" dirty="0" err="1">
                <a:latin typeface="Aptos" panose="020B0004020202020204" pitchFamily="34" charset="0"/>
                <a:ea typeface="Aptos" panose="020B0004020202020204" pitchFamily="34" charset="0"/>
                <a:cs typeface="Times New Roman" panose="02020603050405020304" pitchFamily="18" charset="0"/>
              </a:rPr>
              <a:t>Sched</a:t>
            </a:r>
            <a:r>
              <a:rPr lang="it-IT" kern="100" dirty="0">
                <a:latin typeface="Aptos" panose="020B0004020202020204" pitchFamily="34" charset="0"/>
                <a:ea typeface="Aptos" panose="020B0004020202020204" pitchFamily="34" charset="0"/>
                <a:cs typeface="Times New Roman" panose="02020603050405020304" pitchFamily="18" charset="0"/>
              </a:rPr>
              <a:t> e </a:t>
            </a:r>
            <a:r>
              <a:rPr lang="it-IT" b="1" kern="100" dirty="0">
                <a:latin typeface="Aptos" panose="020B0004020202020204" pitchFamily="34" charset="0"/>
                <a:ea typeface="Aptos" panose="020B0004020202020204" pitchFamily="34" charset="0"/>
                <a:cs typeface="Times New Roman" panose="02020603050405020304" pitchFamily="18" charset="0"/>
              </a:rPr>
              <a:t>Stress</a:t>
            </a:r>
            <a:r>
              <a:rPr lang="it-IT" kern="100" dirty="0">
                <a:latin typeface="Aptos" panose="020B0004020202020204" pitchFamily="34" charset="0"/>
                <a:ea typeface="Aptos" panose="020B0004020202020204" pitchFamily="34" charset="0"/>
                <a:cs typeface="Times New Roman" panose="02020603050405020304" pitchFamily="18" charset="0"/>
              </a:rPr>
              <a:t> sono significativi per la risposta </a:t>
            </a:r>
            <a:r>
              <a:rPr lang="it-IT" b="1" kern="100" dirty="0" err="1">
                <a:latin typeface="Aptos" panose="020B0004020202020204" pitchFamily="34" charset="0"/>
                <a:ea typeface="Aptos" panose="020B0004020202020204" pitchFamily="34" charset="0"/>
                <a:cs typeface="Times New Roman" panose="02020603050405020304" pitchFamily="18" charset="0"/>
              </a:rPr>
              <a:t>ExecTime</a:t>
            </a:r>
            <a:r>
              <a:rPr lang="it-IT" kern="100" dirty="0">
                <a:latin typeface="Aptos" panose="020B0004020202020204" pitchFamily="34" charset="0"/>
                <a:ea typeface="Aptos" panose="020B0004020202020204" pitchFamily="34" charset="0"/>
                <a:cs typeface="Times New Roman" panose="02020603050405020304" pitchFamily="18" charset="0"/>
              </a:rPr>
              <a:t>.</a:t>
            </a:r>
          </a:p>
          <a:p>
            <a:pPr marL="285750" lvl="0" indent="-285750">
              <a:lnSpc>
                <a:spcPct val="115000"/>
              </a:lnSpc>
              <a:buFont typeface="Arial" panose="020B0604020202020204" pitchFamily="34" charset="0"/>
              <a:buChar char="•"/>
            </a:pPr>
            <a:r>
              <a:rPr lang="it-IT" kern="100" dirty="0">
                <a:latin typeface="Aptos" panose="020B0004020202020204" pitchFamily="34" charset="0"/>
                <a:ea typeface="Aptos" panose="020B0004020202020204" pitchFamily="34" charset="0"/>
                <a:cs typeface="Times New Roman" panose="02020603050405020304" pitchFamily="18" charset="0"/>
              </a:rPr>
              <a:t>Con un intervallo di confidenza del 95% si può affermare che il fattore </a:t>
            </a:r>
            <a:r>
              <a:rPr lang="it-IT" b="1" kern="100" dirty="0" err="1">
                <a:latin typeface="Aptos" panose="020B0004020202020204" pitchFamily="34" charset="0"/>
                <a:ea typeface="Aptos" panose="020B0004020202020204" pitchFamily="34" charset="0"/>
                <a:cs typeface="Times New Roman" panose="02020603050405020304" pitchFamily="18" charset="0"/>
              </a:rPr>
              <a:t>Sched</a:t>
            </a:r>
            <a:r>
              <a:rPr lang="it-IT" kern="100" dirty="0">
                <a:latin typeface="Aptos" panose="020B0004020202020204" pitchFamily="34" charset="0"/>
                <a:ea typeface="Aptos" panose="020B0004020202020204" pitchFamily="34" charset="0"/>
                <a:cs typeface="Times New Roman" panose="02020603050405020304" pitchFamily="18" charset="0"/>
              </a:rPr>
              <a:t> è significativo per la risposta </a:t>
            </a:r>
            <a:r>
              <a:rPr lang="it-IT" b="1" kern="100" dirty="0" err="1">
                <a:latin typeface="Aptos" panose="020B0004020202020204" pitchFamily="34" charset="0"/>
                <a:ea typeface="Aptos" panose="020B0004020202020204" pitchFamily="34" charset="0"/>
                <a:cs typeface="Times New Roman" panose="02020603050405020304" pitchFamily="18" charset="0"/>
              </a:rPr>
              <a:t>WakeupLatency</a:t>
            </a:r>
            <a:r>
              <a:rPr lang="it-IT" kern="100" dirty="0">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Con un intervallo di confidenza del 95% si può affermare che il fattore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Sched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signficativo</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MaxWL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Con un intervallo di confidenza del 95% si può affermare che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Sched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Stress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sono fattori significativi per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WCET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15000"/>
              </a:lnSpc>
              <a:buFont typeface="Arial" panose="020B0604020202020204" pitchFamily="34" charset="0"/>
              <a:buChar char="•"/>
            </a:pPr>
            <a:endParaRPr lang="it-IT"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buFont typeface="Arial" panose="020B0604020202020204" pitchFamily="34" charset="0"/>
              <a:buChar char="•"/>
            </a:pPr>
            <a:endParaRPr lang="it-IT" kern="100" dirty="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71573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D39F0-9571-DA57-040B-75096FC8DA54}"/>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298AA0F4-47CD-E60E-A644-B54E78F0608C}"/>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ADD473EA-9CDD-B74E-756C-D635201470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758B0332-A544-4BA9-8F67-3F55414B1F93}"/>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14968733-766E-8EDE-1856-1FB96CD111CC}"/>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EDE26CB7-CB16-9622-B0B8-B0D8752DA3FF}"/>
              </a:ext>
            </a:extLst>
          </p:cNvPr>
          <p:cNvSpPr txBox="1"/>
          <p:nvPr/>
        </p:nvSpPr>
        <p:spPr>
          <a:xfrm>
            <a:off x="812389" y="1435509"/>
            <a:ext cx="9072718" cy="1669368"/>
          </a:xfrm>
          <a:prstGeom prst="rect">
            <a:avLst/>
          </a:prstGeom>
          <a:noFill/>
        </p:spPr>
        <p:txBody>
          <a:bodyPr wrap="square">
            <a:spAutoFit/>
          </a:bodyPr>
          <a:lstStyle/>
          <a:p>
            <a:pPr lvl="0">
              <a:lnSpc>
                <a:spcPct val="115000"/>
              </a:lnSpc>
            </a:pPr>
            <a:r>
              <a:rPr lang="it-IT" kern="100" dirty="0">
                <a:latin typeface="Aptos" panose="020B0004020202020204" pitchFamily="34" charset="0"/>
                <a:ea typeface="Aptos" panose="020B0004020202020204" pitchFamily="34" charset="0"/>
                <a:cs typeface="Times New Roman" panose="02020603050405020304" pitchFamily="18" charset="0"/>
              </a:rPr>
              <a:t>Risultati:</a:t>
            </a:r>
          </a:p>
          <a:p>
            <a:pPr>
              <a:lnSpc>
                <a:spcPct val="115000"/>
              </a:lnSpc>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Per gli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NULL e CREDIT2 i tempi medi di esecuzione maggiori si ottengono in corrispondenza di stress Interrupt, indifferentemente dalla memoria assegnata al dom0. Stessa cosa vale per RTDS:</a:t>
            </a:r>
          </a:p>
          <a:p>
            <a:pPr lvl="0">
              <a:lnSpc>
                <a:spcPct val="115000"/>
              </a:lnSpc>
            </a:pPr>
            <a:endParaRPr lang="it-IT"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3" name="Immagine 2" descr="Immagine che contiene testo, schermata, diagramma, numero&#10;&#10;Il contenuto generato dall'IA potrebbe non essere corretto.">
            <a:extLst>
              <a:ext uri="{FF2B5EF4-FFF2-40B4-BE49-F238E27FC236}">
                <a16:creationId xmlns:a16="http://schemas.microsoft.com/office/drawing/2014/main" id="{8C7BFD4B-6C00-F6CC-82B8-FD2830CE68CC}"/>
              </a:ext>
            </a:extLst>
          </p:cNvPr>
          <p:cNvPicPr>
            <a:picLocks noChangeAspect="1"/>
          </p:cNvPicPr>
          <p:nvPr/>
        </p:nvPicPr>
        <p:blipFill rotWithShape="1">
          <a:blip r:embed="rId4"/>
          <a:srcRect t="40826"/>
          <a:stretch/>
        </p:blipFill>
        <p:spPr bwMode="auto">
          <a:xfrm>
            <a:off x="1995068" y="3104877"/>
            <a:ext cx="7890039" cy="20315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12859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027F3-0157-980D-9529-E22FB56EA727}"/>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B5C85FE4-32DF-FE10-D18D-82D30E1C40B2}"/>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8A7255C1-57EE-2B70-46CD-7B343D417F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996EA436-BE25-7A08-85BC-DCE01B859154}"/>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71286CFF-0848-C9C9-FA7F-B57C76844FFB}"/>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90F6E074-3663-DA4F-6BD5-8EAF63E8AAD1}"/>
              </a:ext>
            </a:extLst>
          </p:cNvPr>
          <p:cNvSpPr txBox="1"/>
          <p:nvPr/>
        </p:nvSpPr>
        <p:spPr>
          <a:xfrm>
            <a:off x="419098" y="1147045"/>
            <a:ext cx="4587473" cy="5594556"/>
          </a:xfrm>
          <a:prstGeom prst="rect">
            <a:avLst/>
          </a:prstGeom>
          <a:noFill/>
        </p:spPr>
        <p:txBody>
          <a:bodyPr wrap="square">
            <a:spAutoFit/>
          </a:bodyPr>
          <a:lstStyle/>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Le interrupt infatti possono generare dei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context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switch che invalidano la cache e aumentano i tempi di esecuzione. Tali punti corrispondono a valori massimi di Jitter 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maniera coerente con quanto detto finora.</a:t>
            </a:r>
          </a:p>
          <a:p>
            <a:pPr>
              <a:lnSpc>
                <a:spcPct val="115000"/>
              </a:lnSpc>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Non bisogna trascurare però, che 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è risultato un fattore significativo. A tal scopo, osservando i parametri di default di RTDS, si nota che il budget è fissato a 1000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Il tempo di esecuzione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Dijkstra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supera tale budget (circa 6000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dunque deduciamo che per eseguirlo completamente servirebbero circa 5 periodi. Per questo motivo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Dijkstra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viene sospeso almeno 4 volte.</a:t>
            </a:r>
          </a:p>
          <a:p>
            <a:pPr lvl="0">
              <a:lnSpc>
                <a:spcPct val="115000"/>
              </a:lnSpc>
            </a:pPr>
            <a:endParaRPr lang="it-IT"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6" name="Immagine 5" descr="Immagine che contiene testo, schermata, numero, Carattere&#10;&#10;Il contenuto generato dall'IA potrebbe non essere corretto.">
            <a:extLst>
              <a:ext uri="{FF2B5EF4-FFF2-40B4-BE49-F238E27FC236}">
                <a16:creationId xmlns:a16="http://schemas.microsoft.com/office/drawing/2014/main" id="{2B35AF88-2CB3-71A3-2A7E-B542647F78DE}"/>
              </a:ext>
            </a:extLst>
          </p:cNvPr>
          <p:cNvPicPr>
            <a:picLocks noChangeAspect="1"/>
          </p:cNvPicPr>
          <p:nvPr/>
        </p:nvPicPr>
        <p:blipFill>
          <a:blip r:embed="rId4"/>
          <a:stretch>
            <a:fillRect/>
          </a:stretch>
        </p:blipFill>
        <p:spPr>
          <a:xfrm>
            <a:off x="5587704" y="1435509"/>
            <a:ext cx="5094381" cy="4483510"/>
          </a:xfrm>
          <a:prstGeom prst="rect">
            <a:avLst/>
          </a:prstGeom>
        </p:spPr>
      </p:pic>
    </p:spTree>
    <p:extLst>
      <p:ext uri="{BB962C8B-B14F-4D97-AF65-F5344CB8AC3E}">
        <p14:creationId xmlns:p14="http://schemas.microsoft.com/office/powerpoint/2010/main" val="1295072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481A8-85B3-E598-0350-CA1DA0B3D1F6}"/>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ECE04D78-F62F-DAE3-3911-BCFA049C9DC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CB93AF65-F558-4FBA-BFD6-597F2C64A1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F447737A-FDE9-E9C2-9E1E-9F124C80013B}"/>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BB30A3D7-6A97-5F08-51A8-1E102B31F52C}"/>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DFE8F45F-767B-082D-5691-B89D82510D81}"/>
              </a:ext>
            </a:extLst>
          </p:cNvPr>
          <p:cNvSpPr txBox="1"/>
          <p:nvPr/>
        </p:nvSpPr>
        <p:spPr>
          <a:xfrm>
            <a:off x="592393" y="1309151"/>
            <a:ext cx="4587473" cy="713722"/>
          </a:xfrm>
          <a:prstGeom prst="rect">
            <a:avLst/>
          </a:prstGeom>
          <a:noFill/>
        </p:spPr>
        <p:txBody>
          <a:bodyPr wrap="square">
            <a:spAutoFit/>
          </a:bodyPr>
          <a:lstStyle/>
          <a:p>
            <a:pPr lvl="0">
              <a:lnSpc>
                <a:spcPct val="115000"/>
              </a:lnSpc>
            </a:pPr>
            <a:endParaRPr lang="it-IT"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pPr>
            <a:endParaRPr lang="it-IT" b="1"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7" name="Immagine 6">
            <a:extLst>
              <a:ext uri="{FF2B5EF4-FFF2-40B4-BE49-F238E27FC236}">
                <a16:creationId xmlns:a16="http://schemas.microsoft.com/office/drawing/2014/main" id="{EC7076FC-B544-FDE6-B73B-1DFFD50D14AA}"/>
              </a:ext>
            </a:extLst>
          </p:cNvPr>
          <p:cNvPicPr>
            <a:picLocks noChangeAspect="1"/>
          </p:cNvPicPr>
          <p:nvPr/>
        </p:nvPicPr>
        <p:blipFill>
          <a:blip r:embed="rId4"/>
          <a:stretch>
            <a:fillRect/>
          </a:stretch>
        </p:blipFill>
        <p:spPr>
          <a:xfrm>
            <a:off x="1356851" y="1292917"/>
            <a:ext cx="8560639" cy="2825294"/>
          </a:xfrm>
          <a:prstGeom prst="rect">
            <a:avLst/>
          </a:prstGeom>
        </p:spPr>
      </p:pic>
      <p:sp>
        <p:nvSpPr>
          <p:cNvPr id="11" name="CasellaDiTesto 10">
            <a:extLst>
              <a:ext uri="{FF2B5EF4-FFF2-40B4-BE49-F238E27FC236}">
                <a16:creationId xmlns:a16="http://schemas.microsoft.com/office/drawing/2014/main" id="{E85994BA-7B59-0374-8B27-3BA3D4C967BC}"/>
              </a:ext>
            </a:extLst>
          </p:cNvPr>
          <p:cNvSpPr txBox="1"/>
          <p:nvPr/>
        </p:nvSpPr>
        <p:spPr>
          <a:xfrm>
            <a:off x="2041202" y="4424479"/>
            <a:ext cx="7191936" cy="1754326"/>
          </a:xfrm>
          <a:prstGeom prst="rect">
            <a:avLst/>
          </a:prstGeom>
          <a:noFill/>
        </p:spPr>
        <p:txBody>
          <a:bodyPr wrap="square" rtlCol="0">
            <a:spAutoFit/>
          </a:bodyPr>
          <a:lstStyle/>
          <a:p>
            <a:r>
              <a:rPr lang="it-IT" dirty="0"/>
              <a:t>Anche nel caso del WCET, lo </a:t>
            </a:r>
            <a:r>
              <a:rPr lang="it-IT" dirty="0" err="1"/>
              <a:t>scheduler</a:t>
            </a:r>
            <a:r>
              <a:rPr lang="it-IT" dirty="0"/>
              <a:t> RTDS presenta picchi più alti rispetto a credit2 e </a:t>
            </a:r>
            <a:r>
              <a:rPr lang="it-IT" dirty="0" err="1"/>
              <a:t>null</a:t>
            </a:r>
            <a:r>
              <a:rPr lang="it-IT" dirty="0"/>
              <a:t>.</a:t>
            </a:r>
          </a:p>
          <a:p>
            <a:r>
              <a:rPr lang="it-IT" dirty="0"/>
              <a:t>In particolare tali picchi si presentano in corrispondenza di stress tipo INTERRUPT. </a:t>
            </a:r>
            <a:br>
              <a:rPr lang="it-IT" dirty="0"/>
            </a:br>
            <a:r>
              <a:rPr lang="it-IT" dirty="0"/>
              <a:t>Per quanto riguarda invece gli </a:t>
            </a:r>
            <a:r>
              <a:rPr lang="it-IT" dirty="0" err="1"/>
              <a:t>scheduler</a:t>
            </a:r>
            <a:r>
              <a:rPr lang="it-IT" dirty="0"/>
              <a:t> </a:t>
            </a:r>
            <a:r>
              <a:rPr lang="it-IT" dirty="0" err="1"/>
              <a:t>null</a:t>
            </a:r>
            <a:r>
              <a:rPr lang="it-IT" dirty="0"/>
              <a:t> e credit2, i picchi di WCET si presentano in corrispondenza di stress </a:t>
            </a:r>
            <a:r>
              <a:rPr lang="it-IT" dirty="0" err="1"/>
              <a:t>cpu</a:t>
            </a:r>
            <a:r>
              <a:rPr lang="it-IT" dirty="0"/>
              <a:t>-intensive e interrupt.</a:t>
            </a:r>
          </a:p>
        </p:txBody>
      </p:sp>
    </p:spTree>
    <p:extLst>
      <p:ext uri="{BB962C8B-B14F-4D97-AF65-F5344CB8AC3E}">
        <p14:creationId xmlns:p14="http://schemas.microsoft.com/office/powerpoint/2010/main" val="3499564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1BD5-1D26-82E7-E2B1-8D6112DFF430}"/>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F3570B0D-FCB2-8F49-9B02-4981738A921B}"/>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993815C3-170C-698F-6DA9-02C0ED501E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CAF791C3-3D31-80FA-8040-7FE213F67D9B}"/>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B9BF5F05-A5FA-DF45-B16B-EC41E6074B0F}"/>
              </a:ext>
            </a:extLst>
          </p:cNvPr>
          <p:cNvSpPr>
            <a:spLocks noGrp="1"/>
          </p:cNvSpPr>
          <p:nvPr>
            <p:ph type="ctrTitle"/>
          </p:nvPr>
        </p:nvSpPr>
        <p:spPr>
          <a:xfrm>
            <a:off x="914400" y="255640"/>
            <a:ext cx="10363200" cy="766915"/>
          </a:xfrm>
        </p:spPr>
        <p:txBody>
          <a:bodyPr>
            <a:normAutofit/>
          </a:bodyPr>
          <a:lstStyle/>
          <a:p>
            <a:r>
              <a:rPr lang="it-IT" dirty="0"/>
              <a:t> Design of </a:t>
            </a:r>
            <a:r>
              <a:rPr lang="it-IT" dirty="0" err="1"/>
              <a:t>Experiments</a:t>
            </a:r>
            <a:r>
              <a:rPr lang="it-IT" dirty="0"/>
              <a:t> - </a:t>
            </a:r>
            <a:r>
              <a:rPr lang="it-IT" dirty="0" err="1"/>
              <a:t>Dijkstra</a:t>
            </a:r>
            <a:endParaRPr lang="it-IT" dirty="0"/>
          </a:p>
        </p:txBody>
      </p:sp>
      <p:sp>
        <p:nvSpPr>
          <p:cNvPr id="5" name="CasellaDiTesto 4">
            <a:extLst>
              <a:ext uri="{FF2B5EF4-FFF2-40B4-BE49-F238E27FC236}">
                <a16:creationId xmlns:a16="http://schemas.microsoft.com/office/drawing/2014/main" id="{7F796B09-5839-45A5-C424-9EA542A2989F}"/>
              </a:ext>
            </a:extLst>
          </p:cNvPr>
          <p:cNvSpPr txBox="1"/>
          <p:nvPr/>
        </p:nvSpPr>
        <p:spPr>
          <a:xfrm>
            <a:off x="419098" y="1147045"/>
            <a:ext cx="4587473" cy="713722"/>
          </a:xfrm>
          <a:prstGeom prst="rect">
            <a:avLst/>
          </a:prstGeom>
          <a:noFill/>
        </p:spPr>
        <p:txBody>
          <a:bodyPr wrap="square">
            <a:spAutoFit/>
          </a:bodyPr>
          <a:lstStyle/>
          <a:p>
            <a:pPr lvl="0">
              <a:lnSpc>
                <a:spcPct val="115000"/>
              </a:lnSpc>
            </a:pPr>
            <a:r>
              <a:rPr lang="it-IT" b="1" kern="100" dirty="0">
                <a:latin typeface="Aptos" panose="020B0004020202020204" pitchFamily="34" charset="0"/>
                <a:ea typeface="Aptos" panose="020B0004020202020204" pitchFamily="34" charset="0"/>
                <a:cs typeface="Times New Roman" panose="02020603050405020304" pitchFamily="18" charset="0"/>
              </a:rPr>
              <a:t>ATTENZIONE AGLI OUTLIERS !!!</a:t>
            </a:r>
          </a:p>
          <a:p>
            <a:pPr lvl="0">
              <a:lnSpc>
                <a:spcPct val="115000"/>
              </a:lnSpc>
            </a:pPr>
            <a:endParaRPr lang="it-IT" b="1"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3" name="Immagine 2" descr="Immagine che contiene testo, linea, schermata, numero&#10;&#10;Il contenuto generato dall'IA potrebbe non essere corretto.">
            <a:extLst>
              <a:ext uri="{FF2B5EF4-FFF2-40B4-BE49-F238E27FC236}">
                <a16:creationId xmlns:a16="http://schemas.microsoft.com/office/drawing/2014/main" id="{AD4B05B8-AC61-181B-D22E-C979EAFCEA85}"/>
              </a:ext>
            </a:extLst>
          </p:cNvPr>
          <p:cNvPicPr>
            <a:picLocks noChangeAspect="1"/>
          </p:cNvPicPr>
          <p:nvPr/>
        </p:nvPicPr>
        <p:blipFill>
          <a:blip r:embed="rId4"/>
          <a:stretch>
            <a:fillRect/>
          </a:stretch>
        </p:blipFill>
        <p:spPr>
          <a:xfrm>
            <a:off x="1245008" y="1635996"/>
            <a:ext cx="8525224" cy="1810642"/>
          </a:xfrm>
          <a:prstGeom prst="rect">
            <a:avLst/>
          </a:prstGeom>
        </p:spPr>
      </p:pic>
      <p:pic>
        <p:nvPicPr>
          <p:cNvPr id="8" name="Immagine 7" descr="Immagine che contiene testo, schermata, Carattere, numero&#10;&#10;Il contenuto generato dall'IA potrebbe non essere corretto.">
            <a:extLst>
              <a:ext uri="{FF2B5EF4-FFF2-40B4-BE49-F238E27FC236}">
                <a16:creationId xmlns:a16="http://schemas.microsoft.com/office/drawing/2014/main" id="{30FD85E5-14EA-75DE-BD45-DC04111B1EB3}"/>
              </a:ext>
            </a:extLst>
          </p:cNvPr>
          <p:cNvPicPr>
            <a:picLocks noChangeAspect="1"/>
          </p:cNvPicPr>
          <p:nvPr/>
        </p:nvPicPr>
        <p:blipFill>
          <a:blip r:embed="rId5"/>
          <a:stretch>
            <a:fillRect/>
          </a:stretch>
        </p:blipFill>
        <p:spPr>
          <a:xfrm>
            <a:off x="7757650" y="3719586"/>
            <a:ext cx="3334195" cy="2320044"/>
          </a:xfrm>
          <a:prstGeom prst="rect">
            <a:avLst/>
          </a:prstGeom>
        </p:spPr>
      </p:pic>
      <p:sp>
        <p:nvSpPr>
          <p:cNvPr id="12" name="CasellaDiTesto 11">
            <a:extLst>
              <a:ext uri="{FF2B5EF4-FFF2-40B4-BE49-F238E27FC236}">
                <a16:creationId xmlns:a16="http://schemas.microsoft.com/office/drawing/2014/main" id="{C1D09A57-A8C4-6FD7-7C05-66E73D4691B1}"/>
              </a:ext>
            </a:extLst>
          </p:cNvPr>
          <p:cNvSpPr txBox="1"/>
          <p:nvPr/>
        </p:nvSpPr>
        <p:spPr>
          <a:xfrm>
            <a:off x="592393" y="3736913"/>
            <a:ext cx="6771968" cy="2031325"/>
          </a:xfrm>
          <a:prstGeom prst="rect">
            <a:avLst/>
          </a:prstGeom>
          <a:noFill/>
        </p:spPr>
        <p:txBody>
          <a:bodyPr wrap="square">
            <a:spAutoFit/>
          </a:bodyPr>
          <a:lstStyle/>
          <a:p>
            <a:r>
              <a:rPr lang="it-IT" sz="1800" dirty="0">
                <a:effectLst/>
                <a:latin typeface="Aptos" panose="020B0004020202020204" pitchFamily="34" charset="0"/>
                <a:ea typeface="Aptos" panose="020B0004020202020204" pitchFamily="34" charset="0"/>
                <a:cs typeface="Times New Roman" panose="02020603050405020304" pitchFamily="18" charset="0"/>
              </a:rPr>
              <a:t>Per capire il problema si è analizzato il file originale delle rispettive catture.</a:t>
            </a:r>
          </a:p>
          <a:p>
            <a:r>
              <a:rPr lang="it-IT" sz="1800" dirty="0">
                <a:effectLst/>
                <a:latin typeface="Aptos" panose="020B0004020202020204" pitchFamily="34" charset="0"/>
                <a:ea typeface="Aptos" panose="020B0004020202020204" pitchFamily="34" charset="0"/>
                <a:cs typeface="Times New Roman" panose="02020603050405020304" pitchFamily="18" charset="0"/>
              </a:rPr>
              <a:t>Si nota infatti che la </a:t>
            </a:r>
            <a:r>
              <a:rPr lang="it-IT" sz="18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dirty="0">
                <a:effectLst/>
                <a:latin typeface="Aptos" panose="020B0004020202020204" pitchFamily="34" charset="0"/>
                <a:ea typeface="Aptos" panose="020B0004020202020204" pitchFamily="34" charset="0"/>
                <a:cs typeface="Times New Roman" panose="02020603050405020304" pitchFamily="18" charset="0"/>
              </a:rPr>
              <a:t> up </a:t>
            </a:r>
            <a:r>
              <a:rPr lang="it-IT" sz="1800" dirty="0" err="1">
                <a:effectLst/>
                <a:latin typeface="Aptos" panose="020B0004020202020204" pitchFamily="34" charset="0"/>
                <a:ea typeface="Aptos" panose="020B0004020202020204" pitchFamily="34" charset="0"/>
                <a:cs typeface="Times New Roman" panose="02020603050405020304" pitchFamily="18" charset="0"/>
              </a:rPr>
              <a:t>latency</a:t>
            </a:r>
            <a:r>
              <a:rPr lang="it-IT" sz="1800" dirty="0">
                <a:effectLst/>
                <a:latin typeface="Aptos" panose="020B0004020202020204" pitchFamily="34" charset="0"/>
                <a:ea typeface="Aptos" panose="020B0004020202020204" pitchFamily="34" charset="0"/>
                <a:cs typeface="Times New Roman" panose="02020603050405020304" pitchFamily="18" charset="0"/>
              </a:rPr>
              <a:t> è negativa (valore non accettabile). Ciò causa ovviamente un incremento del jitter (che è calcolato in valore assoluto).</a:t>
            </a:r>
            <a:br>
              <a:rPr lang="it-IT" sz="1800" dirty="0">
                <a:effectLst/>
                <a:latin typeface="Aptos" panose="020B0004020202020204" pitchFamily="34" charset="0"/>
                <a:ea typeface="Aptos" panose="020B0004020202020204" pitchFamily="34" charset="0"/>
                <a:cs typeface="Times New Roman" panose="02020603050405020304" pitchFamily="18" charset="0"/>
              </a:rPr>
            </a:br>
            <a:r>
              <a:rPr lang="it-IT" sz="1800" dirty="0">
                <a:effectLst/>
                <a:latin typeface="Aptos" panose="020B0004020202020204" pitchFamily="34" charset="0"/>
                <a:ea typeface="Aptos" panose="020B0004020202020204" pitchFamily="34" charset="0"/>
                <a:cs typeface="Times New Roman" panose="02020603050405020304" pitchFamily="18" charset="0"/>
              </a:rPr>
              <a:t>Potrebbe semplicemente essere un errore di misurazione legato a qualche anomalia del sistema di virtualizzazione.</a:t>
            </a:r>
            <a:endParaRPr lang="it-IT" dirty="0"/>
          </a:p>
        </p:txBody>
      </p:sp>
    </p:spTree>
    <p:extLst>
      <p:ext uri="{BB962C8B-B14F-4D97-AF65-F5344CB8AC3E}">
        <p14:creationId xmlns:p14="http://schemas.microsoft.com/office/powerpoint/2010/main" val="2068445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70F60-4993-E70F-BBE6-3AF16AC915C0}"/>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27D33F9E-828D-C1D0-01FA-4ABAB62486B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41C7686-F16A-BA02-9870-E9FEA0784C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BE315934-7BB0-45D5-6756-71FD870063E8}"/>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F19BCBB8-00B6-4F86-0D8A-6D65EDC3C513}"/>
              </a:ext>
            </a:extLst>
          </p:cNvPr>
          <p:cNvSpPr>
            <a:spLocks noGrp="1"/>
          </p:cNvSpPr>
          <p:nvPr>
            <p:ph type="ctrTitle"/>
          </p:nvPr>
        </p:nvSpPr>
        <p:spPr>
          <a:xfrm>
            <a:off x="914400" y="255640"/>
            <a:ext cx="10363200" cy="766915"/>
          </a:xfrm>
        </p:spPr>
        <p:txBody>
          <a:bodyPr>
            <a:normAutofit/>
          </a:bodyPr>
          <a:lstStyle/>
          <a:p>
            <a:r>
              <a:rPr lang="it-IT" dirty="0"/>
              <a:t> 5.  Interferenza- RTDS</a:t>
            </a:r>
          </a:p>
        </p:txBody>
      </p:sp>
      <p:sp>
        <p:nvSpPr>
          <p:cNvPr id="5" name="CasellaDiTesto 4">
            <a:extLst>
              <a:ext uri="{FF2B5EF4-FFF2-40B4-BE49-F238E27FC236}">
                <a16:creationId xmlns:a16="http://schemas.microsoft.com/office/drawing/2014/main" id="{FA7F1F47-B7B1-18BA-5073-485AEBADEBF0}"/>
              </a:ext>
            </a:extLst>
          </p:cNvPr>
          <p:cNvSpPr txBox="1"/>
          <p:nvPr/>
        </p:nvSpPr>
        <p:spPr>
          <a:xfrm>
            <a:off x="419098" y="1147045"/>
            <a:ext cx="3710450" cy="4422942"/>
          </a:xfrm>
          <a:prstGeom prst="rect">
            <a:avLst/>
          </a:prstGeom>
          <a:noFill/>
        </p:spPr>
        <p:txBody>
          <a:bodyPr wrap="square">
            <a:spAutoFit/>
          </a:bodyPr>
          <a:lstStyle/>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Nel caso di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Dijkstra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il massimo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execution</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time si ottiene con:</a:t>
            </a:r>
          </a:p>
          <a:p>
            <a:pPr marL="342900" lvl="0" indent="-342900">
              <a:lnSpc>
                <a:spcPct val="115000"/>
              </a:lnSpc>
              <a:buFont typeface="Aptos" panose="020B0004020202020204" pitchFamily="34" charset="0"/>
              <a:buChar char="-"/>
            </a:pP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RTDS</a:t>
            </a:r>
          </a:p>
          <a:p>
            <a:pPr marL="342900" lvl="0" indent="-342900">
              <a:lnSpc>
                <a:spcPct val="115000"/>
              </a:lnSpc>
              <a:spcAft>
                <a:spcPts val="800"/>
              </a:spcAft>
              <a:buFont typeface="Aptos" panose="020B00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Stress: Interrupt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int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p>
          <a:p>
            <a:pPr lvl="0">
              <a:lnSpc>
                <a:spcPct val="115000"/>
              </a:lnSpc>
            </a:pPr>
            <a:r>
              <a:rPr lang="it-IT" sz="1800" dirty="0">
                <a:effectLst/>
                <a:latin typeface="Aptos" panose="020B0004020202020204" pitchFamily="34" charset="0"/>
                <a:ea typeface="Aptos" panose="020B0004020202020204" pitchFamily="34" charset="0"/>
                <a:cs typeface="Times New Roman" panose="02020603050405020304" pitchFamily="18" charset="0"/>
              </a:rPr>
              <a:t>In tal caso è stato possibile effettuare un </a:t>
            </a:r>
            <a:r>
              <a:rPr lang="it-IT" sz="1800" dirty="0" err="1">
                <a:effectLst/>
                <a:latin typeface="Aptos" panose="020B0004020202020204" pitchFamily="34" charset="0"/>
                <a:ea typeface="Aptos" panose="020B0004020202020204" pitchFamily="34" charset="0"/>
                <a:cs typeface="Times New Roman" panose="02020603050405020304" pitchFamily="18" charset="0"/>
              </a:rPr>
              <a:t>paired</a:t>
            </a:r>
            <a:r>
              <a:rPr lang="it-IT" sz="1800" dirty="0">
                <a:effectLst/>
                <a:latin typeface="Aptos" panose="020B0004020202020204" pitchFamily="34" charset="0"/>
                <a:ea typeface="Aptos" panose="020B0004020202020204" pitchFamily="34" charset="0"/>
                <a:cs typeface="Times New Roman" panose="02020603050405020304" pitchFamily="18" charset="0"/>
              </a:rPr>
              <a:t> t-test, confrontando il tempo di esecuzione in presenza di stress con quello ottenuto in assenza di stress. Si verifica la normalità della differenza tra </a:t>
            </a:r>
            <a:r>
              <a:rPr lang="it-IT" sz="1800" dirty="0" err="1">
                <a:effectLst/>
                <a:latin typeface="Aptos" panose="020B0004020202020204" pitchFamily="34" charset="0"/>
                <a:ea typeface="Aptos" panose="020B0004020202020204" pitchFamily="34" charset="0"/>
                <a:cs typeface="Times New Roman" panose="02020603050405020304" pitchFamily="18" charset="0"/>
              </a:rPr>
              <a:t>ExecTime</a:t>
            </a:r>
            <a:r>
              <a:rPr lang="it-IT" sz="1800" dirty="0">
                <a:effectLst/>
                <a:latin typeface="Aptos" panose="020B0004020202020204" pitchFamily="34" charset="0"/>
                <a:ea typeface="Aptos" panose="020B0004020202020204" pitchFamily="34" charset="0"/>
                <a:cs typeface="Times New Roman" panose="02020603050405020304" pitchFamily="18" charset="0"/>
              </a:rPr>
              <a:t> ed </a:t>
            </a:r>
            <a:r>
              <a:rPr lang="it-IT" sz="1800" dirty="0" err="1">
                <a:effectLst/>
                <a:latin typeface="Aptos" panose="020B0004020202020204" pitchFamily="34" charset="0"/>
                <a:ea typeface="Aptos" panose="020B0004020202020204" pitchFamily="34" charset="0"/>
                <a:cs typeface="Times New Roman" panose="02020603050405020304" pitchFamily="18" charset="0"/>
              </a:rPr>
              <a:t>ExecTimeNOSTRESS</a:t>
            </a:r>
            <a:r>
              <a:rPr lang="it-IT" sz="1800" dirty="0">
                <a:effectLst/>
                <a:latin typeface="Aptos" panose="020B0004020202020204" pitchFamily="34" charset="0"/>
                <a:ea typeface="Aptos" panose="020B0004020202020204" pitchFamily="34" charset="0"/>
                <a:cs typeface="Times New Roman" panose="02020603050405020304" pitchFamily="18" charset="0"/>
              </a:rPr>
              <a:t>:</a:t>
            </a:r>
          </a:p>
          <a:p>
            <a:pPr lvl="0">
              <a:lnSpc>
                <a:spcPct val="115000"/>
              </a:lnSpc>
            </a:pPr>
            <a:endParaRPr lang="it-IT" b="1"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6" name="Immagine 5" descr="Immagine che contiene testo, diagramma, schermata, linea&#10;&#10;Il contenuto generato dall'IA potrebbe non essere corretto.">
            <a:extLst>
              <a:ext uri="{FF2B5EF4-FFF2-40B4-BE49-F238E27FC236}">
                <a16:creationId xmlns:a16="http://schemas.microsoft.com/office/drawing/2014/main" id="{6A33EDF1-B348-C68C-41DB-C2E0DBFB4B44}"/>
              </a:ext>
            </a:extLst>
          </p:cNvPr>
          <p:cNvPicPr>
            <a:picLocks noChangeAspect="1"/>
          </p:cNvPicPr>
          <p:nvPr/>
        </p:nvPicPr>
        <p:blipFill>
          <a:blip r:embed="rId4"/>
          <a:srcRect b="46610"/>
          <a:stretch/>
        </p:blipFill>
        <p:spPr>
          <a:xfrm>
            <a:off x="4538284" y="1479094"/>
            <a:ext cx="7284028" cy="4164622"/>
          </a:xfrm>
          <a:prstGeom prst="rect">
            <a:avLst/>
          </a:prstGeom>
        </p:spPr>
      </p:pic>
    </p:spTree>
    <p:extLst>
      <p:ext uri="{BB962C8B-B14F-4D97-AF65-F5344CB8AC3E}">
        <p14:creationId xmlns:p14="http://schemas.microsoft.com/office/powerpoint/2010/main" val="1333264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6BD41-CAFE-B45A-AE0E-0252633F227B}"/>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42D4724D-ED1C-F8B6-B57E-68251476723E}"/>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7C8B5FC9-253E-D4BB-41F6-D707BB7B22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46590B5F-D2F7-A016-3BDB-AB156744A621}"/>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7CF8FF33-4B86-2A26-D0A2-BF61FEA8944B}"/>
              </a:ext>
            </a:extLst>
          </p:cNvPr>
          <p:cNvSpPr>
            <a:spLocks noGrp="1"/>
          </p:cNvSpPr>
          <p:nvPr>
            <p:ph type="ctrTitle"/>
          </p:nvPr>
        </p:nvSpPr>
        <p:spPr>
          <a:xfrm>
            <a:off x="914400" y="255640"/>
            <a:ext cx="10363200" cy="766915"/>
          </a:xfrm>
        </p:spPr>
        <p:txBody>
          <a:bodyPr>
            <a:normAutofit/>
          </a:bodyPr>
          <a:lstStyle/>
          <a:p>
            <a:r>
              <a:rPr lang="it-IT" dirty="0"/>
              <a:t> Interferenza- RTDS</a:t>
            </a:r>
          </a:p>
        </p:txBody>
      </p:sp>
      <p:sp>
        <p:nvSpPr>
          <p:cNvPr id="5" name="CasellaDiTesto 4">
            <a:extLst>
              <a:ext uri="{FF2B5EF4-FFF2-40B4-BE49-F238E27FC236}">
                <a16:creationId xmlns:a16="http://schemas.microsoft.com/office/drawing/2014/main" id="{9F0F56AA-A325-B55B-6999-C189CFAAA1F3}"/>
              </a:ext>
            </a:extLst>
          </p:cNvPr>
          <p:cNvSpPr txBox="1"/>
          <p:nvPr/>
        </p:nvSpPr>
        <p:spPr>
          <a:xfrm>
            <a:off x="419098" y="1147045"/>
            <a:ext cx="3710450" cy="4844083"/>
          </a:xfrm>
          <a:prstGeom prst="rect">
            <a:avLst/>
          </a:prstGeom>
          <a:noFill/>
        </p:spPr>
        <p:txBody>
          <a:bodyPr wrap="square">
            <a:spAutoFit/>
          </a:bodyPr>
          <a:lstStyle/>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La normalità della differenza dei campioni è verificata, possiamo procedere dunque con il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paired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t-test con Matlab.</a:t>
            </a:r>
          </a:p>
          <a:p>
            <a:pPr>
              <a:lnSpc>
                <a:spcPct val="115000"/>
              </a:lnSpc>
              <a:spcAft>
                <a:spcPts val="800"/>
              </a:spcAft>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Tale test conferma che i due campioni provengono da popolazioni differenti con un intervallo di confidenza del 95%.</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b="1" kern="100" dirty="0">
                <a:effectLst/>
                <a:latin typeface="Aptos" panose="020B0004020202020204" pitchFamily="34" charset="0"/>
                <a:ea typeface="Aptos" panose="020B0004020202020204" pitchFamily="34" charset="0"/>
                <a:cs typeface="Times New Roman" panose="02020603050405020304" pitchFamily="18" charset="0"/>
              </a:rPr>
              <a:t>Le medie delle popolazioni distano circa 2800 </a:t>
            </a:r>
            <a:r>
              <a:rPr lang="it-IT" sz="1800" b="1"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Questa distanza è ovviamente inferiore nel caso degli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null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credit2.</a:t>
            </a:r>
          </a:p>
          <a:p>
            <a:pPr lvl="0">
              <a:lnSpc>
                <a:spcPct val="115000"/>
              </a:lnSpc>
            </a:pPr>
            <a:endParaRPr lang="it-IT" b="1"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3" name="Immagine 2" descr="Immagine che contiene testo, schermata, Carattere, numero&#10;&#10;Il contenuto generato dall'IA potrebbe non essere corretto.">
            <a:extLst>
              <a:ext uri="{FF2B5EF4-FFF2-40B4-BE49-F238E27FC236}">
                <a16:creationId xmlns:a16="http://schemas.microsoft.com/office/drawing/2014/main" id="{B02A25A9-B8B8-91C7-D68B-86236F1E82D1}"/>
              </a:ext>
            </a:extLst>
          </p:cNvPr>
          <p:cNvPicPr>
            <a:picLocks noChangeAspect="1"/>
          </p:cNvPicPr>
          <p:nvPr/>
        </p:nvPicPr>
        <p:blipFill>
          <a:blip r:embed="rId4"/>
          <a:stretch>
            <a:fillRect/>
          </a:stretch>
        </p:blipFill>
        <p:spPr>
          <a:xfrm>
            <a:off x="5031135" y="1242297"/>
            <a:ext cx="5410723" cy="4653577"/>
          </a:xfrm>
          <a:prstGeom prst="rect">
            <a:avLst/>
          </a:prstGeom>
        </p:spPr>
      </p:pic>
    </p:spTree>
    <p:extLst>
      <p:ext uri="{BB962C8B-B14F-4D97-AF65-F5344CB8AC3E}">
        <p14:creationId xmlns:p14="http://schemas.microsoft.com/office/powerpoint/2010/main" val="2697866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EA1C8-E834-2040-D69E-E0842E6E6234}"/>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F2C861CA-70C2-E0D8-9F50-096F75582AA5}"/>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09994607-DBC6-D063-5738-030B5BCF29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4F946823-1115-5B7D-C1F5-967957133201}"/>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6B6F0FC1-CA24-2425-465B-7874C448A050}"/>
              </a:ext>
            </a:extLst>
          </p:cNvPr>
          <p:cNvSpPr>
            <a:spLocks noGrp="1"/>
          </p:cNvSpPr>
          <p:nvPr>
            <p:ph type="ctrTitle"/>
          </p:nvPr>
        </p:nvSpPr>
        <p:spPr>
          <a:xfrm>
            <a:off x="914400" y="255640"/>
            <a:ext cx="10363200" cy="766915"/>
          </a:xfrm>
        </p:spPr>
        <p:txBody>
          <a:bodyPr>
            <a:normAutofit/>
          </a:bodyPr>
          <a:lstStyle/>
          <a:p>
            <a:r>
              <a:rPr lang="it-IT" dirty="0"/>
              <a:t> Interferenza</a:t>
            </a:r>
          </a:p>
        </p:txBody>
      </p:sp>
      <p:sp>
        <p:nvSpPr>
          <p:cNvPr id="5" name="CasellaDiTesto 4">
            <a:extLst>
              <a:ext uri="{FF2B5EF4-FFF2-40B4-BE49-F238E27FC236}">
                <a16:creationId xmlns:a16="http://schemas.microsoft.com/office/drawing/2014/main" id="{272AA580-D17B-DA8E-C565-EAB0E7479680}"/>
              </a:ext>
            </a:extLst>
          </p:cNvPr>
          <p:cNvSpPr txBox="1"/>
          <p:nvPr/>
        </p:nvSpPr>
        <p:spPr>
          <a:xfrm>
            <a:off x="419097" y="1147045"/>
            <a:ext cx="2796051" cy="5173404"/>
          </a:xfrm>
          <a:prstGeom prst="rect">
            <a:avLst/>
          </a:prstGeom>
          <a:noFill/>
        </p:spPr>
        <p:txBody>
          <a:bodyPr wrap="square">
            <a:spAutoFit/>
          </a:bodyPr>
          <a:lstStyle/>
          <a:p>
            <a:pPr lvl="0">
              <a:lnSpc>
                <a:spcPct val="115000"/>
              </a:lnSpc>
            </a:pPr>
            <a:r>
              <a:rPr lang="it-IT" kern="100" dirty="0">
                <a:latin typeface="Aptos" panose="020B0004020202020204" pitchFamily="34" charset="0"/>
                <a:ea typeface="Aptos" panose="020B0004020202020204" pitchFamily="34" charset="0"/>
                <a:cs typeface="Times New Roman" panose="02020603050405020304" pitchFamily="18" charset="0"/>
              </a:rPr>
              <a:t>Allo stesso modo sono state calcolate le interferenze per lo </a:t>
            </a:r>
            <a:r>
              <a:rPr lang="it-IT" kern="100" dirty="0" err="1">
                <a:latin typeface="Aptos" panose="020B0004020202020204" pitchFamily="34" charset="0"/>
                <a:ea typeface="Aptos" panose="020B0004020202020204" pitchFamily="34" charset="0"/>
                <a:cs typeface="Times New Roman" panose="02020603050405020304" pitchFamily="18" charset="0"/>
              </a:rPr>
              <a:t>sched</a:t>
            </a:r>
            <a:r>
              <a:rPr lang="it-IT" kern="100" dirty="0">
                <a:latin typeface="Aptos" panose="020B0004020202020204" pitchFamily="34" charset="0"/>
                <a:ea typeface="Aptos" panose="020B0004020202020204" pitchFamily="34" charset="0"/>
                <a:cs typeface="Times New Roman" panose="02020603050405020304" pitchFamily="18" charset="0"/>
              </a:rPr>
              <a:t> NULL (con stress interrupt) e per lo </a:t>
            </a:r>
            <a:r>
              <a:rPr lang="it-IT" kern="100" dirty="0" err="1">
                <a:latin typeface="Aptos" panose="020B0004020202020204" pitchFamily="34" charset="0"/>
                <a:ea typeface="Aptos" panose="020B0004020202020204" pitchFamily="34" charset="0"/>
                <a:cs typeface="Times New Roman" panose="02020603050405020304" pitchFamily="18" charset="0"/>
              </a:rPr>
              <a:t>sched</a:t>
            </a:r>
            <a:r>
              <a:rPr lang="it-IT" kern="100" dirty="0">
                <a:latin typeface="Aptos" panose="020B0004020202020204" pitchFamily="34" charset="0"/>
                <a:ea typeface="Aptos" panose="020B0004020202020204" pitchFamily="34" charset="0"/>
                <a:cs typeface="Times New Roman" panose="02020603050405020304" pitchFamily="18" charset="0"/>
              </a:rPr>
              <a:t> CREDIT2 (con stress interrupt).  Il vettore Diff nel caso dello </a:t>
            </a:r>
            <a:r>
              <a:rPr lang="it-IT" kern="100" dirty="0" err="1">
                <a:latin typeface="Aptos" panose="020B0004020202020204" pitchFamily="34" charset="0"/>
                <a:ea typeface="Aptos" panose="020B0004020202020204" pitchFamily="34" charset="0"/>
                <a:cs typeface="Times New Roman" panose="02020603050405020304" pitchFamily="18" charset="0"/>
              </a:rPr>
              <a:t>scheduler</a:t>
            </a:r>
            <a:r>
              <a:rPr lang="it-IT" kern="100" dirty="0">
                <a:latin typeface="Aptos" panose="020B0004020202020204" pitchFamily="34" charset="0"/>
                <a:ea typeface="Aptos" panose="020B0004020202020204" pitchFamily="34" charset="0"/>
                <a:cs typeface="Times New Roman" panose="02020603050405020304" pitchFamily="18" charset="0"/>
              </a:rPr>
              <a:t> NULL non risulta appartenere ad una distribuzione normale, pertanto si è proseguito con il </a:t>
            </a:r>
            <a:r>
              <a:rPr lang="it-IT" kern="100" dirty="0" err="1">
                <a:latin typeface="Aptos" panose="020B0004020202020204" pitchFamily="34" charset="0"/>
                <a:ea typeface="Aptos" panose="020B0004020202020204" pitchFamily="34" charset="0"/>
                <a:cs typeface="Times New Roman" panose="02020603050405020304" pitchFamily="18" charset="0"/>
              </a:rPr>
              <a:t>Wilcoxon</a:t>
            </a:r>
            <a:r>
              <a:rPr lang="it-IT" kern="100" dirty="0">
                <a:latin typeface="Aptos" panose="020B0004020202020204" pitchFamily="34" charset="0"/>
                <a:ea typeface="Aptos" panose="020B0004020202020204" pitchFamily="34" charset="0"/>
                <a:cs typeface="Times New Roman" panose="02020603050405020304" pitchFamily="18" charset="0"/>
              </a:rPr>
              <a:t> </a:t>
            </a:r>
            <a:r>
              <a:rPr lang="it-IT" kern="100" dirty="0" err="1">
                <a:latin typeface="Aptos" panose="020B0004020202020204" pitchFamily="34" charset="0"/>
                <a:ea typeface="Aptos" panose="020B0004020202020204" pitchFamily="34" charset="0"/>
                <a:cs typeface="Times New Roman" panose="02020603050405020304" pitchFamily="18" charset="0"/>
              </a:rPr>
              <a:t>Signed</a:t>
            </a:r>
            <a:r>
              <a:rPr lang="it-IT" kern="100" dirty="0">
                <a:latin typeface="Aptos" panose="020B0004020202020204" pitchFamily="34" charset="0"/>
                <a:ea typeface="Aptos" panose="020B0004020202020204" pitchFamily="34" charset="0"/>
                <a:cs typeface="Times New Roman" panose="02020603050405020304" pitchFamily="18" charset="0"/>
              </a:rPr>
              <a:t>-Rank test, mentre per CREDIT2 si è potuto applicare il </a:t>
            </a:r>
            <a:r>
              <a:rPr lang="it-IT" kern="100" dirty="0" err="1">
                <a:latin typeface="Aptos" panose="020B0004020202020204" pitchFamily="34" charset="0"/>
                <a:ea typeface="Aptos" panose="020B0004020202020204" pitchFamily="34" charset="0"/>
                <a:cs typeface="Times New Roman" panose="02020603050405020304" pitchFamily="18" charset="0"/>
              </a:rPr>
              <a:t>paired</a:t>
            </a:r>
            <a:r>
              <a:rPr lang="it-IT" kern="100" dirty="0">
                <a:latin typeface="Aptos" panose="020B0004020202020204" pitchFamily="34" charset="0"/>
                <a:ea typeface="Aptos" panose="020B0004020202020204" pitchFamily="34" charset="0"/>
                <a:cs typeface="Times New Roman" panose="02020603050405020304" pitchFamily="18" charset="0"/>
              </a:rPr>
              <a:t> t-test.</a:t>
            </a:r>
          </a:p>
        </p:txBody>
      </p:sp>
      <p:pic>
        <p:nvPicPr>
          <p:cNvPr id="6" name="Immagine 5" descr="Immagine che contiene testo, schermata, Carattere&#10;&#10;Il contenuto generato dall'IA potrebbe non essere corretto.">
            <a:extLst>
              <a:ext uri="{FF2B5EF4-FFF2-40B4-BE49-F238E27FC236}">
                <a16:creationId xmlns:a16="http://schemas.microsoft.com/office/drawing/2014/main" id="{322FA3AF-6585-C517-5E86-B7153985284F}"/>
              </a:ext>
            </a:extLst>
          </p:cNvPr>
          <p:cNvPicPr>
            <a:picLocks noChangeAspect="1"/>
          </p:cNvPicPr>
          <p:nvPr/>
        </p:nvPicPr>
        <p:blipFill>
          <a:blip r:embed="rId4"/>
          <a:stretch>
            <a:fillRect/>
          </a:stretch>
        </p:blipFill>
        <p:spPr>
          <a:xfrm>
            <a:off x="3830238" y="1273168"/>
            <a:ext cx="2796050" cy="2884779"/>
          </a:xfrm>
          <a:prstGeom prst="rect">
            <a:avLst/>
          </a:prstGeom>
        </p:spPr>
      </p:pic>
      <p:pic>
        <p:nvPicPr>
          <p:cNvPr id="7" name="Immagine 6" descr="Immagine che contiene testo, schermata, Carattere&#10;&#10;Il contenuto generato dall'IA potrebbe non essere corretto.">
            <a:extLst>
              <a:ext uri="{FF2B5EF4-FFF2-40B4-BE49-F238E27FC236}">
                <a16:creationId xmlns:a16="http://schemas.microsoft.com/office/drawing/2014/main" id="{C867F1CF-8C76-A88C-3E04-5C58B2ED3845}"/>
              </a:ext>
            </a:extLst>
          </p:cNvPr>
          <p:cNvPicPr>
            <a:picLocks noChangeAspect="1"/>
          </p:cNvPicPr>
          <p:nvPr/>
        </p:nvPicPr>
        <p:blipFill>
          <a:blip r:embed="rId5"/>
          <a:stretch>
            <a:fillRect/>
          </a:stretch>
        </p:blipFill>
        <p:spPr>
          <a:xfrm>
            <a:off x="7173549" y="1147045"/>
            <a:ext cx="4336387" cy="3056757"/>
          </a:xfrm>
          <a:prstGeom prst="rect">
            <a:avLst/>
          </a:prstGeom>
        </p:spPr>
      </p:pic>
      <p:sp>
        <p:nvSpPr>
          <p:cNvPr id="8" name="CasellaDiTesto 7">
            <a:extLst>
              <a:ext uri="{FF2B5EF4-FFF2-40B4-BE49-F238E27FC236}">
                <a16:creationId xmlns:a16="http://schemas.microsoft.com/office/drawing/2014/main" id="{6B6994B8-DB4B-5718-659E-4C8ECE365EB6}"/>
              </a:ext>
            </a:extLst>
          </p:cNvPr>
          <p:cNvSpPr txBox="1"/>
          <p:nvPr/>
        </p:nvSpPr>
        <p:spPr>
          <a:xfrm>
            <a:off x="4647020" y="5037674"/>
            <a:ext cx="6862916" cy="646331"/>
          </a:xfrm>
          <a:prstGeom prst="rect">
            <a:avLst/>
          </a:prstGeom>
          <a:noFill/>
        </p:spPr>
        <p:txBody>
          <a:bodyPr wrap="square" rtlCol="0">
            <a:spAutoFit/>
          </a:bodyPr>
          <a:lstStyle/>
          <a:p>
            <a:r>
              <a:rPr lang="it-IT" b="1" dirty="0" err="1"/>
              <a:t>Null</a:t>
            </a:r>
            <a:r>
              <a:rPr lang="it-IT" b="1" dirty="0"/>
              <a:t> : i tempi di esecuzione medi distano circa 1613 </a:t>
            </a:r>
            <a:r>
              <a:rPr lang="it-IT" b="1" dirty="0" err="1"/>
              <a:t>us</a:t>
            </a:r>
            <a:r>
              <a:rPr lang="it-IT" b="1" dirty="0"/>
              <a:t>.</a:t>
            </a:r>
          </a:p>
          <a:p>
            <a:r>
              <a:rPr lang="it-IT" b="1" dirty="0"/>
              <a:t>Credit2: i tempi di esecuzione medi distano circa 2057 </a:t>
            </a:r>
            <a:r>
              <a:rPr lang="it-IT" b="1" dirty="0" err="1"/>
              <a:t>us</a:t>
            </a:r>
            <a:r>
              <a:rPr lang="it-IT" b="1" dirty="0"/>
              <a:t>.</a:t>
            </a:r>
          </a:p>
        </p:txBody>
      </p:sp>
    </p:spTree>
    <p:extLst>
      <p:ext uri="{BB962C8B-B14F-4D97-AF65-F5344CB8AC3E}">
        <p14:creationId xmlns:p14="http://schemas.microsoft.com/office/powerpoint/2010/main" val="3116031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BD8FE-210C-CC17-825D-74538D2D2ED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7357AA52-F5C5-1A90-0E72-672BBBD40C57}"/>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1314BE01-6E33-D8D8-2F9B-1538DC94F1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90814B7-1FD9-04FC-1D75-62449176E673}"/>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61BA0A3A-9F04-23FC-14B2-9EE3EF520E2A}"/>
              </a:ext>
            </a:extLst>
          </p:cNvPr>
          <p:cNvSpPr>
            <a:spLocks noGrp="1"/>
          </p:cNvSpPr>
          <p:nvPr>
            <p:ph type="ctrTitle"/>
          </p:nvPr>
        </p:nvSpPr>
        <p:spPr>
          <a:xfrm>
            <a:off x="914400" y="255640"/>
            <a:ext cx="10363200" cy="766915"/>
          </a:xfrm>
        </p:spPr>
        <p:txBody>
          <a:bodyPr>
            <a:normAutofit/>
          </a:bodyPr>
          <a:lstStyle/>
          <a:p>
            <a:r>
              <a:rPr lang="it-IT" dirty="0"/>
              <a:t> Considerazioni</a:t>
            </a:r>
          </a:p>
        </p:txBody>
      </p:sp>
      <p:sp>
        <p:nvSpPr>
          <p:cNvPr id="3" name="CasellaDiTesto 2">
            <a:extLst>
              <a:ext uri="{FF2B5EF4-FFF2-40B4-BE49-F238E27FC236}">
                <a16:creationId xmlns:a16="http://schemas.microsoft.com/office/drawing/2014/main" id="{D28AE9A0-CDEA-FE3A-F79E-9B93133F987D}"/>
              </a:ext>
            </a:extLst>
          </p:cNvPr>
          <p:cNvSpPr txBox="1"/>
          <p:nvPr/>
        </p:nvSpPr>
        <p:spPr>
          <a:xfrm>
            <a:off x="471948" y="1248697"/>
            <a:ext cx="11061291" cy="4745915"/>
          </a:xfrm>
          <a:prstGeom prst="rect">
            <a:avLst/>
          </a:prstGeom>
          <a:noFill/>
        </p:spPr>
        <p:txBody>
          <a:bodyPr wrap="square" rtlCol="0">
            <a:spAutoFit/>
          </a:bodyPr>
          <a:lstStyle/>
          <a:p>
            <a:r>
              <a:rPr lang="it-IT" dirty="0"/>
              <a:t>Le analisi precedentemente riportate per il benchmark </a:t>
            </a:r>
            <a:r>
              <a:rPr lang="it-IT" dirty="0" err="1"/>
              <a:t>Dijkstra</a:t>
            </a:r>
            <a:r>
              <a:rPr lang="it-IT" dirty="0"/>
              <a:t> sono state ripetute in egual modo per tutti gli altri benchmark. Pertanto le considerazioni finali si basano sui risultati ottenuti da tutti i benchmark.</a:t>
            </a:r>
          </a:p>
          <a:p>
            <a:pPr marL="285750" lvl="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RTDS sembra essere più soggetto a presentare tempi di esecuzione medi 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latencies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superiori rispetto agli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NULL e CREDIT2. RTDS è molto sensibile a tutte le tipologie di stress. Questo risultato potrebbe essere dovuto al fatto che utilizza il Global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Earliest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Deadline First. </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Ogni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con un budget &lt;b&gt; ed un periodo &lt;p&gt; sarà eseguita per &lt;b&gt;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(non necessariamente in maniera continua) in ogni periodo &lt;p&gt;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us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tale motivo, specialmente nelle situazioni in cui il dom0 è stressato, potrebbe risultare in difficoltà nel contenere i tempi di esecuzione (si pensi ad esempio all’effetto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Dhall</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NULL assegna staticamente una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alla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vm</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in esecuzione, mentre Credit2 è uno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general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purpose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che gestisce particolarmente bene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workload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misti ed ha la caratteristica di minimizzare 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latencies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br>
              <a:rPr lang="it-IT" sz="1800" kern="100" dirty="0">
                <a:effectLst/>
                <a:latin typeface="Aptos" panose="020B0004020202020204" pitchFamily="34" charset="0"/>
                <a:ea typeface="Aptos" panose="020B0004020202020204" pitchFamily="34" charset="0"/>
                <a:cs typeface="Times New Roman" panose="02020603050405020304" pitchFamily="18" charset="0"/>
              </a:rPr>
            </a:br>
            <a:r>
              <a:rPr lang="it-IT" sz="1800" kern="100" dirty="0">
                <a:effectLst/>
                <a:latin typeface="Aptos" panose="020B0004020202020204" pitchFamily="34" charset="0"/>
                <a:ea typeface="Aptos" panose="020B0004020202020204" pitchFamily="34" charset="0"/>
                <a:cs typeface="Times New Roman" panose="02020603050405020304" pitchFamily="18" charset="0"/>
              </a:rPr>
              <a:t>Tale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utilizza la politica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pfair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dunque potrebbe essere soggetto ad un overhead dovuto ai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context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switch. Nonostante ciò sembra fornire prestazioni intermedie tra quelle fornite dallo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NULL (le migliori) e quelle di RTDS (le peggiori) probabilmente perché effettua automaticamente un load balancing.</a:t>
            </a:r>
          </a:p>
          <a:p>
            <a:endParaRPr lang="it-IT" dirty="0"/>
          </a:p>
        </p:txBody>
      </p:sp>
    </p:spTree>
    <p:extLst>
      <p:ext uri="{BB962C8B-B14F-4D97-AF65-F5344CB8AC3E}">
        <p14:creationId xmlns:p14="http://schemas.microsoft.com/office/powerpoint/2010/main" val="2704152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531F4-9D06-7667-1341-FDCA1F52C55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8140C0DB-434B-EBC2-E5C1-5CDE9FFB9F08}"/>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E735A80D-B8C6-1FF9-419C-DD14D7563D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13C035EC-CD0B-682A-425B-71DE3B1AF2C7}"/>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25DED467-074F-E15B-AA46-8E83BA603501}"/>
              </a:ext>
            </a:extLst>
          </p:cNvPr>
          <p:cNvSpPr>
            <a:spLocks noGrp="1"/>
          </p:cNvSpPr>
          <p:nvPr>
            <p:ph type="ctrTitle"/>
          </p:nvPr>
        </p:nvSpPr>
        <p:spPr>
          <a:xfrm>
            <a:off x="914400" y="255640"/>
            <a:ext cx="10363200" cy="766915"/>
          </a:xfrm>
        </p:spPr>
        <p:txBody>
          <a:bodyPr>
            <a:normAutofit/>
          </a:bodyPr>
          <a:lstStyle/>
          <a:p>
            <a:r>
              <a:rPr lang="it-IT" dirty="0"/>
              <a:t>Considerazioni</a:t>
            </a:r>
          </a:p>
        </p:txBody>
      </p:sp>
      <p:sp>
        <p:nvSpPr>
          <p:cNvPr id="3" name="CasellaDiTesto 2">
            <a:extLst>
              <a:ext uri="{FF2B5EF4-FFF2-40B4-BE49-F238E27FC236}">
                <a16:creationId xmlns:a16="http://schemas.microsoft.com/office/drawing/2014/main" id="{C37AAD12-2A7A-FF4D-FF7C-5BDA52482895}"/>
              </a:ext>
            </a:extLst>
          </p:cNvPr>
          <p:cNvSpPr txBox="1"/>
          <p:nvPr/>
        </p:nvSpPr>
        <p:spPr>
          <a:xfrm>
            <a:off x="448645" y="1095281"/>
            <a:ext cx="11061291" cy="5491247"/>
          </a:xfrm>
          <a:prstGeom prst="rect">
            <a:avLst/>
          </a:prstGeom>
          <a:noFill/>
        </p:spPr>
        <p:txBody>
          <a:bodyPr wrap="square" rtlCol="0">
            <a:spAutoFit/>
          </a:bodyPr>
          <a:lstStyle/>
          <a:p>
            <a:pPr marL="285750" lvl="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Gli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NULL e CREDIT2 presentano le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wake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-up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latencies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(e quindi anche il jitter massimo) inferiori rispetto alla media totale. Ancora una volta RTDS presenta prestazioni peggiori rispetto ai primi due.</a:t>
            </a:r>
          </a:p>
          <a:p>
            <a:pPr marL="285750" lvl="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Lo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NULL presenta in media tempi di esecuzione inferiori rispetto a CREDIT2 e RTDS. Ciò è dovuto al fatto che NULL assegna staticamente una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pCPU</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ad un determinato dominio, riducendo l’overhead dei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context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switch.</a:t>
            </a:r>
          </a:p>
          <a:p>
            <a:pPr marL="285750" lvl="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CREDIT2 nel complesso può essere considerato una via di mezzo tra NULL ed RTDS in termini di prestazioni. Questo risultato è sicuramente legato al fatto che CREDIT2 effettua un load balancing automaticamente, per questo motivo è considerato uno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scheduler</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adatto 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workload</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misti.</a:t>
            </a:r>
          </a:p>
          <a:p>
            <a:pPr marL="285750" lvl="0" indent="-285750">
              <a:lnSpc>
                <a:spcPct val="115000"/>
              </a:lnSpc>
              <a:buFont typeface="Arial" panose="020B0604020202020204" pitchFamily="34" charset="0"/>
              <a:buChar char="•"/>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Applicare stress al dom0 durante l’esecuzione di una VM ovviamente aumenta i tempi di esecuzione e le latenze. Tali interferenze sono state calcolate per ogni benchmark nella sezione apposita ‘Interferenza’. Tuttavia è importante sottolineare che sarebbe molto utile una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sensitivity</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err="1">
                <a:effectLst/>
                <a:latin typeface="Aptos" panose="020B0004020202020204" pitchFamily="34" charset="0"/>
                <a:ea typeface="Aptos" panose="020B0004020202020204" pitchFamily="34" charset="0"/>
                <a:cs typeface="Times New Roman" panose="02020603050405020304" pitchFamily="18" charset="0"/>
              </a:rPr>
              <a:t>analysis</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 determinare i parametri per eseguire lo stress in maniera significativa. In tal modo si stressa in maniera (ancor più) corretta il sistema e di conseguenza i risultati saranno più significativi.</a:t>
            </a:r>
          </a:p>
          <a:p>
            <a:pPr marL="285750" lvl="0" indent="-285750">
              <a:lnSpc>
                <a:spcPct val="115000"/>
              </a:lnSpc>
              <a:spcAft>
                <a:spcPts val="800"/>
              </a:spcAft>
              <a:buFont typeface="Arial" panose="020B0604020202020204" pitchFamily="34" charset="0"/>
              <a:buChar char="•"/>
            </a:pPr>
            <a:r>
              <a:rPr lang="it-IT" sz="1800" b="1" kern="100" dirty="0">
                <a:effectLst/>
                <a:highlight>
                  <a:srgbClr val="00FFFF"/>
                </a:highlight>
                <a:latin typeface="Aptos" panose="020B0004020202020204" pitchFamily="34" charset="0"/>
                <a:ea typeface="Aptos" panose="020B0004020202020204" pitchFamily="34" charset="0"/>
                <a:cs typeface="Times New Roman" panose="02020603050405020304" pitchFamily="18" charset="0"/>
              </a:rPr>
              <a:t>L’analisi riguardo RTDS potrebbe sembrare controintuitiva, in quanto è stato dimostrato che lo </a:t>
            </a:r>
            <a:r>
              <a:rPr lang="it-IT" sz="1800" b="1" kern="100" dirty="0" err="1">
                <a:effectLst/>
                <a:highlight>
                  <a:srgbClr val="00FFFF"/>
                </a:highlight>
                <a:latin typeface="Aptos" panose="020B0004020202020204" pitchFamily="34" charset="0"/>
                <a:ea typeface="Aptos" panose="020B0004020202020204" pitchFamily="34" charset="0"/>
                <a:cs typeface="Times New Roman" panose="02020603050405020304" pitchFamily="18" charset="0"/>
              </a:rPr>
              <a:t>scheduler</a:t>
            </a:r>
            <a:r>
              <a:rPr lang="it-IT" sz="1800" b="1" kern="100" dirty="0">
                <a:effectLst/>
                <a:highlight>
                  <a:srgbClr val="00FFFF"/>
                </a:highlight>
                <a:latin typeface="Aptos" panose="020B0004020202020204" pitchFamily="34" charset="0"/>
                <a:ea typeface="Aptos" panose="020B0004020202020204" pitchFamily="34" charset="0"/>
                <a:cs typeface="Times New Roman" panose="02020603050405020304" pitchFamily="18" charset="0"/>
              </a:rPr>
              <a:t> RTDS (</a:t>
            </a:r>
            <a:r>
              <a:rPr lang="it-IT" sz="1800" b="1" kern="100" dirty="0" err="1">
                <a:effectLst/>
                <a:highlight>
                  <a:srgbClr val="00FFFF"/>
                </a:highlight>
                <a:latin typeface="Aptos" panose="020B0004020202020204" pitchFamily="34" charset="0"/>
                <a:ea typeface="Aptos" panose="020B0004020202020204" pitchFamily="34" charset="0"/>
                <a:cs typeface="Times New Roman" panose="02020603050405020304" pitchFamily="18" charset="0"/>
              </a:rPr>
              <a:t>gEDF</a:t>
            </a:r>
            <a:r>
              <a:rPr lang="it-IT" sz="1800" b="1" kern="100" dirty="0">
                <a:effectLst/>
                <a:highlight>
                  <a:srgbClr val="00FFFF"/>
                </a:highlight>
                <a:latin typeface="Aptos" panose="020B0004020202020204" pitchFamily="34" charset="0"/>
                <a:ea typeface="Aptos" panose="020B0004020202020204" pitchFamily="34" charset="0"/>
                <a:cs typeface="Times New Roman" panose="02020603050405020304" pitchFamily="18" charset="0"/>
              </a:rPr>
              <a:t>) risulta avere le prestazioni migliori su </a:t>
            </a:r>
            <a:r>
              <a:rPr lang="it-IT" sz="1800" b="1" kern="100" dirty="0" err="1">
                <a:effectLst/>
                <a:highlight>
                  <a:srgbClr val="00FFFF"/>
                </a:highlight>
                <a:latin typeface="Aptos" panose="020B0004020202020204" pitchFamily="34" charset="0"/>
                <a:ea typeface="Aptos" panose="020B0004020202020204" pitchFamily="34" charset="0"/>
                <a:cs typeface="Times New Roman" panose="02020603050405020304" pitchFamily="18" charset="0"/>
              </a:rPr>
              <a:t>Xen</a:t>
            </a:r>
            <a:r>
              <a:rPr lang="it-IT" sz="1800" b="1" kern="100" dirty="0">
                <a:effectLst/>
                <a:highlight>
                  <a:srgbClr val="00FFFF"/>
                </a:highlight>
                <a:latin typeface="Aptos" panose="020B0004020202020204" pitchFamily="34" charset="0"/>
                <a:ea typeface="Aptos" panose="020B0004020202020204" pitchFamily="34" charset="0"/>
                <a:cs typeface="Times New Roman" panose="02020603050405020304" pitchFamily="18" charset="0"/>
              </a:rPr>
              <a:t> </a:t>
            </a:r>
            <a:r>
              <a:rPr lang="it-IT" sz="1800" b="1" kern="100" dirty="0" err="1">
                <a:effectLst/>
                <a:highlight>
                  <a:srgbClr val="00FFFF"/>
                </a:highlight>
                <a:latin typeface="Aptos" panose="020B0004020202020204" pitchFamily="34" charset="0"/>
                <a:ea typeface="Aptos" panose="020B0004020202020204" pitchFamily="34" charset="0"/>
                <a:cs typeface="Times New Roman" panose="02020603050405020304" pitchFamily="18" charset="0"/>
              </a:rPr>
              <a:t>Hypervisor</a:t>
            </a:r>
            <a:r>
              <a:rPr lang="it-IT" sz="1800" b="1" kern="100" dirty="0">
                <a:effectLst/>
                <a:highlight>
                  <a:srgbClr val="00FFFF"/>
                </a:highlight>
                <a:latin typeface="Aptos" panose="020B0004020202020204" pitchFamily="34" charset="0"/>
                <a:ea typeface="Aptos" panose="020B0004020202020204" pitchFamily="34" charset="0"/>
                <a:cs typeface="Times New Roman" panose="02020603050405020304" pitchFamily="18" charset="0"/>
              </a:rPr>
              <a:t>. Tuttavia è necessario notare che non ci siamo posti nelle stesse condizioni (no </a:t>
            </a:r>
            <a:r>
              <a:rPr lang="it-IT" sz="1800" b="1" kern="100" dirty="0" err="1">
                <a:effectLst/>
                <a:highlight>
                  <a:srgbClr val="00FFFF"/>
                </a:highlight>
                <a:latin typeface="Aptos" panose="020B0004020202020204" pitchFamily="34" charset="0"/>
                <a:ea typeface="Aptos" panose="020B0004020202020204" pitchFamily="34" charset="0"/>
                <a:cs typeface="Times New Roman" panose="02020603050405020304" pitchFamily="18" charset="0"/>
              </a:rPr>
              <a:t>cpu-pinning</a:t>
            </a:r>
            <a:r>
              <a:rPr lang="it-IT" sz="1800" b="1" kern="100" dirty="0">
                <a:effectLst/>
                <a:highlight>
                  <a:srgbClr val="00FFFF"/>
                </a:highlight>
                <a:latin typeface="Aptos" panose="020B0004020202020204" pitchFamily="34" charset="0"/>
                <a:ea typeface="Aptos" panose="020B0004020202020204" pitchFamily="34" charset="0"/>
                <a:cs typeface="Times New Roman" panose="02020603050405020304" pitchFamily="18" charset="0"/>
              </a:rPr>
              <a:t> ad esempio) e soprattutto, il kernel utilizzato come dom-0 non è un kernel real-time.</a:t>
            </a:r>
            <a:endParaRPr lang="it-IT" dirty="0">
              <a:highlight>
                <a:srgbClr val="00FFFF"/>
              </a:highlight>
            </a:endParaRPr>
          </a:p>
        </p:txBody>
      </p:sp>
    </p:spTree>
    <p:extLst>
      <p:ext uri="{BB962C8B-B14F-4D97-AF65-F5344CB8AC3E}">
        <p14:creationId xmlns:p14="http://schemas.microsoft.com/office/powerpoint/2010/main" val="2809055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4E9FF-92B2-7331-7252-9D8A44A5337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A741F834-46EE-3333-31BC-D060A7297AF3}"/>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6E979D21-F143-5753-9731-4353A5C05E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D78EA005-0B7E-505C-C1B0-0418E839F5A4}"/>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A2AF3C14-CF95-1373-9187-3E9CD3C894EB}"/>
              </a:ext>
            </a:extLst>
          </p:cNvPr>
          <p:cNvSpPr>
            <a:spLocks noGrp="1"/>
          </p:cNvSpPr>
          <p:nvPr>
            <p:ph type="ctrTitle"/>
          </p:nvPr>
        </p:nvSpPr>
        <p:spPr>
          <a:xfrm>
            <a:off x="914400" y="255640"/>
            <a:ext cx="10363200" cy="766915"/>
          </a:xfrm>
        </p:spPr>
        <p:txBody>
          <a:bodyPr>
            <a:normAutofit/>
          </a:bodyPr>
          <a:lstStyle/>
          <a:p>
            <a:r>
              <a:rPr lang="it-IT" dirty="0"/>
              <a:t>6. Valutazione Parametri </a:t>
            </a:r>
            <a:r>
              <a:rPr lang="it-IT" dirty="0" err="1"/>
              <a:t>Schedulers</a:t>
            </a:r>
            <a:endParaRPr lang="it-IT" dirty="0"/>
          </a:p>
        </p:txBody>
      </p:sp>
      <p:sp>
        <p:nvSpPr>
          <p:cNvPr id="5" name="CasellaDiTesto 4">
            <a:extLst>
              <a:ext uri="{FF2B5EF4-FFF2-40B4-BE49-F238E27FC236}">
                <a16:creationId xmlns:a16="http://schemas.microsoft.com/office/drawing/2014/main" id="{BE1D9DEB-804B-1C05-4D60-2FB4B1D4CE47}"/>
              </a:ext>
            </a:extLst>
          </p:cNvPr>
          <p:cNvSpPr txBox="1"/>
          <p:nvPr/>
        </p:nvSpPr>
        <p:spPr>
          <a:xfrm>
            <a:off x="2261419" y="1946787"/>
            <a:ext cx="8101781" cy="2585323"/>
          </a:xfrm>
          <a:prstGeom prst="rect">
            <a:avLst/>
          </a:prstGeom>
          <a:noFill/>
        </p:spPr>
        <p:txBody>
          <a:bodyPr wrap="square" rtlCol="0">
            <a:spAutoFit/>
          </a:bodyPr>
          <a:lstStyle/>
          <a:p>
            <a:r>
              <a:rPr lang="it-IT" dirty="0"/>
              <a:t>In questa sezione verrà ripetuta l’analisi effettuata in precedenza ma introducendo questa volta features </a:t>
            </a:r>
            <a:r>
              <a:rPr lang="it-IT" dirty="0" err="1"/>
              <a:t>real</a:t>
            </a:r>
            <a:r>
              <a:rPr lang="it-IT" dirty="0"/>
              <a:t> time.</a:t>
            </a:r>
          </a:p>
          <a:p>
            <a:r>
              <a:rPr lang="it-IT" dirty="0"/>
              <a:t>In particolare:</a:t>
            </a:r>
          </a:p>
          <a:p>
            <a:pPr marL="285750" indent="-285750">
              <a:buFont typeface="Arial" panose="020B0604020202020204" pitchFamily="34" charset="0"/>
              <a:buChar char="•"/>
            </a:pPr>
            <a:r>
              <a:rPr lang="it-IT" dirty="0" err="1"/>
              <a:t>Pinning</a:t>
            </a:r>
            <a:r>
              <a:rPr lang="it-IT" dirty="0"/>
              <a:t> delle </a:t>
            </a:r>
            <a:r>
              <a:rPr lang="it-IT" dirty="0" err="1"/>
              <a:t>vCPU</a:t>
            </a:r>
            <a:r>
              <a:rPr lang="it-IT" dirty="0"/>
              <a:t> sulle </a:t>
            </a:r>
            <a:r>
              <a:rPr lang="it-IT" dirty="0" err="1"/>
              <a:t>pCPU</a:t>
            </a:r>
            <a:r>
              <a:rPr lang="it-IT" dirty="0"/>
              <a:t>.</a:t>
            </a:r>
          </a:p>
          <a:p>
            <a:pPr marL="285750" indent="-285750">
              <a:buFont typeface="Arial" panose="020B0604020202020204" pitchFamily="34" charset="0"/>
              <a:buChar char="•"/>
            </a:pPr>
            <a:r>
              <a:rPr lang="it-IT" dirty="0"/>
              <a:t>Limite massimo delle </a:t>
            </a:r>
            <a:r>
              <a:rPr lang="it-IT" dirty="0" err="1"/>
              <a:t>vCPU</a:t>
            </a:r>
            <a:r>
              <a:rPr lang="it-IT" dirty="0"/>
              <a:t> del dom-0 ridotto a 2.</a:t>
            </a:r>
          </a:p>
          <a:p>
            <a:pPr marL="285750" indent="-285750">
              <a:buFont typeface="Arial" panose="020B0604020202020204" pitchFamily="34" charset="0"/>
              <a:buChar char="•"/>
            </a:pPr>
            <a:r>
              <a:rPr lang="it-IT" dirty="0"/>
              <a:t>Limite massimo della memoria allocata al dom-0 ridotto a 2048 MB (2 GB).</a:t>
            </a:r>
          </a:p>
          <a:p>
            <a:pPr marL="285750" indent="-285750">
              <a:buFont typeface="Arial" panose="020B0604020202020204" pitchFamily="34" charset="0"/>
              <a:buChar char="•"/>
            </a:pPr>
            <a:r>
              <a:rPr lang="it-IT" dirty="0"/>
              <a:t>Stress applicato sul dom-0 (o eventualmente tramite </a:t>
            </a:r>
            <a:r>
              <a:rPr lang="it-IT" dirty="0" err="1"/>
              <a:t>vm</a:t>
            </a:r>
            <a:r>
              <a:rPr lang="it-IT" dirty="0"/>
              <a:t>).</a:t>
            </a:r>
          </a:p>
          <a:p>
            <a:pPr marL="285750" indent="-285750">
              <a:buFont typeface="Arial" panose="020B0604020202020204" pitchFamily="34" charset="0"/>
              <a:buChar char="•"/>
            </a:pPr>
            <a:r>
              <a:rPr lang="it-IT" dirty="0"/>
              <a:t>Modifiche dei parametri di scheduling per ogni </a:t>
            </a:r>
            <a:r>
              <a:rPr lang="it-IT" dirty="0" err="1"/>
              <a:t>scheduler</a:t>
            </a:r>
            <a:r>
              <a:rPr lang="it-IT" dirty="0"/>
              <a:t> (laddove possibile, ad esempio </a:t>
            </a:r>
            <a:r>
              <a:rPr lang="it-IT" dirty="0" err="1"/>
              <a:t>sched</a:t>
            </a:r>
            <a:r>
              <a:rPr lang="it-IT" dirty="0"/>
              <a:t> NULL non può essere modificato).</a:t>
            </a:r>
          </a:p>
        </p:txBody>
      </p:sp>
    </p:spTree>
    <p:extLst>
      <p:ext uri="{BB962C8B-B14F-4D97-AF65-F5344CB8AC3E}">
        <p14:creationId xmlns:p14="http://schemas.microsoft.com/office/powerpoint/2010/main" val="2497361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BF33E-17F4-61AD-7809-5A5422CD6590}"/>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889EAC30-D968-490D-804D-7CEEE53B815A}"/>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A53A2D42-1321-23CF-206B-3F230144049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D22C799-6122-4736-3D99-A52F75AD2435}"/>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0B37671A-4D8E-FAA0-306E-7B6B583829BE}"/>
              </a:ext>
            </a:extLst>
          </p:cNvPr>
          <p:cNvSpPr>
            <a:spLocks noGrp="1"/>
          </p:cNvSpPr>
          <p:nvPr>
            <p:ph type="ctrTitle"/>
          </p:nvPr>
        </p:nvSpPr>
        <p:spPr>
          <a:xfrm>
            <a:off x="914400" y="255640"/>
            <a:ext cx="10363200" cy="766915"/>
          </a:xfrm>
        </p:spPr>
        <p:txBody>
          <a:bodyPr>
            <a:normAutofit/>
          </a:bodyPr>
          <a:lstStyle/>
          <a:p>
            <a:r>
              <a:rPr lang="it-IT" dirty="0" err="1"/>
              <a:t>DoE</a:t>
            </a:r>
            <a:endParaRPr lang="it-IT" dirty="0"/>
          </a:p>
        </p:txBody>
      </p:sp>
      <p:graphicFrame>
        <p:nvGraphicFramePr>
          <p:cNvPr id="8" name="Tabella 7">
            <a:extLst>
              <a:ext uri="{FF2B5EF4-FFF2-40B4-BE49-F238E27FC236}">
                <a16:creationId xmlns:a16="http://schemas.microsoft.com/office/drawing/2014/main" id="{209CC2E3-976F-3C48-3C23-877373DC2EDA}"/>
              </a:ext>
            </a:extLst>
          </p:cNvPr>
          <p:cNvGraphicFramePr>
            <a:graphicFrameLocks noGrp="1"/>
          </p:cNvGraphicFramePr>
          <p:nvPr>
            <p:extLst>
              <p:ext uri="{D42A27DB-BD31-4B8C-83A1-F6EECF244321}">
                <p14:modId xmlns:p14="http://schemas.microsoft.com/office/powerpoint/2010/main" val="385237547"/>
              </p:ext>
            </p:extLst>
          </p:nvPr>
        </p:nvGraphicFramePr>
        <p:xfrm>
          <a:off x="1501056" y="2074750"/>
          <a:ext cx="9147276" cy="741680"/>
        </p:xfrm>
        <a:graphic>
          <a:graphicData uri="http://schemas.openxmlformats.org/drawingml/2006/table">
            <a:tbl>
              <a:tblPr firstRow="1" bandRow="1">
                <a:tableStyleId>{3B4B98B0-60AC-42C2-AFA5-B58CD77FA1E5}</a:tableStyleId>
              </a:tblPr>
              <a:tblGrid>
                <a:gridCol w="2286819">
                  <a:extLst>
                    <a:ext uri="{9D8B030D-6E8A-4147-A177-3AD203B41FA5}">
                      <a16:colId xmlns:a16="http://schemas.microsoft.com/office/drawing/2014/main" val="952650575"/>
                    </a:ext>
                  </a:extLst>
                </a:gridCol>
                <a:gridCol w="2286819">
                  <a:extLst>
                    <a:ext uri="{9D8B030D-6E8A-4147-A177-3AD203B41FA5}">
                      <a16:colId xmlns:a16="http://schemas.microsoft.com/office/drawing/2014/main" val="138489953"/>
                    </a:ext>
                  </a:extLst>
                </a:gridCol>
                <a:gridCol w="2286819">
                  <a:extLst>
                    <a:ext uri="{9D8B030D-6E8A-4147-A177-3AD203B41FA5}">
                      <a16:colId xmlns:a16="http://schemas.microsoft.com/office/drawing/2014/main" val="2137594044"/>
                    </a:ext>
                  </a:extLst>
                </a:gridCol>
                <a:gridCol w="2286819">
                  <a:extLst>
                    <a:ext uri="{9D8B030D-6E8A-4147-A177-3AD203B41FA5}">
                      <a16:colId xmlns:a16="http://schemas.microsoft.com/office/drawing/2014/main" val="1750141780"/>
                    </a:ext>
                  </a:extLst>
                </a:gridCol>
              </a:tblGrid>
              <a:tr h="370840">
                <a:tc>
                  <a:txBody>
                    <a:bodyPr/>
                    <a:lstStyle/>
                    <a:p>
                      <a:r>
                        <a:rPr lang="it-IT" dirty="0"/>
                        <a:t>CREDIT2</a:t>
                      </a:r>
                    </a:p>
                  </a:txBody>
                  <a:tcPr/>
                </a:tc>
                <a:tc>
                  <a:txBody>
                    <a:bodyPr/>
                    <a:lstStyle/>
                    <a:p>
                      <a:endParaRPr lang="it-IT" dirty="0"/>
                    </a:p>
                  </a:txBody>
                  <a:tcPr/>
                </a:tc>
                <a:tc>
                  <a:txBody>
                    <a:bodyPr/>
                    <a:lstStyle/>
                    <a:p>
                      <a:endParaRPr lang="it-IT" dirty="0"/>
                    </a:p>
                  </a:txBody>
                  <a:tcPr/>
                </a:tc>
                <a:tc>
                  <a:txBody>
                    <a:bodyPr/>
                    <a:lstStyle/>
                    <a:p>
                      <a:endParaRPr lang="it-IT"/>
                    </a:p>
                  </a:txBody>
                  <a:tcPr/>
                </a:tc>
                <a:extLst>
                  <a:ext uri="{0D108BD9-81ED-4DB2-BD59-A6C34878D82A}">
                    <a16:rowId xmlns:a16="http://schemas.microsoft.com/office/drawing/2014/main" val="1666699123"/>
                  </a:ext>
                </a:extLst>
              </a:tr>
              <a:tr h="370840">
                <a:tc>
                  <a:txBody>
                    <a:bodyPr/>
                    <a:lstStyle/>
                    <a:p>
                      <a:r>
                        <a:rPr lang="it-IT" dirty="0"/>
                        <a:t>RATE LIMITS [</a:t>
                      </a:r>
                      <a:r>
                        <a:rPr lang="it-IT" dirty="0" err="1"/>
                        <a:t>us</a:t>
                      </a:r>
                      <a:r>
                        <a:rPr lang="it-IT" dirty="0"/>
                        <a:t>]</a:t>
                      </a:r>
                    </a:p>
                  </a:txBody>
                  <a:tcPr/>
                </a:tc>
                <a:tc>
                  <a:txBody>
                    <a:bodyPr/>
                    <a:lstStyle/>
                    <a:p>
                      <a:r>
                        <a:rPr lang="it-IT" dirty="0"/>
                        <a:t>100</a:t>
                      </a:r>
                    </a:p>
                  </a:txBody>
                  <a:tcPr/>
                </a:tc>
                <a:tc>
                  <a:txBody>
                    <a:bodyPr/>
                    <a:lstStyle/>
                    <a:p>
                      <a:r>
                        <a:rPr lang="it-IT" dirty="0"/>
                        <a:t>1000  </a:t>
                      </a:r>
                    </a:p>
                  </a:txBody>
                  <a:tcPr/>
                </a:tc>
                <a:tc>
                  <a:txBody>
                    <a:bodyPr/>
                    <a:lstStyle/>
                    <a:p>
                      <a:r>
                        <a:rPr lang="it-IT" dirty="0"/>
                        <a:t>5000 </a:t>
                      </a:r>
                    </a:p>
                  </a:txBody>
                  <a:tcPr/>
                </a:tc>
                <a:extLst>
                  <a:ext uri="{0D108BD9-81ED-4DB2-BD59-A6C34878D82A}">
                    <a16:rowId xmlns:a16="http://schemas.microsoft.com/office/drawing/2014/main" val="3298574450"/>
                  </a:ext>
                </a:extLst>
              </a:tr>
            </a:tbl>
          </a:graphicData>
        </a:graphic>
      </p:graphicFrame>
      <p:graphicFrame>
        <p:nvGraphicFramePr>
          <p:cNvPr id="13" name="Tabella 12">
            <a:extLst>
              <a:ext uri="{FF2B5EF4-FFF2-40B4-BE49-F238E27FC236}">
                <a16:creationId xmlns:a16="http://schemas.microsoft.com/office/drawing/2014/main" id="{12B11D8D-5516-469A-5886-0098D771EA0C}"/>
              </a:ext>
            </a:extLst>
          </p:cNvPr>
          <p:cNvGraphicFramePr>
            <a:graphicFrameLocks noGrp="1"/>
          </p:cNvGraphicFramePr>
          <p:nvPr>
            <p:extLst>
              <p:ext uri="{D42A27DB-BD31-4B8C-83A1-F6EECF244321}">
                <p14:modId xmlns:p14="http://schemas.microsoft.com/office/powerpoint/2010/main" val="1479433966"/>
              </p:ext>
            </p:extLst>
          </p:nvPr>
        </p:nvGraphicFramePr>
        <p:xfrm>
          <a:off x="1501056" y="3085313"/>
          <a:ext cx="9147276" cy="741680"/>
        </p:xfrm>
        <a:graphic>
          <a:graphicData uri="http://schemas.openxmlformats.org/drawingml/2006/table">
            <a:tbl>
              <a:tblPr firstRow="1" bandRow="1">
                <a:tableStyleId>{3B4B98B0-60AC-42C2-AFA5-B58CD77FA1E5}</a:tableStyleId>
              </a:tblPr>
              <a:tblGrid>
                <a:gridCol w="2286819">
                  <a:extLst>
                    <a:ext uri="{9D8B030D-6E8A-4147-A177-3AD203B41FA5}">
                      <a16:colId xmlns:a16="http://schemas.microsoft.com/office/drawing/2014/main" val="952650575"/>
                    </a:ext>
                  </a:extLst>
                </a:gridCol>
                <a:gridCol w="2286819">
                  <a:extLst>
                    <a:ext uri="{9D8B030D-6E8A-4147-A177-3AD203B41FA5}">
                      <a16:colId xmlns:a16="http://schemas.microsoft.com/office/drawing/2014/main" val="138489953"/>
                    </a:ext>
                  </a:extLst>
                </a:gridCol>
                <a:gridCol w="2286819">
                  <a:extLst>
                    <a:ext uri="{9D8B030D-6E8A-4147-A177-3AD203B41FA5}">
                      <a16:colId xmlns:a16="http://schemas.microsoft.com/office/drawing/2014/main" val="2137594044"/>
                    </a:ext>
                  </a:extLst>
                </a:gridCol>
                <a:gridCol w="2286819">
                  <a:extLst>
                    <a:ext uri="{9D8B030D-6E8A-4147-A177-3AD203B41FA5}">
                      <a16:colId xmlns:a16="http://schemas.microsoft.com/office/drawing/2014/main" val="1750141780"/>
                    </a:ext>
                  </a:extLst>
                </a:gridCol>
              </a:tblGrid>
              <a:tr h="370840">
                <a:tc>
                  <a:txBody>
                    <a:bodyPr/>
                    <a:lstStyle/>
                    <a:p>
                      <a:r>
                        <a:rPr lang="it-IT" dirty="0"/>
                        <a:t>RTDS</a:t>
                      </a:r>
                    </a:p>
                  </a:txBody>
                  <a:tcPr/>
                </a:tc>
                <a:tc>
                  <a:txBody>
                    <a:bodyPr/>
                    <a:lstStyle/>
                    <a:p>
                      <a:endParaRPr lang="it-IT" dirty="0"/>
                    </a:p>
                  </a:txBody>
                  <a:tcPr/>
                </a:tc>
                <a:tc>
                  <a:txBody>
                    <a:bodyPr/>
                    <a:lstStyle/>
                    <a:p>
                      <a:endParaRPr lang="it-IT" dirty="0"/>
                    </a:p>
                  </a:txBody>
                  <a:tcPr/>
                </a:tc>
                <a:tc>
                  <a:txBody>
                    <a:bodyPr/>
                    <a:lstStyle/>
                    <a:p>
                      <a:endParaRPr lang="it-IT"/>
                    </a:p>
                  </a:txBody>
                  <a:tcPr/>
                </a:tc>
                <a:extLst>
                  <a:ext uri="{0D108BD9-81ED-4DB2-BD59-A6C34878D82A}">
                    <a16:rowId xmlns:a16="http://schemas.microsoft.com/office/drawing/2014/main" val="1666699123"/>
                  </a:ext>
                </a:extLst>
              </a:tr>
              <a:tr h="370840">
                <a:tc>
                  <a:txBody>
                    <a:bodyPr/>
                    <a:lstStyle/>
                    <a:p>
                      <a:r>
                        <a:rPr lang="it-IT" dirty="0"/>
                        <a:t>Budget/</a:t>
                      </a:r>
                      <a:r>
                        <a:rPr lang="it-IT" dirty="0" err="1"/>
                        <a:t>Period</a:t>
                      </a:r>
                      <a:r>
                        <a:rPr lang="it-IT" dirty="0"/>
                        <a:t> [</a:t>
                      </a:r>
                      <a:r>
                        <a:rPr lang="it-IT" dirty="0" err="1"/>
                        <a:t>us</a:t>
                      </a:r>
                      <a:r>
                        <a:rPr lang="it-IT" dirty="0"/>
                        <a:t>]</a:t>
                      </a:r>
                    </a:p>
                  </a:txBody>
                  <a:tcPr/>
                </a:tc>
                <a:tc>
                  <a:txBody>
                    <a:bodyPr/>
                    <a:lstStyle/>
                    <a:p>
                      <a:r>
                        <a:rPr lang="it-IT" dirty="0"/>
                        <a:t>1k/5k</a:t>
                      </a:r>
                    </a:p>
                  </a:txBody>
                  <a:tcPr/>
                </a:tc>
                <a:tc>
                  <a:txBody>
                    <a:bodyPr/>
                    <a:lstStyle/>
                    <a:p>
                      <a:r>
                        <a:rPr lang="it-IT" dirty="0"/>
                        <a:t>5k/10k</a:t>
                      </a:r>
                    </a:p>
                  </a:txBody>
                  <a:tcPr/>
                </a:tc>
                <a:tc>
                  <a:txBody>
                    <a:bodyPr/>
                    <a:lstStyle/>
                    <a:p>
                      <a:r>
                        <a:rPr lang="it-IT" dirty="0"/>
                        <a:t>10k/10k</a:t>
                      </a:r>
                    </a:p>
                  </a:txBody>
                  <a:tcPr/>
                </a:tc>
                <a:extLst>
                  <a:ext uri="{0D108BD9-81ED-4DB2-BD59-A6C34878D82A}">
                    <a16:rowId xmlns:a16="http://schemas.microsoft.com/office/drawing/2014/main" val="3298574450"/>
                  </a:ext>
                </a:extLst>
              </a:tr>
            </a:tbl>
          </a:graphicData>
        </a:graphic>
      </p:graphicFrame>
      <p:graphicFrame>
        <p:nvGraphicFramePr>
          <p:cNvPr id="15" name="Tabella 14">
            <a:extLst>
              <a:ext uri="{FF2B5EF4-FFF2-40B4-BE49-F238E27FC236}">
                <a16:creationId xmlns:a16="http://schemas.microsoft.com/office/drawing/2014/main" id="{EDC57177-987F-F44C-28F2-FBDF25A2CF4D}"/>
              </a:ext>
            </a:extLst>
          </p:cNvPr>
          <p:cNvGraphicFramePr>
            <a:graphicFrameLocks noGrp="1"/>
          </p:cNvGraphicFramePr>
          <p:nvPr>
            <p:extLst>
              <p:ext uri="{D42A27DB-BD31-4B8C-83A1-F6EECF244321}">
                <p14:modId xmlns:p14="http://schemas.microsoft.com/office/powerpoint/2010/main" val="124409583"/>
              </p:ext>
            </p:extLst>
          </p:nvPr>
        </p:nvGraphicFramePr>
        <p:xfrm>
          <a:off x="1501057" y="4094492"/>
          <a:ext cx="9147276" cy="741680"/>
        </p:xfrm>
        <a:graphic>
          <a:graphicData uri="http://schemas.openxmlformats.org/drawingml/2006/table">
            <a:tbl>
              <a:tblPr firstRow="1" bandRow="1">
                <a:tableStyleId>{3B4B98B0-60AC-42C2-AFA5-B58CD77FA1E5}</a:tableStyleId>
              </a:tblPr>
              <a:tblGrid>
                <a:gridCol w="3049092">
                  <a:extLst>
                    <a:ext uri="{9D8B030D-6E8A-4147-A177-3AD203B41FA5}">
                      <a16:colId xmlns:a16="http://schemas.microsoft.com/office/drawing/2014/main" val="1898941782"/>
                    </a:ext>
                  </a:extLst>
                </a:gridCol>
                <a:gridCol w="3049092">
                  <a:extLst>
                    <a:ext uri="{9D8B030D-6E8A-4147-A177-3AD203B41FA5}">
                      <a16:colId xmlns:a16="http://schemas.microsoft.com/office/drawing/2014/main" val="3730378097"/>
                    </a:ext>
                  </a:extLst>
                </a:gridCol>
                <a:gridCol w="3049092">
                  <a:extLst>
                    <a:ext uri="{9D8B030D-6E8A-4147-A177-3AD203B41FA5}">
                      <a16:colId xmlns:a16="http://schemas.microsoft.com/office/drawing/2014/main" val="2466423863"/>
                    </a:ext>
                  </a:extLst>
                </a:gridCol>
              </a:tblGrid>
              <a:tr h="370840">
                <a:tc>
                  <a:txBody>
                    <a:bodyPr/>
                    <a:lstStyle/>
                    <a:p>
                      <a:r>
                        <a:rPr lang="it-IT" dirty="0"/>
                        <a:t>CPU-AFFINITY</a:t>
                      </a:r>
                    </a:p>
                  </a:txBody>
                  <a:tcPr/>
                </a:tc>
                <a:tc>
                  <a:txBody>
                    <a:bodyPr/>
                    <a:lstStyle/>
                    <a:p>
                      <a:endParaRPr lang="it-IT"/>
                    </a:p>
                  </a:txBody>
                  <a:tcPr/>
                </a:tc>
                <a:tc>
                  <a:txBody>
                    <a:bodyPr/>
                    <a:lstStyle/>
                    <a:p>
                      <a:endParaRPr lang="it-IT" dirty="0"/>
                    </a:p>
                  </a:txBody>
                  <a:tcPr/>
                </a:tc>
                <a:extLst>
                  <a:ext uri="{0D108BD9-81ED-4DB2-BD59-A6C34878D82A}">
                    <a16:rowId xmlns:a16="http://schemas.microsoft.com/office/drawing/2014/main" val="1736902192"/>
                  </a:ext>
                </a:extLst>
              </a:tr>
              <a:tr h="370840">
                <a:tc>
                  <a:txBody>
                    <a:bodyPr/>
                    <a:lstStyle/>
                    <a:p>
                      <a:endParaRPr lang="it-IT" dirty="0"/>
                    </a:p>
                  </a:txBody>
                  <a:tcPr/>
                </a:tc>
                <a:tc>
                  <a:txBody>
                    <a:bodyPr/>
                    <a:lstStyle/>
                    <a:p>
                      <a:r>
                        <a:rPr lang="it-IT" dirty="0"/>
                        <a:t>One to One</a:t>
                      </a:r>
                    </a:p>
                  </a:txBody>
                  <a:tcPr/>
                </a:tc>
                <a:tc>
                  <a:txBody>
                    <a:bodyPr/>
                    <a:lstStyle/>
                    <a:p>
                      <a:r>
                        <a:rPr lang="it-IT" dirty="0" err="1"/>
                        <a:t>Many</a:t>
                      </a:r>
                      <a:r>
                        <a:rPr lang="it-IT" dirty="0"/>
                        <a:t> to </a:t>
                      </a:r>
                      <a:r>
                        <a:rPr lang="it-IT" dirty="0" err="1"/>
                        <a:t>Many</a:t>
                      </a:r>
                      <a:endParaRPr lang="it-IT" dirty="0"/>
                    </a:p>
                  </a:txBody>
                  <a:tcPr/>
                </a:tc>
                <a:extLst>
                  <a:ext uri="{0D108BD9-81ED-4DB2-BD59-A6C34878D82A}">
                    <a16:rowId xmlns:a16="http://schemas.microsoft.com/office/drawing/2014/main" val="618226332"/>
                  </a:ext>
                </a:extLst>
              </a:tr>
            </a:tbl>
          </a:graphicData>
        </a:graphic>
      </p:graphicFrame>
      <p:graphicFrame>
        <p:nvGraphicFramePr>
          <p:cNvPr id="16" name="Tabella 15">
            <a:extLst>
              <a:ext uri="{FF2B5EF4-FFF2-40B4-BE49-F238E27FC236}">
                <a16:creationId xmlns:a16="http://schemas.microsoft.com/office/drawing/2014/main" id="{3E664C74-0477-82DD-21BA-BE23B03573C9}"/>
              </a:ext>
            </a:extLst>
          </p:cNvPr>
          <p:cNvGraphicFramePr>
            <a:graphicFrameLocks noGrp="1"/>
          </p:cNvGraphicFramePr>
          <p:nvPr>
            <p:extLst>
              <p:ext uri="{D42A27DB-BD31-4B8C-83A1-F6EECF244321}">
                <p14:modId xmlns:p14="http://schemas.microsoft.com/office/powerpoint/2010/main" val="2427000376"/>
              </p:ext>
            </p:extLst>
          </p:nvPr>
        </p:nvGraphicFramePr>
        <p:xfrm>
          <a:off x="1501056" y="5146687"/>
          <a:ext cx="9147276" cy="741680"/>
        </p:xfrm>
        <a:graphic>
          <a:graphicData uri="http://schemas.openxmlformats.org/drawingml/2006/table">
            <a:tbl>
              <a:tblPr firstRow="1" bandRow="1">
                <a:tableStyleId>{3B4B98B0-60AC-42C2-AFA5-B58CD77FA1E5}</a:tableStyleId>
              </a:tblPr>
              <a:tblGrid>
                <a:gridCol w="3049092">
                  <a:extLst>
                    <a:ext uri="{9D8B030D-6E8A-4147-A177-3AD203B41FA5}">
                      <a16:colId xmlns:a16="http://schemas.microsoft.com/office/drawing/2014/main" val="1898941782"/>
                    </a:ext>
                  </a:extLst>
                </a:gridCol>
                <a:gridCol w="3049092">
                  <a:extLst>
                    <a:ext uri="{9D8B030D-6E8A-4147-A177-3AD203B41FA5}">
                      <a16:colId xmlns:a16="http://schemas.microsoft.com/office/drawing/2014/main" val="3730378097"/>
                    </a:ext>
                  </a:extLst>
                </a:gridCol>
                <a:gridCol w="3049092">
                  <a:extLst>
                    <a:ext uri="{9D8B030D-6E8A-4147-A177-3AD203B41FA5}">
                      <a16:colId xmlns:a16="http://schemas.microsoft.com/office/drawing/2014/main" val="2466423863"/>
                    </a:ext>
                  </a:extLst>
                </a:gridCol>
              </a:tblGrid>
              <a:tr h="370840">
                <a:tc>
                  <a:txBody>
                    <a:bodyPr/>
                    <a:lstStyle/>
                    <a:p>
                      <a:r>
                        <a:rPr lang="it-IT" dirty="0"/>
                        <a:t>STRESS</a:t>
                      </a:r>
                    </a:p>
                  </a:txBody>
                  <a:tcPr/>
                </a:tc>
                <a:tc>
                  <a:txBody>
                    <a:bodyPr/>
                    <a:lstStyle/>
                    <a:p>
                      <a:endParaRPr lang="it-IT"/>
                    </a:p>
                  </a:txBody>
                  <a:tcPr/>
                </a:tc>
                <a:tc>
                  <a:txBody>
                    <a:bodyPr/>
                    <a:lstStyle/>
                    <a:p>
                      <a:endParaRPr lang="it-IT" dirty="0"/>
                    </a:p>
                  </a:txBody>
                  <a:tcPr/>
                </a:tc>
                <a:extLst>
                  <a:ext uri="{0D108BD9-81ED-4DB2-BD59-A6C34878D82A}">
                    <a16:rowId xmlns:a16="http://schemas.microsoft.com/office/drawing/2014/main" val="1736902192"/>
                  </a:ext>
                </a:extLst>
              </a:tr>
              <a:tr h="370840">
                <a:tc>
                  <a:txBody>
                    <a:bodyPr/>
                    <a:lstStyle/>
                    <a:p>
                      <a:endParaRPr lang="it-IT" dirty="0"/>
                    </a:p>
                  </a:txBody>
                  <a:tcPr/>
                </a:tc>
                <a:tc>
                  <a:txBody>
                    <a:bodyPr/>
                    <a:lstStyle/>
                    <a:p>
                      <a:r>
                        <a:rPr lang="it-IT" dirty="0"/>
                        <a:t>Stress </a:t>
                      </a:r>
                      <a:r>
                        <a:rPr lang="it-IT" dirty="0" err="1"/>
                        <a:t>cpu</a:t>
                      </a:r>
                      <a:r>
                        <a:rPr lang="it-IT" dirty="0"/>
                        <a:t> intensive</a:t>
                      </a:r>
                    </a:p>
                  </a:txBody>
                  <a:tcPr/>
                </a:tc>
                <a:tc>
                  <a:txBody>
                    <a:bodyPr/>
                    <a:lstStyle/>
                    <a:p>
                      <a:r>
                        <a:rPr lang="it-IT" dirty="0"/>
                        <a:t>No Stress</a:t>
                      </a:r>
                    </a:p>
                  </a:txBody>
                  <a:tcPr/>
                </a:tc>
                <a:extLst>
                  <a:ext uri="{0D108BD9-81ED-4DB2-BD59-A6C34878D82A}">
                    <a16:rowId xmlns:a16="http://schemas.microsoft.com/office/drawing/2014/main" val="618226332"/>
                  </a:ext>
                </a:extLst>
              </a:tr>
            </a:tbl>
          </a:graphicData>
        </a:graphic>
      </p:graphicFrame>
      <p:sp>
        <p:nvSpPr>
          <p:cNvPr id="17" name="CasellaDiTesto 16">
            <a:extLst>
              <a:ext uri="{FF2B5EF4-FFF2-40B4-BE49-F238E27FC236}">
                <a16:creationId xmlns:a16="http://schemas.microsoft.com/office/drawing/2014/main" id="{1E1F5BC9-25B9-470D-586D-45634EFA2863}"/>
              </a:ext>
            </a:extLst>
          </p:cNvPr>
          <p:cNvSpPr txBox="1"/>
          <p:nvPr/>
        </p:nvSpPr>
        <p:spPr>
          <a:xfrm>
            <a:off x="1501056" y="1059801"/>
            <a:ext cx="9147276" cy="646331"/>
          </a:xfrm>
          <a:prstGeom prst="rect">
            <a:avLst/>
          </a:prstGeom>
          <a:noFill/>
        </p:spPr>
        <p:txBody>
          <a:bodyPr wrap="square" rtlCol="0">
            <a:spAutoFit/>
          </a:bodyPr>
          <a:lstStyle/>
          <a:p>
            <a:r>
              <a:rPr lang="it-IT" dirty="0"/>
              <a:t>L’obiettivo è variare i parametri di credit2 ed </a:t>
            </a:r>
            <a:r>
              <a:rPr lang="it-IT" dirty="0" err="1"/>
              <a:t>rtds</a:t>
            </a:r>
            <a:r>
              <a:rPr lang="it-IT" dirty="0"/>
              <a:t> in modo da trovare la configurazione più vantaggiosa in termini di WCET. Di seguito vengono riportati i fattori ed i livelli.</a:t>
            </a:r>
          </a:p>
        </p:txBody>
      </p:sp>
    </p:spTree>
    <p:extLst>
      <p:ext uri="{BB962C8B-B14F-4D97-AF65-F5344CB8AC3E}">
        <p14:creationId xmlns:p14="http://schemas.microsoft.com/office/powerpoint/2010/main" val="410321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D3264-2F79-D9FF-1346-94D70E78C3B2}"/>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5A1FE37F-96F8-4B38-DD80-57688C275EE4}"/>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E9F45749-5458-2048-D61A-F832691B36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C59A6ED6-DFC5-1ABA-936D-2FB9FFF7F202}"/>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1B467C7E-53F9-A20E-5E24-590389528D8A}"/>
              </a:ext>
            </a:extLst>
          </p:cNvPr>
          <p:cNvSpPr>
            <a:spLocks noGrp="1"/>
          </p:cNvSpPr>
          <p:nvPr>
            <p:ph type="ctrTitle"/>
          </p:nvPr>
        </p:nvSpPr>
        <p:spPr>
          <a:xfrm>
            <a:off x="914400" y="255640"/>
            <a:ext cx="10363200" cy="766915"/>
          </a:xfrm>
        </p:spPr>
        <p:txBody>
          <a:bodyPr>
            <a:normAutofit/>
          </a:bodyPr>
          <a:lstStyle/>
          <a:p>
            <a:r>
              <a:rPr lang="it-IT" dirty="0" err="1"/>
              <a:t>DoE</a:t>
            </a:r>
            <a:r>
              <a:rPr lang="it-IT" dirty="0"/>
              <a:t> – Risultati CREDIT2</a:t>
            </a:r>
          </a:p>
        </p:txBody>
      </p:sp>
      <p:pic>
        <p:nvPicPr>
          <p:cNvPr id="6" name="Immagine 5" descr="Immagine che contiene testo, diagramma, numero, Piano&#10;&#10;Il contenuto generato dall'IA potrebbe non essere corretto.">
            <a:extLst>
              <a:ext uri="{FF2B5EF4-FFF2-40B4-BE49-F238E27FC236}">
                <a16:creationId xmlns:a16="http://schemas.microsoft.com/office/drawing/2014/main" id="{8D4DFC68-46B4-1852-B2E0-7FD650FA94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889" y="1890006"/>
            <a:ext cx="5295900" cy="3825240"/>
          </a:xfrm>
          <a:prstGeom prst="rect">
            <a:avLst/>
          </a:prstGeom>
        </p:spPr>
      </p:pic>
      <p:pic>
        <p:nvPicPr>
          <p:cNvPr id="11" name="Immagine 10" descr="Immagine che contiene testo, ricevuta, Carattere, schermata&#10;&#10;Il contenuto generato dall'IA potrebbe non essere corretto.">
            <a:extLst>
              <a:ext uri="{FF2B5EF4-FFF2-40B4-BE49-F238E27FC236}">
                <a16:creationId xmlns:a16="http://schemas.microsoft.com/office/drawing/2014/main" id="{0D01924D-FF1E-F67B-B962-3902A91534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1018" y="1890006"/>
            <a:ext cx="5747744" cy="2100539"/>
          </a:xfrm>
          <a:prstGeom prst="rect">
            <a:avLst/>
          </a:prstGeom>
        </p:spPr>
      </p:pic>
      <p:sp>
        <p:nvSpPr>
          <p:cNvPr id="12" name="CasellaDiTesto 11">
            <a:extLst>
              <a:ext uri="{FF2B5EF4-FFF2-40B4-BE49-F238E27FC236}">
                <a16:creationId xmlns:a16="http://schemas.microsoft.com/office/drawing/2014/main" id="{5B44DB6C-ED78-102E-FC0E-1248313B7235}"/>
              </a:ext>
            </a:extLst>
          </p:cNvPr>
          <p:cNvSpPr txBox="1"/>
          <p:nvPr/>
        </p:nvSpPr>
        <p:spPr>
          <a:xfrm>
            <a:off x="5958349" y="4227871"/>
            <a:ext cx="5747744" cy="2031325"/>
          </a:xfrm>
          <a:prstGeom prst="rect">
            <a:avLst/>
          </a:prstGeom>
          <a:noFill/>
        </p:spPr>
        <p:txBody>
          <a:bodyPr wrap="square" rtlCol="0">
            <a:spAutoFit/>
          </a:bodyPr>
          <a:lstStyle/>
          <a:p>
            <a:r>
              <a:rPr lang="it-IT" dirty="0"/>
              <a:t>In termini di WCET la configurazione migliore risulta essere quella con </a:t>
            </a:r>
            <a:r>
              <a:rPr lang="it-IT" b="1" dirty="0"/>
              <a:t>Rate Limit = 5000 </a:t>
            </a:r>
            <a:r>
              <a:rPr lang="it-IT" b="1" dirty="0" err="1"/>
              <a:t>us</a:t>
            </a:r>
            <a:r>
              <a:rPr lang="it-IT" dirty="0"/>
              <a:t>. Nonostante ciò si può notare che la configurazione con Rate Limit= 1000 </a:t>
            </a:r>
            <a:r>
              <a:rPr lang="it-IT" dirty="0" err="1"/>
              <a:t>us</a:t>
            </a:r>
            <a:r>
              <a:rPr lang="it-IT" dirty="0"/>
              <a:t> presenta la deviazione standard minore sia nel caso one to one che nel caso </a:t>
            </a:r>
            <a:r>
              <a:rPr lang="it-IT" dirty="0" err="1"/>
              <a:t>many</a:t>
            </a:r>
            <a:r>
              <a:rPr lang="it-IT" dirty="0"/>
              <a:t> to </a:t>
            </a:r>
            <a:r>
              <a:rPr lang="it-IT" dirty="0" err="1"/>
              <a:t>many</a:t>
            </a:r>
            <a:r>
              <a:rPr lang="it-IT" dirty="0"/>
              <a:t>. Questo risultato potrebbe essere dovuto al numero ridotto di ripetizioni (5 per ogni esperimento).</a:t>
            </a:r>
          </a:p>
        </p:txBody>
      </p:sp>
      <p:sp>
        <p:nvSpPr>
          <p:cNvPr id="17" name="CasellaDiTesto 16">
            <a:extLst>
              <a:ext uri="{FF2B5EF4-FFF2-40B4-BE49-F238E27FC236}">
                <a16:creationId xmlns:a16="http://schemas.microsoft.com/office/drawing/2014/main" id="{A849A2F3-F97B-D4E2-22B1-A6D973A21F27}"/>
              </a:ext>
            </a:extLst>
          </p:cNvPr>
          <p:cNvSpPr txBox="1"/>
          <p:nvPr/>
        </p:nvSpPr>
        <p:spPr>
          <a:xfrm>
            <a:off x="350889" y="1248433"/>
            <a:ext cx="6100916" cy="369332"/>
          </a:xfrm>
          <a:prstGeom prst="rect">
            <a:avLst/>
          </a:prstGeom>
          <a:noFill/>
        </p:spPr>
        <p:txBody>
          <a:bodyPr wrap="square">
            <a:spAutoFit/>
          </a:bodyPr>
          <a:lstStyle/>
          <a:p>
            <a:r>
              <a:rPr lang="it-IT" b="1" dirty="0"/>
              <a:t>Catture effettuate con stress </a:t>
            </a:r>
            <a:r>
              <a:rPr lang="it-IT" b="1" dirty="0" err="1"/>
              <a:t>cpu</a:t>
            </a:r>
            <a:r>
              <a:rPr lang="it-IT" b="1" dirty="0"/>
              <a:t>-intensive</a:t>
            </a:r>
          </a:p>
        </p:txBody>
      </p:sp>
    </p:spTree>
    <p:extLst>
      <p:ext uri="{BB962C8B-B14F-4D97-AF65-F5344CB8AC3E}">
        <p14:creationId xmlns:p14="http://schemas.microsoft.com/office/powerpoint/2010/main" val="2092039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FA2A-69CC-F72B-55F3-CD3E8CFFF798}"/>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0C1B314A-78A1-7B29-D176-1E87B3D33147}"/>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734DDAD7-B570-6608-11F8-2F0A9E8A0A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A1CBD948-7825-D04D-1A24-059005220C75}"/>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3523F7CA-5425-6D02-ABFD-E0CB24844BA7}"/>
              </a:ext>
            </a:extLst>
          </p:cNvPr>
          <p:cNvSpPr>
            <a:spLocks noGrp="1"/>
          </p:cNvSpPr>
          <p:nvPr>
            <p:ph type="ctrTitle"/>
          </p:nvPr>
        </p:nvSpPr>
        <p:spPr>
          <a:xfrm>
            <a:off x="914400" y="255640"/>
            <a:ext cx="10363200" cy="766915"/>
          </a:xfrm>
        </p:spPr>
        <p:txBody>
          <a:bodyPr>
            <a:normAutofit/>
          </a:bodyPr>
          <a:lstStyle/>
          <a:p>
            <a:r>
              <a:rPr lang="it-IT" dirty="0" err="1"/>
              <a:t>DoE</a:t>
            </a:r>
            <a:r>
              <a:rPr lang="it-IT" dirty="0"/>
              <a:t> – Risultati RTDS</a:t>
            </a:r>
          </a:p>
        </p:txBody>
      </p:sp>
      <p:pic>
        <p:nvPicPr>
          <p:cNvPr id="5" name="Immagine 4" descr="Immagine che contiene testo, diagramma, schermata, numero&#10;&#10;Il contenuto generato dall'IA potrebbe non essere corretto.">
            <a:extLst>
              <a:ext uri="{FF2B5EF4-FFF2-40B4-BE49-F238E27FC236}">
                <a16:creationId xmlns:a16="http://schemas.microsoft.com/office/drawing/2014/main" id="{C9471C28-A490-62D3-3477-53D0394D06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012" y="2097343"/>
            <a:ext cx="5280660" cy="4000500"/>
          </a:xfrm>
          <a:prstGeom prst="rect">
            <a:avLst/>
          </a:prstGeom>
        </p:spPr>
      </p:pic>
      <p:pic>
        <p:nvPicPr>
          <p:cNvPr id="8" name="Immagine 7" descr="Immagine che contiene testo, ricevuta, Carattere, schermata&#10;&#10;Il contenuto generato dall'IA potrebbe non essere corretto.">
            <a:extLst>
              <a:ext uri="{FF2B5EF4-FFF2-40B4-BE49-F238E27FC236}">
                <a16:creationId xmlns:a16="http://schemas.microsoft.com/office/drawing/2014/main" id="{5FB411B8-642A-4FAB-C974-72038BC374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4206" y="2097343"/>
            <a:ext cx="5571213" cy="2032204"/>
          </a:xfrm>
          <a:prstGeom prst="rect">
            <a:avLst/>
          </a:prstGeom>
        </p:spPr>
      </p:pic>
      <p:sp>
        <p:nvSpPr>
          <p:cNvPr id="13" name="CasellaDiTesto 12">
            <a:extLst>
              <a:ext uri="{FF2B5EF4-FFF2-40B4-BE49-F238E27FC236}">
                <a16:creationId xmlns:a16="http://schemas.microsoft.com/office/drawing/2014/main" id="{E9448BF0-55E8-199C-B38B-4C07A217367D}"/>
              </a:ext>
            </a:extLst>
          </p:cNvPr>
          <p:cNvSpPr txBox="1"/>
          <p:nvPr/>
        </p:nvSpPr>
        <p:spPr>
          <a:xfrm>
            <a:off x="6066542" y="4643286"/>
            <a:ext cx="5571213" cy="1200329"/>
          </a:xfrm>
          <a:prstGeom prst="rect">
            <a:avLst/>
          </a:prstGeom>
          <a:noFill/>
        </p:spPr>
        <p:txBody>
          <a:bodyPr wrap="square" rtlCol="0">
            <a:spAutoFit/>
          </a:bodyPr>
          <a:lstStyle/>
          <a:p>
            <a:r>
              <a:rPr lang="it-IT" dirty="0"/>
              <a:t>La configurazione migliore in termini di WCET risulta essere la </a:t>
            </a:r>
            <a:r>
              <a:rPr lang="it-IT" b="1" dirty="0"/>
              <a:t>1k/5k</a:t>
            </a:r>
            <a:r>
              <a:rPr lang="it-IT" dirty="0"/>
              <a:t>. Tuttavia nel caso </a:t>
            </a:r>
            <a:r>
              <a:rPr lang="it-IT" dirty="0" err="1"/>
              <a:t>many</a:t>
            </a:r>
            <a:r>
              <a:rPr lang="it-IT" dirty="0"/>
              <a:t> to </a:t>
            </a:r>
            <a:r>
              <a:rPr lang="it-IT" dirty="0" err="1"/>
              <a:t>many</a:t>
            </a:r>
            <a:r>
              <a:rPr lang="it-IT" dirty="0"/>
              <a:t> la configurazione 10k/10k presenta la deviazione standard minore (ma anche i peggiori WCET).</a:t>
            </a:r>
          </a:p>
        </p:txBody>
      </p:sp>
      <p:sp>
        <p:nvSpPr>
          <p:cNvPr id="14" name="CasellaDiTesto 13">
            <a:extLst>
              <a:ext uri="{FF2B5EF4-FFF2-40B4-BE49-F238E27FC236}">
                <a16:creationId xmlns:a16="http://schemas.microsoft.com/office/drawing/2014/main" id="{57AA40CD-3B76-EE4D-11DF-2633FBA27A59}"/>
              </a:ext>
            </a:extLst>
          </p:cNvPr>
          <p:cNvSpPr txBox="1"/>
          <p:nvPr/>
        </p:nvSpPr>
        <p:spPr>
          <a:xfrm>
            <a:off x="329012" y="1294682"/>
            <a:ext cx="4390472" cy="369332"/>
          </a:xfrm>
          <a:prstGeom prst="rect">
            <a:avLst/>
          </a:prstGeom>
          <a:noFill/>
        </p:spPr>
        <p:txBody>
          <a:bodyPr wrap="square" rtlCol="0">
            <a:spAutoFit/>
          </a:bodyPr>
          <a:lstStyle/>
          <a:p>
            <a:r>
              <a:rPr lang="it-IT" b="1" dirty="0"/>
              <a:t>Catture effettuate con stress </a:t>
            </a:r>
            <a:r>
              <a:rPr lang="it-IT" b="1" dirty="0" err="1"/>
              <a:t>cpu</a:t>
            </a:r>
            <a:r>
              <a:rPr lang="it-IT" b="1" dirty="0"/>
              <a:t>-intensive</a:t>
            </a:r>
          </a:p>
        </p:txBody>
      </p:sp>
    </p:spTree>
    <p:extLst>
      <p:ext uri="{BB962C8B-B14F-4D97-AF65-F5344CB8AC3E}">
        <p14:creationId xmlns:p14="http://schemas.microsoft.com/office/powerpoint/2010/main" val="2219690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66A7C-7184-37B0-79A2-8201907F5966}"/>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028BDA9A-BEEE-2EFB-013A-E1E9B585F396}"/>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EBA51F02-8CA7-4128-6057-F56B3F7182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E97EF58A-C570-852C-60D1-F77DE5BF0CED}"/>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35A42922-B3F6-B6AA-1C7A-1BD0F554C31D}"/>
              </a:ext>
            </a:extLst>
          </p:cNvPr>
          <p:cNvSpPr>
            <a:spLocks noGrp="1"/>
          </p:cNvSpPr>
          <p:nvPr>
            <p:ph type="ctrTitle"/>
          </p:nvPr>
        </p:nvSpPr>
        <p:spPr>
          <a:xfrm>
            <a:off x="914400" y="255640"/>
            <a:ext cx="10363200" cy="766915"/>
          </a:xfrm>
        </p:spPr>
        <p:txBody>
          <a:bodyPr>
            <a:normAutofit/>
          </a:bodyPr>
          <a:lstStyle/>
          <a:p>
            <a:r>
              <a:rPr lang="it-IT" dirty="0" err="1"/>
              <a:t>DoE</a:t>
            </a:r>
            <a:r>
              <a:rPr lang="it-IT" dirty="0"/>
              <a:t> – CREDIT2 vs RTDS</a:t>
            </a:r>
          </a:p>
        </p:txBody>
      </p:sp>
      <mc:AlternateContent xmlns:mc="http://schemas.openxmlformats.org/markup-compatibility/2006" xmlns:cx1="http://schemas.microsoft.com/office/drawing/2015/9/8/chartex">
        <mc:Choice Requires="cx1">
          <p:graphicFrame>
            <p:nvGraphicFramePr>
              <p:cNvPr id="3" name="Grafico 2">
                <a:extLst>
                  <a:ext uri="{FF2B5EF4-FFF2-40B4-BE49-F238E27FC236}">
                    <a16:creationId xmlns:a16="http://schemas.microsoft.com/office/drawing/2014/main" id="{11D973DF-1144-727B-2989-B0FF0F45417E}"/>
                  </a:ext>
                </a:extLst>
              </p:cNvPr>
              <p:cNvGraphicFramePr/>
              <p:nvPr>
                <p:extLst>
                  <p:ext uri="{D42A27DB-BD31-4B8C-83A1-F6EECF244321}">
                    <p14:modId xmlns:p14="http://schemas.microsoft.com/office/powerpoint/2010/main" val="4165557048"/>
                  </p:ext>
                </p:extLst>
              </p:nvPr>
            </p:nvGraphicFramePr>
            <p:xfrm>
              <a:off x="781664" y="1408470"/>
              <a:ext cx="4871883" cy="3635477"/>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3" name="Grafico 2">
                <a:extLst>
                  <a:ext uri="{FF2B5EF4-FFF2-40B4-BE49-F238E27FC236}">
                    <a16:creationId xmlns:a16="http://schemas.microsoft.com/office/drawing/2014/main" id="{11D973DF-1144-727B-2989-B0FF0F45417E}"/>
                  </a:ext>
                </a:extLst>
              </p:cNvPr>
              <p:cNvPicPr>
                <a:picLocks noGrp="1" noRot="1" noChangeAspect="1" noMove="1" noResize="1" noEditPoints="1" noAdjustHandles="1" noChangeArrowheads="1" noChangeShapeType="1"/>
              </p:cNvPicPr>
              <p:nvPr/>
            </p:nvPicPr>
            <p:blipFill>
              <a:blip r:embed="rId5"/>
              <a:stretch>
                <a:fillRect/>
              </a:stretch>
            </p:blipFill>
            <p:spPr>
              <a:xfrm>
                <a:off x="781664" y="1408470"/>
                <a:ext cx="4871883" cy="3635477"/>
              </a:xfrm>
              <a:prstGeom prst="rect">
                <a:avLst/>
              </a:prstGeom>
            </p:spPr>
          </p:pic>
        </mc:Fallback>
      </mc:AlternateContent>
      <p:graphicFrame>
        <p:nvGraphicFramePr>
          <p:cNvPr id="6" name="Tabella 5">
            <a:extLst>
              <a:ext uri="{FF2B5EF4-FFF2-40B4-BE49-F238E27FC236}">
                <a16:creationId xmlns:a16="http://schemas.microsoft.com/office/drawing/2014/main" id="{B8E98E7A-E1EF-B2AF-89DB-D7AFD50A2942}"/>
              </a:ext>
            </a:extLst>
          </p:cNvPr>
          <p:cNvGraphicFramePr>
            <a:graphicFrameLocks noGrp="1"/>
          </p:cNvGraphicFramePr>
          <p:nvPr>
            <p:extLst>
              <p:ext uri="{D42A27DB-BD31-4B8C-83A1-F6EECF244321}">
                <p14:modId xmlns:p14="http://schemas.microsoft.com/office/powerpoint/2010/main" val="4231908998"/>
              </p:ext>
            </p:extLst>
          </p:nvPr>
        </p:nvGraphicFramePr>
        <p:xfrm>
          <a:off x="6373350" y="1631949"/>
          <a:ext cx="4642363" cy="1288230"/>
        </p:xfrm>
        <a:graphic>
          <a:graphicData uri="http://schemas.openxmlformats.org/drawingml/2006/table">
            <a:tbl>
              <a:tblPr>
                <a:tableStyleId>{5C22544A-7EE6-4342-B048-85BDC9FD1C3A}</a:tableStyleId>
              </a:tblPr>
              <a:tblGrid>
                <a:gridCol w="1553272">
                  <a:extLst>
                    <a:ext uri="{9D8B030D-6E8A-4147-A177-3AD203B41FA5}">
                      <a16:colId xmlns:a16="http://schemas.microsoft.com/office/drawing/2014/main" val="1118667753"/>
                    </a:ext>
                  </a:extLst>
                </a:gridCol>
                <a:gridCol w="1588177">
                  <a:extLst>
                    <a:ext uri="{9D8B030D-6E8A-4147-A177-3AD203B41FA5}">
                      <a16:colId xmlns:a16="http://schemas.microsoft.com/office/drawing/2014/main" val="621280429"/>
                    </a:ext>
                  </a:extLst>
                </a:gridCol>
                <a:gridCol w="1500914">
                  <a:extLst>
                    <a:ext uri="{9D8B030D-6E8A-4147-A177-3AD203B41FA5}">
                      <a16:colId xmlns:a16="http://schemas.microsoft.com/office/drawing/2014/main" val="1488347688"/>
                    </a:ext>
                  </a:extLst>
                </a:gridCol>
              </a:tblGrid>
              <a:tr h="429410">
                <a:tc>
                  <a:txBody>
                    <a:bodyPr/>
                    <a:lstStyle/>
                    <a:p>
                      <a:pPr algn="l" fontAlgn="b"/>
                      <a:r>
                        <a:rPr lang="it-IT" sz="1100" u="none" strike="noStrike">
                          <a:effectLst/>
                        </a:rPr>
                        <a:t>Parametri</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CREDIT2_5000</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RTDS_1K5K</a:t>
                      </a:r>
                      <a:endParaRPr lang="it-IT" sz="1100" b="1" i="0" u="none" strike="noStrike">
                        <a:solidFill>
                          <a:srgbClr val="FFFFFF"/>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32490278"/>
                  </a:ext>
                </a:extLst>
              </a:tr>
              <a:tr h="429410">
                <a:tc>
                  <a:txBody>
                    <a:bodyPr/>
                    <a:lstStyle/>
                    <a:p>
                      <a:pPr algn="l" fontAlgn="b"/>
                      <a:r>
                        <a:rPr lang="it-IT" sz="1100" u="none" strike="noStrike">
                          <a:effectLst/>
                        </a:rPr>
                        <a:t>Media</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55,79605721</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29,8948156</a:t>
                      </a:r>
                      <a:endParaRPr lang="it-IT"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62962034"/>
                  </a:ext>
                </a:extLst>
              </a:tr>
              <a:tr h="429410">
                <a:tc>
                  <a:txBody>
                    <a:bodyPr/>
                    <a:lstStyle/>
                    <a:p>
                      <a:pPr algn="l" fontAlgn="b"/>
                      <a:r>
                        <a:rPr lang="it-IT" sz="1100" u="none" strike="noStrike">
                          <a:effectLst/>
                        </a:rPr>
                        <a:t>SD</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4795,8</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dirty="0">
                          <a:effectLst/>
                        </a:rPr>
                        <a:t>4781,8</a:t>
                      </a:r>
                      <a:endParaRPr lang="it-IT"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734788186"/>
                  </a:ext>
                </a:extLst>
              </a:tr>
            </a:tbl>
          </a:graphicData>
        </a:graphic>
      </p:graphicFrame>
      <p:sp>
        <p:nvSpPr>
          <p:cNvPr id="7" name="CasellaDiTesto 6">
            <a:extLst>
              <a:ext uri="{FF2B5EF4-FFF2-40B4-BE49-F238E27FC236}">
                <a16:creationId xmlns:a16="http://schemas.microsoft.com/office/drawing/2014/main" id="{0162A610-78F5-BC95-4CD1-6778E0B3F35E}"/>
              </a:ext>
            </a:extLst>
          </p:cNvPr>
          <p:cNvSpPr txBox="1"/>
          <p:nvPr/>
        </p:nvSpPr>
        <p:spPr>
          <a:xfrm>
            <a:off x="6373350" y="3323303"/>
            <a:ext cx="4560121" cy="923330"/>
          </a:xfrm>
          <a:prstGeom prst="rect">
            <a:avLst/>
          </a:prstGeom>
          <a:noFill/>
        </p:spPr>
        <p:txBody>
          <a:bodyPr wrap="square" rtlCol="0">
            <a:spAutoFit/>
          </a:bodyPr>
          <a:lstStyle/>
          <a:p>
            <a:r>
              <a:rPr lang="it-IT" dirty="0"/>
              <a:t>RTDS in questo specifico caso risulta performare meglio rispetto a Credit2 in termini di WCET sotto stress </a:t>
            </a:r>
            <a:r>
              <a:rPr lang="it-IT" dirty="0" err="1"/>
              <a:t>cpu</a:t>
            </a:r>
            <a:r>
              <a:rPr lang="it-IT" dirty="0"/>
              <a:t> intensive.</a:t>
            </a:r>
          </a:p>
        </p:txBody>
      </p:sp>
    </p:spTree>
    <p:extLst>
      <p:ext uri="{BB962C8B-B14F-4D97-AF65-F5344CB8AC3E}">
        <p14:creationId xmlns:p14="http://schemas.microsoft.com/office/powerpoint/2010/main" val="1681926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6ABA2-DFFC-049B-B662-F61C6CA3A09A}"/>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2F8B1760-7951-77DD-F809-47A9D8790201}"/>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8DED30F3-0C51-094E-5621-8D142DD748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4B3C69F9-FF56-157A-7ACD-030BADB1F9E2}"/>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214E1445-43AC-F2D7-87F6-57F4D874DE14}"/>
              </a:ext>
            </a:extLst>
          </p:cNvPr>
          <p:cNvSpPr>
            <a:spLocks noGrp="1"/>
          </p:cNvSpPr>
          <p:nvPr>
            <p:ph type="ctrTitle"/>
          </p:nvPr>
        </p:nvSpPr>
        <p:spPr>
          <a:xfrm>
            <a:off x="914400" y="255640"/>
            <a:ext cx="10363200" cy="766915"/>
          </a:xfrm>
        </p:spPr>
        <p:txBody>
          <a:bodyPr>
            <a:normAutofit/>
          </a:bodyPr>
          <a:lstStyle/>
          <a:p>
            <a:r>
              <a:rPr lang="it-IT" dirty="0" err="1"/>
              <a:t>DoE</a:t>
            </a:r>
            <a:r>
              <a:rPr lang="it-IT" dirty="0"/>
              <a:t> – NULL vs CREDIT2 vs RTDS</a:t>
            </a:r>
          </a:p>
        </p:txBody>
      </p:sp>
      <mc:AlternateContent xmlns:mc="http://schemas.openxmlformats.org/markup-compatibility/2006" xmlns:cx1="http://schemas.microsoft.com/office/drawing/2015/9/8/chartex">
        <mc:Choice Requires="cx1">
          <p:graphicFrame>
            <p:nvGraphicFramePr>
              <p:cNvPr id="5" name="Grafico 4">
                <a:extLst>
                  <a:ext uri="{FF2B5EF4-FFF2-40B4-BE49-F238E27FC236}">
                    <a16:creationId xmlns:a16="http://schemas.microsoft.com/office/drawing/2014/main" id="{D322491C-50EA-830C-8243-33F304CCD87A}"/>
                  </a:ext>
                </a:extLst>
              </p:cNvPr>
              <p:cNvGraphicFramePr/>
              <p:nvPr>
                <p:extLst>
                  <p:ext uri="{D42A27DB-BD31-4B8C-83A1-F6EECF244321}">
                    <p14:modId xmlns:p14="http://schemas.microsoft.com/office/powerpoint/2010/main" val="3608436835"/>
                  </p:ext>
                </p:extLst>
              </p:nvPr>
            </p:nvGraphicFramePr>
            <p:xfrm>
              <a:off x="447368" y="1614949"/>
              <a:ext cx="5343832" cy="3458496"/>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5" name="Grafico 4">
                <a:extLst>
                  <a:ext uri="{FF2B5EF4-FFF2-40B4-BE49-F238E27FC236}">
                    <a16:creationId xmlns:a16="http://schemas.microsoft.com/office/drawing/2014/main" id="{D322491C-50EA-830C-8243-33F304CCD87A}"/>
                  </a:ext>
                </a:extLst>
              </p:cNvPr>
              <p:cNvPicPr>
                <a:picLocks noGrp="1" noRot="1" noChangeAspect="1" noMove="1" noResize="1" noEditPoints="1" noAdjustHandles="1" noChangeArrowheads="1" noChangeShapeType="1"/>
              </p:cNvPicPr>
              <p:nvPr/>
            </p:nvPicPr>
            <p:blipFill>
              <a:blip r:embed="rId5"/>
              <a:stretch>
                <a:fillRect/>
              </a:stretch>
            </p:blipFill>
            <p:spPr>
              <a:xfrm>
                <a:off x="447368" y="1614949"/>
                <a:ext cx="5343832" cy="3458496"/>
              </a:xfrm>
              <a:prstGeom prst="rect">
                <a:avLst/>
              </a:prstGeom>
            </p:spPr>
          </p:pic>
        </mc:Fallback>
      </mc:AlternateContent>
      <p:graphicFrame>
        <p:nvGraphicFramePr>
          <p:cNvPr id="8" name="Tabella 7">
            <a:extLst>
              <a:ext uri="{FF2B5EF4-FFF2-40B4-BE49-F238E27FC236}">
                <a16:creationId xmlns:a16="http://schemas.microsoft.com/office/drawing/2014/main" id="{703E10E8-E3F0-59ED-056E-37B757EDC3A1}"/>
              </a:ext>
            </a:extLst>
          </p:cNvPr>
          <p:cNvGraphicFramePr>
            <a:graphicFrameLocks noGrp="1"/>
          </p:cNvGraphicFramePr>
          <p:nvPr>
            <p:extLst>
              <p:ext uri="{D42A27DB-BD31-4B8C-83A1-F6EECF244321}">
                <p14:modId xmlns:p14="http://schemas.microsoft.com/office/powerpoint/2010/main" val="3871833921"/>
              </p:ext>
            </p:extLst>
          </p:nvPr>
        </p:nvGraphicFramePr>
        <p:xfrm>
          <a:off x="568836" y="5243050"/>
          <a:ext cx="5222364" cy="862782"/>
        </p:xfrm>
        <a:graphic>
          <a:graphicData uri="http://schemas.openxmlformats.org/drawingml/2006/table">
            <a:tbl>
              <a:tblPr>
                <a:tableStyleId>{5C22544A-7EE6-4342-B048-85BDC9FD1C3A}</a:tableStyleId>
              </a:tblPr>
              <a:tblGrid>
                <a:gridCol w="1264093">
                  <a:extLst>
                    <a:ext uri="{9D8B030D-6E8A-4147-A177-3AD203B41FA5}">
                      <a16:colId xmlns:a16="http://schemas.microsoft.com/office/drawing/2014/main" val="4100282328"/>
                    </a:ext>
                  </a:extLst>
                </a:gridCol>
                <a:gridCol w="1353473">
                  <a:extLst>
                    <a:ext uri="{9D8B030D-6E8A-4147-A177-3AD203B41FA5}">
                      <a16:colId xmlns:a16="http://schemas.microsoft.com/office/drawing/2014/main" val="1958841320"/>
                    </a:ext>
                  </a:extLst>
                </a:gridCol>
                <a:gridCol w="1238556">
                  <a:extLst>
                    <a:ext uri="{9D8B030D-6E8A-4147-A177-3AD203B41FA5}">
                      <a16:colId xmlns:a16="http://schemas.microsoft.com/office/drawing/2014/main" val="3891363773"/>
                    </a:ext>
                  </a:extLst>
                </a:gridCol>
                <a:gridCol w="1366242">
                  <a:extLst>
                    <a:ext uri="{9D8B030D-6E8A-4147-A177-3AD203B41FA5}">
                      <a16:colId xmlns:a16="http://schemas.microsoft.com/office/drawing/2014/main" val="2396733474"/>
                    </a:ext>
                  </a:extLst>
                </a:gridCol>
              </a:tblGrid>
              <a:tr h="287594">
                <a:tc>
                  <a:txBody>
                    <a:bodyPr/>
                    <a:lstStyle/>
                    <a:p>
                      <a:pPr algn="l" fontAlgn="b"/>
                      <a:r>
                        <a:rPr lang="it-IT" sz="1100" u="none" strike="noStrike">
                          <a:effectLst/>
                        </a:rPr>
                        <a:t>Parametri</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NULL</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CREDIT2_5000</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RTDS_1K5K</a:t>
                      </a:r>
                      <a:endParaRPr lang="it-IT" sz="1100" b="1" i="0" u="none" strike="noStrike">
                        <a:solidFill>
                          <a:srgbClr val="FFFFFF"/>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38421100"/>
                  </a:ext>
                </a:extLst>
              </a:tr>
              <a:tr h="287594">
                <a:tc>
                  <a:txBody>
                    <a:bodyPr/>
                    <a:lstStyle/>
                    <a:p>
                      <a:pPr algn="l" fontAlgn="b"/>
                      <a:r>
                        <a:rPr lang="it-IT" sz="1100" u="none" strike="noStrike">
                          <a:effectLst/>
                        </a:rPr>
                        <a:t>Media [us]</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4717,4</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4795,8</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4781,8</a:t>
                      </a:r>
                      <a:endParaRPr lang="it-IT"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490430382"/>
                  </a:ext>
                </a:extLst>
              </a:tr>
              <a:tr h="287594">
                <a:tc>
                  <a:txBody>
                    <a:bodyPr/>
                    <a:lstStyle/>
                    <a:p>
                      <a:pPr algn="l" fontAlgn="b"/>
                      <a:r>
                        <a:rPr lang="it-IT" sz="1100" u="none" strike="noStrike">
                          <a:effectLst/>
                        </a:rPr>
                        <a:t>SD</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33,11797095</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55,79605721</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dirty="0">
                          <a:effectLst/>
                        </a:rPr>
                        <a:t>29,8948156</a:t>
                      </a:r>
                      <a:endParaRPr lang="it-IT"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676139403"/>
                  </a:ext>
                </a:extLst>
              </a:tr>
            </a:tbl>
          </a:graphicData>
        </a:graphic>
      </p:graphicFrame>
      <p:sp>
        <p:nvSpPr>
          <p:cNvPr id="11" name="CasellaDiTesto 10">
            <a:extLst>
              <a:ext uri="{FF2B5EF4-FFF2-40B4-BE49-F238E27FC236}">
                <a16:creationId xmlns:a16="http://schemas.microsoft.com/office/drawing/2014/main" id="{D8CDB5D9-AD27-B517-6107-C81C96FA961E}"/>
              </a:ext>
            </a:extLst>
          </p:cNvPr>
          <p:cNvSpPr txBox="1"/>
          <p:nvPr/>
        </p:nvSpPr>
        <p:spPr>
          <a:xfrm>
            <a:off x="6518786" y="1323362"/>
            <a:ext cx="4496927" cy="5078313"/>
          </a:xfrm>
          <a:prstGeom prst="rect">
            <a:avLst/>
          </a:prstGeom>
          <a:noFill/>
        </p:spPr>
        <p:txBody>
          <a:bodyPr wrap="square" rtlCol="0">
            <a:spAutoFit/>
          </a:bodyPr>
          <a:lstStyle/>
          <a:p>
            <a:r>
              <a:rPr lang="it-IT" b="1" dirty="0"/>
              <a:t>Ipotesi</a:t>
            </a:r>
            <a:r>
              <a:rPr lang="it-IT" dirty="0"/>
              <a:t>:</a:t>
            </a:r>
          </a:p>
          <a:p>
            <a:pPr marL="285750" indent="-285750">
              <a:buFont typeface="Arial" panose="020B0604020202020204" pitchFamily="34" charset="0"/>
              <a:buChar char="•"/>
            </a:pPr>
            <a:r>
              <a:rPr lang="it-IT" dirty="0"/>
              <a:t>CPU-</a:t>
            </a:r>
            <a:r>
              <a:rPr lang="it-IT" dirty="0" err="1"/>
              <a:t>Affinity</a:t>
            </a:r>
            <a:r>
              <a:rPr lang="it-IT" dirty="0"/>
              <a:t>: One to One.</a:t>
            </a:r>
          </a:p>
          <a:p>
            <a:pPr marL="285750" indent="-285750">
              <a:buFont typeface="Arial" panose="020B0604020202020204" pitchFamily="34" charset="0"/>
              <a:buChar char="•"/>
            </a:pPr>
            <a:r>
              <a:rPr lang="it-IT" dirty="0"/>
              <a:t>Configurazioni </a:t>
            </a:r>
            <a:r>
              <a:rPr lang="it-IT" dirty="0" err="1"/>
              <a:t>Scheduler</a:t>
            </a:r>
            <a:r>
              <a:rPr lang="it-IT" dirty="0"/>
              <a:t>: settaggio dei parametri dello </a:t>
            </a:r>
            <a:r>
              <a:rPr lang="it-IT" dirty="0" err="1"/>
              <a:t>scheduler</a:t>
            </a:r>
            <a:r>
              <a:rPr lang="it-IT" dirty="0"/>
              <a:t> in modo da valutare la migliore configurazione possibile (dunque per credit2 </a:t>
            </a:r>
            <a:r>
              <a:rPr lang="it-IT" dirty="0">
                <a:sym typeface="Wingdings" panose="05000000000000000000" pitchFamily="2" charset="2"/>
              </a:rPr>
              <a:t> rate </a:t>
            </a:r>
            <a:r>
              <a:rPr lang="it-IT" dirty="0" err="1">
                <a:sym typeface="Wingdings" panose="05000000000000000000" pitchFamily="2" charset="2"/>
              </a:rPr>
              <a:t>limit</a:t>
            </a:r>
            <a:r>
              <a:rPr lang="it-IT" dirty="0">
                <a:sym typeface="Wingdings" panose="05000000000000000000" pitchFamily="2" charset="2"/>
              </a:rPr>
              <a:t>= 5000 </a:t>
            </a:r>
            <a:r>
              <a:rPr lang="it-IT" dirty="0" err="1">
                <a:sym typeface="Wingdings" panose="05000000000000000000" pitchFamily="2" charset="2"/>
              </a:rPr>
              <a:t>us</a:t>
            </a:r>
            <a:r>
              <a:rPr lang="it-IT" dirty="0">
                <a:sym typeface="Wingdings" panose="05000000000000000000" pitchFamily="2" charset="2"/>
              </a:rPr>
              <a:t>, mentre per RTDS  Budget/</a:t>
            </a:r>
            <a:r>
              <a:rPr lang="it-IT" dirty="0" err="1">
                <a:sym typeface="Wingdings" panose="05000000000000000000" pitchFamily="2" charset="2"/>
              </a:rPr>
              <a:t>Period</a:t>
            </a:r>
            <a:r>
              <a:rPr lang="it-IT" dirty="0">
                <a:sym typeface="Wingdings" panose="05000000000000000000" pitchFamily="2" charset="2"/>
              </a:rPr>
              <a:t> = 1k/5k ).</a:t>
            </a:r>
          </a:p>
          <a:p>
            <a:pPr marL="285750" indent="-285750">
              <a:buFont typeface="Arial" panose="020B0604020202020204" pitchFamily="34" charset="0"/>
              <a:buChar char="•"/>
            </a:pPr>
            <a:r>
              <a:rPr lang="it-IT" dirty="0">
                <a:sym typeface="Wingdings" panose="05000000000000000000" pitchFamily="2" charset="2"/>
              </a:rPr>
              <a:t>Stress: </a:t>
            </a:r>
            <a:r>
              <a:rPr lang="it-IT" dirty="0" err="1">
                <a:sym typeface="Wingdings" panose="05000000000000000000" pitchFamily="2" charset="2"/>
              </a:rPr>
              <a:t>cpu</a:t>
            </a:r>
            <a:r>
              <a:rPr lang="it-IT" dirty="0">
                <a:sym typeface="Wingdings" panose="05000000000000000000" pitchFamily="2" charset="2"/>
              </a:rPr>
              <a:t> intensive.</a:t>
            </a:r>
          </a:p>
          <a:p>
            <a:pPr marL="285750" indent="-285750">
              <a:buFont typeface="Arial" panose="020B0604020202020204" pitchFamily="34" charset="0"/>
              <a:buChar char="•"/>
            </a:pPr>
            <a:endParaRPr lang="it-IT" dirty="0">
              <a:sym typeface="Wingdings" panose="05000000000000000000" pitchFamily="2" charset="2"/>
            </a:endParaRPr>
          </a:p>
          <a:p>
            <a:r>
              <a:rPr lang="it-IT" b="1" dirty="0">
                <a:sym typeface="Wingdings" panose="05000000000000000000" pitchFamily="2" charset="2"/>
              </a:rPr>
              <a:t>Risultato</a:t>
            </a:r>
            <a:r>
              <a:rPr lang="it-IT" dirty="0">
                <a:sym typeface="Wingdings" panose="05000000000000000000" pitchFamily="2" charset="2"/>
              </a:rPr>
              <a:t>:</a:t>
            </a:r>
          </a:p>
          <a:p>
            <a:r>
              <a:rPr lang="it-IT" dirty="0">
                <a:sym typeface="Wingdings" panose="05000000000000000000" pitchFamily="2" charset="2"/>
              </a:rPr>
              <a:t>Credit2 risulta essere il peggiore in termini di WCET. Presenta la media e la deviazione standard maggiore rispetto agli altri due.</a:t>
            </a:r>
          </a:p>
          <a:p>
            <a:r>
              <a:rPr lang="it-IT" dirty="0">
                <a:sym typeface="Wingdings" panose="05000000000000000000" pitchFamily="2" charset="2"/>
              </a:rPr>
              <a:t>RTDS migliora rispetto al caso senza </a:t>
            </a:r>
            <a:r>
              <a:rPr lang="it-IT" dirty="0" err="1">
                <a:sym typeface="Wingdings" panose="05000000000000000000" pitchFamily="2" charset="2"/>
              </a:rPr>
              <a:t>pinning</a:t>
            </a:r>
            <a:r>
              <a:rPr lang="it-IT" dirty="0">
                <a:sym typeface="Wingdings" panose="05000000000000000000" pitchFamily="2" charset="2"/>
              </a:rPr>
              <a:t>, ma presenta ancora prestazioni inferiori rispetto a NULL, che si conferma di nuovo il migliore.</a:t>
            </a:r>
            <a:endParaRPr lang="it-IT" dirty="0"/>
          </a:p>
        </p:txBody>
      </p:sp>
    </p:spTree>
    <p:extLst>
      <p:ext uri="{BB962C8B-B14F-4D97-AF65-F5344CB8AC3E}">
        <p14:creationId xmlns:p14="http://schemas.microsoft.com/office/powerpoint/2010/main" val="2219683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83116-8C87-B00B-447A-64871C69337B}"/>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D9CE73E0-9178-AF23-5434-D61497C67626}"/>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C62CE562-A222-76F9-4385-287937F122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B24A9589-C8C2-3FB3-8D86-C6B0C304E2BB}"/>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E94C3790-6328-DFBC-B114-8EF90A6C413E}"/>
              </a:ext>
            </a:extLst>
          </p:cNvPr>
          <p:cNvSpPr>
            <a:spLocks noGrp="1"/>
          </p:cNvSpPr>
          <p:nvPr>
            <p:ph type="ctrTitle"/>
          </p:nvPr>
        </p:nvSpPr>
        <p:spPr>
          <a:xfrm>
            <a:off x="914400" y="255640"/>
            <a:ext cx="10363200" cy="766915"/>
          </a:xfrm>
        </p:spPr>
        <p:txBody>
          <a:bodyPr>
            <a:normAutofit/>
          </a:bodyPr>
          <a:lstStyle/>
          <a:p>
            <a:r>
              <a:rPr lang="it-IT" dirty="0" err="1"/>
              <a:t>DoE</a:t>
            </a:r>
            <a:r>
              <a:rPr lang="it-IT" dirty="0"/>
              <a:t> – NULL vs CREDIT2 vs RTDS</a:t>
            </a:r>
          </a:p>
        </p:txBody>
      </p:sp>
      <mc:AlternateContent xmlns:mc="http://schemas.openxmlformats.org/markup-compatibility/2006" xmlns:cx1="http://schemas.microsoft.com/office/drawing/2015/9/8/chartex">
        <mc:Choice Requires="cx1">
          <p:graphicFrame>
            <p:nvGraphicFramePr>
              <p:cNvPr id="3" name="Grafico 2">
                <a:extLst>
                  <a:ext uri="{FF2B5EF4-FFF2-40B4-BE49-F238E27FC236}">
                    <a16:creationId xmlns:a16="http://schemas.microsoft.com/office/drawing/2014/main" id="{0A0CEFA3-CD1A-F7E8-B55E-32E7166F3B3C}"/>
                  </a:ext>
                </a:extLst>
              </p:cNvPr>
              <p:cNvGraphicFramePr/>
              <p:nvPr>
                <p:extLst>
                  <p:ext uri="{D42A27DB-BD31-4B8C-83A1-F6EECF244321}">
                    <p14:modId xmlns:p14="http://schemas.microsoft.com/office/powerpoint/2010/main" val="3271097331"/>
                  </p:ext>
                </p:extLst>
              </p:nvPr>
            </p:nvGraphicFramePr>
            <p:xfrm>
              <a:off x="529712" y="1344065"/>
              <a:ext cx="5408972" cy="3532735"/>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3" name="Grafico 2">
                <a:extLst>
                  <a:ext uri="{FF2B5EF4-FFF2-40B4-BE49-F238E27FC236}">
                    <a16:creationId xmlns:a16="http://schemas.microsoft.com/office/drawing/2014/main" id="{0A0CEFA3-CD1A-F7E8-B55E-32E7166F3B3C}"/>
                  </a:ext>
                </a:extLst>
              </p:cNvPr>
              <p:cNvPicPr>
                <a:picLocks noGrp="1" noRot="1" noChangeAspect="1" noMove="1" noResize="1" noEditPoints="1" noAdjustHandles="1" noChangeArrowheads="1" noChangeShapeType="1"/>
              </p:cNvPicPr>
              <p:nvPr/>
            </p:nvPicPr>
            <p:blipFill>
              <a:blip r:embed="rId5"/>
              <a:stretch>
                <a:fillRect/>
              </a:stretch>
            </p:blipFill>
            <p:spPr>
              <a:xfrm>
                <a:off x="529712" y="1344065"/>
                <a:ext cx="5408972" cy="3532735"/>
              </a:xfrm>
              <a:prstGeom prst="rect">
                <a:avLst/>
              </a:prstGeom>
            </p:spPr>
          </p:pic>
        </mc:Fallback>
      </mc:AlternateContent>
      <p:graphicFrame>
        <p:nvGraphicFramePr>
          <p:cNvPr id="6" name="Tabella 5">
            <a:extLst>
              <a:ext uri="{FF2B5EF4-FFF2-40B4-BE49-F238E27FC236}">
                <a16:creationId xmlns:a16="http://schemas.microsoft.com/office/drawing/2014/main" id="{4421F636-143E-EC10-177C-C6A4DD084AF7}"/>
              </a:ext>
            </a:extLst>
          </p:cNvPr>
          <p:cNvGraphicFramePr>
            <a:graphicFrameLocks noGrp="1"/>
          </p:cNvGraphicFramePr>
          <p:nvPr>
            <p:extLst>
              <p:ext uri="{D42A27DB-BD31-4B8C-83A1-F6EECF244321}">
                <p14:modId xmlns:p14="http://schemas.microsoft.com/office/powerpoint/2010/main" val="2905695545"/>
              </p:ext>
            </p:extLst>
          </p:nvPr>
        </p:nvGraphicFramePr>
        <p:xfrm>
          <a:off x="744384" y="5161865"/>
          <a:ext cx="5263127" cy="1042290"/>
        </p:xfrm>
        <a:graphic>
          <a:graphicData uri="http://schemas.openxmlformats.org/drawingml/2006/table">
            <a:tbl>
              <a:tblPr>
                <a:tableStyleId>{5C22544A-7EE6-4342-B048-85BDC9FD1C3A}</a:tableStyleId>
              </a:tblPr>
              <a:tblGrid>
                <a:gridCol w="1273960">
                  <a:extLst>
                    <a:ext uri="{9D8B030D-6E8A-4147-A177-3AD203B41FA5}">
                      <a16:colId xmlns:a16="http://schemas.microsoft.com/office/drawing/2014/main" val="392413819"/>
                    </a:ext>
                  </a:extLst>
                </a:gridCol>
                <a:gridCol w="1364038">
                  <a:extLst>
                    <a:ext uri="{9D8B030D-6E8A-4147-A177-3AD203B41FA5}">
                      <a16:colId xmlns:a16="http://schemas.microsoft.com/office/drawing/2014/main" val="511122455"/>
                    </a:ext>
                  </a:extLst>
                </a:gridCol>
                <a:gridCol w="1248223">
                  <a:extLst>
                    <a:ext uri="{9D8B030D-6E8A-4147-A177-3AD203B41FA5}">
                      <a16:colId xmlns:a16="http://schemas.microsoft.com/office/drawing/2014/main" val="3606192151"/>
                    </a:ext>
                  </a:extLst>
                </a:gridCol>
                <a:gridCol w="1376906">
                  <a:extLst>
                    <a:ext uri="{9D8B030D-6E8A-4147-A177-3AD203B41FA5}">
                      <a16:colId xmlns:a16="http://schemas.microsoft.com/office/drawing/2014/main" val="3294566453"/>
                    </a:ext>
                  </a:extLst>
                </a:gridCol>
              </a:tblGrid>
              <a:tr h="347430">
                <a:tc>
                  <a:txBody>
                    <a:bodyPr/>
                    <a:lstStyle/>
                    <a:p>
                      <a:pPr algn="l" fontAlgn="b"/>
                      <a:r>
                        <a:rPr lang="it-IT" sz="1100" u="none" strike="noStrike" dirty="0">
                          <a:effectLst/>
                        </a:rPr>
                        <a:t>Parametri</a:t>
                      </a:r>
                      <a:endParaRPr lang="it-IT" sz="1100" b="1" i="0" u="none" strike="noStrike" dirty="0">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NULL</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CREDIT2_5000</a:t>
                      </a:r>
                      <a:endParaRPr lang="it-IT" sz="1100" b="1" i="0" u="none" strike="noStrike">
                        <a:solidFill>
                          <a:srgbClr val="FFFFFF"/>
                        </a:solidFill>
                        <a:effectLst/>
                        <a:latin typeface="Aptos Narrow" panose="020B0004020202020204" pitchFamily="34" charset="0"/>
                      </a:endParaRPr>
                    </a:p>
                  </a:txBody>
                  <a:tcPr marL="7620" marR="7620" marT="7620" marB="0" anchor="b"/>
                </a:tc>
                <a:tc>
                  <a:txBody>
                    <a:bodyPr/>
                    <a:lstStyle/>
                    <a:p>
                      <a:pPr algn="l" fontAlgn="b"/>
                      <a:r>
                        <a:rPr lang="it-IT" sz="1100" u="none" strike="noStrike">
                          <a:effectLst/>
                        </a:rPr>
                        <a:t>RTDS_1K5K</a:t>
                      </a:r>
                      <a:endParaRPr lang="it-IT" sz="1100" b="1" i="0" u="none" strike="noStrike">
                        <a:solidFill>
                          <a:srgbClr val="FFFFFF"/>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69836306"/>
                  </a:ext>
                </a:extLst>
              </a:tr>
              <a:tr h="347430">
                <a:tc>
                  <a:txBody>
                    <a:bodyPr/>
                    <a:lstStyle/>
                    <a:p>
                      <a:pPr algn="l" fontAlgn="b"/>
                      <a:r>
                        <a:rPr lang="it-IT" sz="1100" u="none" strike="noStrike">
                          <a:effectLst/>
                        </a:rPr>
                        <a:t>Media [us]</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2839</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2839,6</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2838,2</a:t>
                      </a:r>
                      <a:endParaRPr lang="it-IT"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19226840"/>
                  </a:ext>
                </a:extLst>
              </a:tr>
              <a:tr h="347430">
                <a:tc>
                  <a:txBody>
                    <a:bodyPr/>
                    <a:lstStyle/>
                    <a:p>
                      <a:pPr algn="l" fontAlgn="b"/>
                      <a:r>
                        <a:rPr lang="it-IT" sz="1100" u="none" strike="noStrike">
                          <a:effectLst/>
                        </a:rPr>
                        <a:t>SD</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3,741657387</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a:effectLst/>
                        </a:rPr>
                        <a:t>3,646916506</a:t>
                      </a:r>
                      <a:endParaRPr lang="it-IT"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it-IT" sz="1100" u="none" strike="noStrike" dirty="0">
                          <a:effectLst/>
                        </a:rPr>
                        <a:t>2,683281573</a:t>
                      </a:r>
                      <a:endParaRPr lang="it-IT"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085611535"/>
                  </a:ext>
                </a:extLst>
              </a:tr>
            </a:tbl>
          </a:graphicData>
        </a:graphic>
      </p:graphicFrame>
      <p:sp>
        <p:nvSpPr>
          <p:cNvPr id="13" name="CasellaDiTesto 12">
            <a:extLst>
              <a:ext uri="{FF2B5EF4-FFF2-40B4-BE49-F238E27FC236}">
                <a16:creationId xmlns:a16="http://schemas.microsoft.com/office/drawing/2014/main" id="{B0DD8DD0-710E-4B98-B4F2-8CC617824D1A}"/>
              </a:ext>
            </a:extLst>
          </p:cNvPr>
          <p:cNvSpPr txBox="1"/>
          <p:nvPr/>
        </p:nvSpPr>
        <p:spPr>
          <a:xfrm>
            <a:off x="6641690" y="1344065"/>
            <a:ext cx="4714568" cy="4524315"/>
          </a:xfrm>
          <a:prstGeom prst="rect">
            <a:avLst/>
          </a:prstGeom>
          <a:noFill/>
        </p:spPr>
        <p:txBody>
          <a:bodyPr wrap="square">
            <a:spAutoFit/>
          </a:bodyPr>
          <a:lstStyle/>
          <a:p>
            <a:r>
              <a:rPr lang="it-IT" b="1" dirty="0"/>
              <a:t>Ipotesi</a:t>
            </a:r>
            <a:r>
              <a:rPr lang="it-IT" dirty="0"/>
              <a:t>:</a:t>
            </a:r>
          </a:p>
          <a:p>
            <a:pPr marL="285750" indent="-285750">
              <a:buFont typeface="Arial" panose="020B0604020202020204" pitchFamily="34" charset="0"/>
              <a:buChar char="•"/>
            </a:pPr>
            <a:r>
              <a:rPr lang="it-IT" dirty="0"/>
              <a:t>CPU-</a:t>
            </a:r>
            <a:r>
              <a:rPr lang="it-IT" dirty="0" err="1"/>
              <a:t>Affinity</a:t>
            </a:r>
            <a:r>
              <a:rPr lang="it-IT" dirty="0"/>
              <a:t>: One to One.</a:t>
            </a:r>
          </a:p>
          <a:p>
            <a:pPr marL="285750" indent="-285750">
              <a:buFont typeface="Arial" panose="020B0604020202020204" pitchFamily="34" charset="0"/>
              <a:buChar char="•"/>
            </a:pPr>
            <a:r>
              <a:rPr lang="it-IT" dirty="0"/>
              <a:t>Configurazioni </a:t>
            </a:r>
            <a:r>
              <a:rPr lang="it-IT" dirty="0" err="1"/>
              <a:t>Scheduler</a:t>
            </a:r>
            <a:r>
              <a:rPr lang="it-IT" dirty="0"/>
              <a:t>: settaggio dei parametri dello </a:t>
            </a:r>
            <a:r>
              <a:rPr lang="it-IT" dirty="0" err="1"/>
              <a:t>scheduler</a:t>
            </a:r>
            <a:r>
              <a:rPr lang="it-IT" dirty="0"/>
              <a:t> in modo da valutare la migliore configurazione possibile (dunque per credit2 </a:t>
            </a:r>
            <a:r>
              <a:rPr lang="it-IT" dirty="0">
                <a:sym typeface="Wingdings" panose="05000000000000000000" pitchFamily="2" charset="2"/>
              </a:rPr>
              <a:t> rate </a:t>
            </a:r>
            <a:r>
              <a:rPr lang="it-IT" dirty="0" err="1">
                <a:sym typeface="Wingdings" panose="05000000000000000000" pitchFamily="2" charset="2"/>
              </a:rPr>
              <a:t>limit</a:t>
            </a:r>
            <a:r>
              <a:rPr lang="it-IT" dirty="0">
                <a:sym typeface="Wingdings" panose="05000000000000000000" pitchFamily="2" charset="2"/>
              </a:rPr>
              <a:t>= 5000 </a:t>
            </a:r>
            <a:r>
              <a:rPr lang="it-IT" dirty="0" err="1">
                <a:sym typeface="Wingdings" panose="05000000000000000000" pitchFamily="2" charset="2"/>
              </a:rPr>
              <a:t>us</a:t>
            </a:r>
            <a:r>
              <a:rPr lang="it-IT" dirty="0">
                <a:sym typeface="Wingdings" panose="05000000000000000000" pitchFamily="2" charset="2"/>
              </a:rPr>
              <a:t>, mentre per RTDS  Budget/</a:t>
            </a:r>
            <a:r>
              <a:rPr lang="it-IT" dirty="0" err="1">
                <a:sym typeface="Wingdings" panose="05000000000000000000" pitchFamily="2" charset="2"/>
              </a:rPr>
              <a:t>Period</a:t>
            </a:r>
            <a:r>
              <a:rPr lang="it-IT" dirty="0">
                <a:sym typeface="Wingdings" panose="05000000000000000000" pitchFamily="2" charset="2"/>
              </a:rPr>
              <a:t> = 1k/5k ).</a:t>
            </a:r>
          </a:p>
          <a:p>
            <a:pPr marL="285750" indent="-285750">
              <a:buFont typeface="Arial" panose="020B0604020202020204" pitchFamily="34" charset="0"/>
              <a:buChar char="•"/>
            </a:pPr>
            <a:r>
              <a:rPr lang="it-IT" dirty="0">
                <a:sym typeface="Wingdings" panose="05000000000000000000" pitchFamily="2" charset="2"/>
              </a:rPr>
              <a:t>Stress: NESSUNO STRESS APPLICATO.</a:t>
            </a:r>
          </a:p>
          <a:p>
            <a:pPr marL="285750" indent="-285750">
              <a:buFont typeface="Arial" panose="020B0604020202020204" pitchFamily="34" charset="0"/>
              <a:buChar char="•"/>
            </a:pPr>
            <a:endParaRPr lang="it-IT" dirty="0">
              <a:sym typeface="Wingdings" panose="05000000000000000000" pitchFamily="2" charset="2"/>
            </a:endParaRPr>
          </a:p>
          <a:p>
            <a:r>
              <a:rPr lang="it-IT" b="1" dirty="0">
                <a:sym typeface="Wingdings" panose="05000000000000000000" pitchFamily="2" charset="2"/>
              </a:rPr>
              <a:t>Risultato</a:t>
            </a:r>
            <a:r>
              <a:rPr lang="it-IT" dirty="0">
                <a:sym typeface="Wingdings" panose="05000000000000000000" pitchFamily="2" charset="2"/>
              </a:rPr>
              <a:t>:</a:t>
            </a:r>
          </a:p>
          <a:p>
            <a:r>
              <a:rPr lang="it-IT" dirty="0">
                <a:sym typeface="Wingdings" panose="05000000000000000000" pitchFamily="2" charset="2"/>
              </a:rPr>
              <a:t>I tre </a:t>
            </a:r>
            <a:r>
              <a:rPr lang="it-IT" dirty="0" err="1">
                <a:sym typeface="Wingdings" panose="05000000000000000000" pitchFamily="2" charset="2"/>
              </a:rPr>
              <a:t>scheduler</a:t>
            </a:r>
            <a:r>
              <a:rPr lang="it-IT" dirty="0">
                <a:sym typeface="Wingdings" panose="05000000000000000000" pitchFamily="2" charset="2"/>
              </a:rPr>
              <a:t> non presentano differenze statistiche in termini di WCET. A prima vista RTDS sembra avere una deviazione standard inferiore rispetto agli altri ma potrebbe essere dovuto al numero di ripetizioni per ogni esperimento ( solo 5).</a:t>
            </a:r>
            <a:endParaRPr lang="it-IT" dirty="0"/>
          </a:p>
        </p:txBody>
      </p:sp>
    </p:spTree>
    <p:extLst>
      <p:ext uri="{BB962C8B-B14F-4D97-AF65-F5344CB8AC3E}">
        <p14:creationId xmlns:p14="http://schemas.microsoft.com/office/powerpoint/2010/main" val="4263153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9782A-6C7B-4266-1CFD-57B4FE7E0F82}"/>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55FA49ED-3EC4-638E-2F66-0D1F1EB41A5D}"/>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32C8E70D-4D08-7C1D-954F-36344A285D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19DB80BA-F732-697E-8456-28F9D8169A0C}"/>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92E935DA-C464-5288-8C44-E4FF17E32921}"/>
              </a:ext>
            </a:extLst>
          </p:cNvPr>
          <p:cNvSpPr>
            <a:spLocks noGrp="1"/>
          </p:cNvSpPr>
          <p:nvPr>
            <p:ph type="ctrTitle"/>
          </p:nvPr>
        </p:nvSpPr>
        <p:spPr>
          <a:xfrm>
            <a:off x="914400" y="255640"/>
            <a:ext cx="10363200" cy="766915"/>
          </a:xfrm>
        </p:spPr>
        <p:txBody>
          <a:bodyPr>
            <a:normAutofit/>
          </a:bodyPr>
          <a:lstStyle/>
          <a:p>
            <a:r>
              <a:rPr lang="it-IT" dirty="0"/>
              <a:t>7. Confronto con VM classica</a:t>
            </a:r>
          </a:p>
        </p:txBody>
      </p:sp>
      <p:sp>
        <p:nvSpPr>
          <p:cNvPr id="5" name="CasellaDiTesto 4">
            <a:extLst>
              <a:ext uri="{FF2B5EF4-FFF2-40B4-BE49-F238E27FC236}">
                <a16:creationId xmlns:a16="http://schemas.microsoft.com/office/drawing/2014/main" id="{5D2BD152-373A-45A8-D035-A3D311B372BF}"/>
              </a:ext>
            </a:extLst>
          </p:cNvPr>
          <p:cNvSpPr txBox="1"/>
          <p:nvPr/>
        </p:nvSpPr>
        <p:spPr>
          <a:xfrm>
            <a:off x="511277" y="1524000"/>
            <a:ext cx="10697497" cy="1754326"/>
          </a:xfrm>
          <a:prstGeom prst="rect">
            <a:avLst/>
          </a:prstGeom>
          <a:noFill/>
        </p:spPr>
        <p:txBody>
          <a:bodyPr wrap="square" rtlCol="0">
            <a:spAutoFit/>
          </a:bodyPr>
          <a:lstStyle/>
          <a:p>
            <a:pPr marL="285750" indent="-285750">
              <a:buFont typeface="Arial" panose="020B0604020202020204" pitchFamily="34" charset="0"/>
              <a:buChar char="•"/>
            </a:pPr>
            <a:r>
              <a:rPr lang="it-IT" dirty="0"/>
              <a:t>Per effettuare le misurazioni su una VM classica è necessario creare un </a:t>
            </a:r>
            <a:r>
              <a:rPr lang="it-IT" dirty="0" err="1"/>
              <a:t>dom</a:t>
            </a:r>
            <a:r>
              <a:rPr lang="it-IT" dirty="0"/>
              <a:t>-U PV (o anche HVM).</a:t>
            </a:r>
          </a:p>
          <a:p>
            <a:pPr marL="285750" indent="-285750">
              <a:buFont typeface="Arial" panose="020B0604020202020204" pitchFamily="34" charset="0"/>
              <a:buChar char="•"/>
            </a:pPr>
            <a:r>
              <a:rPr lang="it-IT" dirty="0"/>
              <a:t>Per cui seguendo le guide riportate nel documento ‘’</a:t>
            </a:r>
            <a:r>
              <a:rPr lang="it-IT" dirty="0" err="1"/>
              <a:t>PV_domU_HowTo</a:t>
            </a:r>
            <a:r>
              <a:rPr lang="it-IT" dirty="0"/>
              <a:t>’’ è stata installata una macchina virtuale in modalità PV come </a:t>
            </a:r>
            <a:r>
              <a:rPr lang="it-IT" dirty="0" err="1"/>
              <a:t>dom</a:t>
            </a:r>
            <a:r>
              <a:rPr lang="it-IT" dirty="0"/>
              <a:t>-U su </a:t>
            </a:r>
            <a:r>
              <a:rPr lang="it-IT" dirty="0" err="1"/>
              <a:t>Xen</a:t>
            </a:r>
            <a:r>
              <a:rPr lang="it-IT" dirty="0"/>
              <a:t>.</a:t>
            </a:r>
          </a:p>
          <a:p>
            <a:pPr marL="285750" indent="-285750">
              <a:buFont typeface="Arial" panose="020B0604020202020204" pitchFamily="34" charset="0"/>
              <a:buChar char="•"/>
            </a:pPr>
            <a:r>
              <a:rPr lang="it-IT" dirty="0"/>
              <a:t>L’obiettivo è effettuare la </a:t>
            </a:r>
            <a:r>
              <a:rPr lang="it-IT" dirty="0" err="1"/>
              <a:t>run</a:t>
            </a:r>
            <a:r>
              <a:rPr lang="it-IT" dirty="0"/>
              <a:t> del codice ‘</a:t>
            </a:r>
            <a:r>
              <a:rPr lang="it-IT" dirty="0" err="1"/>
              <a:t>dijkstra</a:t>
            </a:r>
            <a:r>
              <a:rPr lang="it-IT" dirty="0"/>
              <a:t>’ su una </a:t>
            </a:r>
            <a:r>
              <a:rPr lang="it-IT" dirty="0" err="1"/>
              <a:t>vm</a:t>
            </a:r>
            <a:r>
              <a:rPr lang="it-IT" dirty="0"/>
              <a:t> classica (non </a:t>
            </a:r>
            <a:r>
              <a:rPr lang="it-IT" dirty="0" err="1"/>
              <a:t>unikernel</a:t>
            </a:r>
            <a:r>
              <a:rPr lang="it-IT" dirty="0"/>
              <a:t>) per confrontarne le prestazioni.</a:t>
            </a:r>
          </a:p>
          <a:p>
            <a:endParaRPr lang="it-IT" dirty="0"/>
          </a:p>
        </p:txBody>
      </p:sp>
      <p:pic>
        <p:nvPicPr>
          <p:cNvPr id="7" name="Immagine 6" descr="Immagine che contiene testo, schermata, Carattere, numero&#10;&#10;Il contenuto generato dall'IA potrebbe non essere corretto.">
            <a:extLst>
              <a:ext uri="{FF2B5EF4-FFF2-40B4-BE49-F238E27FC236}">
                <a16:creationId xmlns:a16="http://schemas.microsoft.com/office/drawing/2014/main" id="{216ED776-60D2-1079-F4DD-AB8531E1E7F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1278" y="2998865"/>
            <a:ext cx="4788310" cy="3054630"/>
          </a:xfrm>
          <a:prstGeom prst="rect">
            <a:avLst/>
          </a:prstGeom>
          <a:noFill/>
          <a:ln>
            <a:noFill/>
          </a:ln>
        </p:spPr>
      </p:pic>
      <p:sp>
        <p:nvSpPr>
          <p:cNvPr id="8" name="CasellaDiTesto 7">
            <a:extLst>
              <a:ext uri="{FF2B5EF4-FFF2-40B4-BE49-F238E27FC236}">
                <a16:creationId xmlns:a16="http://schemas.microsoft.com/office/drawing/2014/main" id="{8805AB9B-7472-F3E4-6967-405FC3836AC2}"/>
              </a:ext>
            </a:extLst>
          </p:cNvPr>
          <p:cNvSpPr txBox="1"/>
          <p:nvPr/>
        </p:nvSpPr>
        <p:spPr>
          <a:xfrm>
            <a:off x="5594555" y="3429000"/>
            <a:ext cx="5309419" cy="2031325"/>
          </a:xfrm>
          <a:prstGeom prst="rect">
            <a:avLst/>
          </a:prstGeom>
          <a:noFill/>
        </p:spPr>
        <p:txBody>
          <a:bodyPr wrap="square" rtlCol="0">
            <a:spAutoFit/>
          </a:bodyPr>
          <a:lstStyle/>
          <a:p>
            <a:r>
              <a:rPr lang="it-IT" dirty="0"/>
              <a:t>A causa dell’errore riscontrato al reboot della macchina fisica (vedi slide n° 49), non è stato possibile effettuare le catture sulla VM installata.</a:t>
            </a:r>
          </a:p>
          <a:p>
            <a:endParaRPr lang="it-IT" dirty="0"/>
          </a:p>
          <a:p>
            <a:endParaRPr lang="it-IT" dirty="0"/>
          </a:p>
          <a:p>
            <a:endParaRPr lang="it-IT" dirty="0"/>
          </a:p>
          <a:p>
            <a:endParaRPr lang="it-IT" dirty="0"/>
          </a:p>
        </p:txBody>
      </p:sp>
      <p:sp>
        <p:nvSpPr>
          <p:cNvPr id="11" name="Rettangolo 10">
            <a:extLst>
              <a:ext uri="{FF2B5EF4-FFF2-40B4-BE49-F238E27FC236}">
                <a16:creationId xmlns:a16="http://schemas.microsoft.com/office/drawing/2014/main" id="{6B48C5D9-220F-75A6-E66D-B3FE2181EEBC}"/>
              </a:ext>
            </a:extLst>
          </p:cNvPr>
          <p:cNvSpPr/>
          <p:nvPr/>
        </p:nvSpPr>
        <p:spPr>
          <a:xfrm>
            <a:off x="7131810" y="4721661"/>
            <a:ext cx="2234907" cy="923330"/>
          </a:xfrm>
          <a:prstGeom prst="rect">
            <a:avLst/>
          </a:prstGeom>
          <a:noFill/>
        </p:spPr>
        <p:txBody>
          <a:bodyPr wrap="none" lIns="91440" tIns="45720" rIns="91440" bIns="45720">
            <a:spAutoFit/>
          </a:bodyPr>
          <a:lstStyle/>
          <a:p>
            <a:pPr algn="ctr"/>
            <a:r>
              <a:rPr lang="it-IT" sz="5400" b="1" cap="none" spc="0" dirty="0">
                <a:ln w="22225">
                  <a:solidFill>
                    <a:schemeClr val="accent2"/>
                  </a:solidFill>
                  <a:prstDash val="solid"/>
                </a:ln>
                <a:solidFill>
                  <a:schemeClr val="accent2">
                    <a:lumMod val="40000"/>
                    <a:lumOff val="60000"/>
                  </a:schemeClr>
                </a:solidFill>
                <a:effectLst/>
              </a:rPr>
              <a:t>MA . . .</a:t>
            </a:r>
          </a:p>
        </p:txBody>
      </p:sp>
    </p:spTree>
    <p:extLst>
      <p:ext uri="{BB962C8B-B14F-4D97-AF65-F5344CB8AC3E}">
        <p14:creationId xmlns:p14="http://schemas.microsoft.com/office/powerpoint/2010/main" val="1826445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47189-DA2F-C0F5-7B30-A0C38F641867}"/>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4B818F93-9A16-F703-8350-65E102079A5D}"/>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4239044B-9B6A-66A7-D986-B33147D2F8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86CFE840-6FE6-1938-A0F8-A7A2BA81D13D}"/>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112F0B67-D6DB-4024-617D-CCD8734CD951}"/>
              </a:ext>
            </a:extLst>
          </p:cNvPr>
          <p:cNvSpPr>
            <a:spLocks noGrp="1"/>
          </p:cNvSpPr>
          <p:nvPr>
            <p:ph type="ctrTitle"/>
          </p:nvPr>
        </p:nvSpPr>
        <p:spPr>
          <a:xfrm>
            <a:off x="914400" y="255640"/>
            <a:ext cx="10363200" cy="766915"/>
          </a:xfrm>
        </p:spPr>
        <p:txBody>
          <a:bodyPr>
            <a:normAutofit/>
          </a:bodyPr>
          <a:lstStyle/>
          <a:p>
            <a:r>
              <a:rPr lang="it-IT" dirty="0"/>
              <a:t>7. Confronto con VM classica</a:t>
            </a:r>
          </a:p>
        </p:txBody>
      </p:sp>
      <p:sp>
        <p:nvSpPr>
          <p:cNvPr id="6" name="CasellaDiTesto 5">
            <a:extLst>
              <a:ext uri="{FF2B5EF4-FFF2-40B4-BE49-F238E27FC236}">
                <a16:creationId xmlns:a16="http://schemas.microsoft.com/office/drawing/2014/main" id="{9C30886A-F6DA-B76F-EB20-72F381A03A29}"/>
              </a:ext>
            </a:extLst>
          </p:cNvPr>
          <p:cNvSpPr txBox="1"/>
          <p:nvPr/>
        </p:nvSpPr>
        <p:spPr>
          <a:xfrm>
            <a:off x="14286" y="1270507"/>
            <a:ext cx="3743632" cy="1107996"/>
          </a:xfrm>
          <a:prstGeom prst="rect">
            <a:avLst/>
          </a:prstGeom>
          <a:noFill/>
        </p:spPr>
        <p:txBody>
          <a:bodyPr wrap="square">
            <a:spAutoFit/>
          </a:bodyPr>
          <a:lstStyle/>
          <a:p>
            <a:pPr algn="ctr"/>
            <a:r>
              <a:rPr lang="it-IT" sz="6600" b="1" cap="none" spc="0" dirty="0">
                <a:ln w="22225">
                  <a:solidFill>
                    <a:schemeClr val="accent2"/>
                  </a:solidFill>
                  <a:prstDash val="solid"/>
                </a:ln>
                <a:solidFill>
                  <a:schemeClr val="accent2">
                    <a:lumMod val="40000"/>
                    <a:lumOff val="60000"/>
                  </a:schemeClr>
                </a:solidFill>
                <a:effectLst/>
              </a:rPr>
              <a:t>MA . . .</a:t>
            </a:r>
          </a:p>
        </p:txBody>
      </p:sp>
      <p:sp>
        <p:nvSpPr>
          <p:cNvPr id="12" name="CasellaDiTesto 11">
            <a:extLst>
              <a:ext uri="{FF2B5EF4-FFF2-40B4-BE49-F238E27FC236}">
                <a16:creationId xmlns:a16="http://schemas.microsoft.com/office/drawing/2014/main" id="{09B9D742-E1D0-35D9-F4AC-D5AFD0FEC7D9}"/>
              </a:ext>
            </a:extLst>
          </p:cNvPr>
          <p:cNvSpPr txBox="1"/>
          <p:nvPr/>
        </p:nvSpPr>
        <p:spPr>
          <a:xfrm>
            <a:off x="619432" y="2566219"/>
            <a:ext cx="10146891" cy="2308324"/>
          </a:xfrm>
          <a:prstGeom prst="rect">
            <a:avLst/>
          </a:prstGeom>
          <a:noFill/>
        </p:spPr>
        <p:txBody>
          <a:bodyPr wrap="square" rtlCol="0">
            <a:spAutoFit/>
          </a:bodyPr>
          <a:lstStyle/>
          <a:p>
            <a:r>
              <a:rPr lang="it-IT" dirty="0"/>
              <a:t>Per curiosità ho provato a lanciare il codice </a:t>
            </a:r>
            <a:r>
              <a:rPr lang="it-IT" b="1" dirty="0"/>
              <a:t>NON</a:t>
            </a:r>
            <a:r>
              <a:rPr lang="it-IT" dirty="0"/>
              <a:t> ‘’</a:t>
            </a:r>
            <a:r>
              <a:rPr lang="it-IT" dirty="0" err="1"/>
              <a:t>unikernellizzato</a:t>
            </a:r>
            <a:r>
              <a:rPr lang="it-IT" dirty="0"/>
              <a:t>’’ direttamente sul dom-0, in particolare:</a:t>
            </a:r>
          </a:p>
          <a:p>
            <a:pPr marL="342900" indent="-342900">
              <a:buFont typeface="+mj-lt"/>
              <a:buAutoNum type="arabicPeriod"/>
            </a:pPr>
            <a:r>
              <a:rPr lang="it-IT" b="1" dirty="0" err="1"/>
              <a:t>Scheduler</a:t>
            </a:r>
            <a:r>
              <a:rPr lang="it-IT" dirty="0"/>
              <a:t>: credit2 in configurazione di default.</a:t>
            </a:r>
          </a:p>
          <a:p>
            <a:pPr marL="342900" indent="-342900">
              <a:buFont typeface="+mj-lt"/>
              <a:buAutoNum type="arabicPeriod"/>
            </a:pPr>
            <a:r>
              <a:rPr lang="it-IT" b="1" dirty="0"/>
              <a:t>Dom0_mem</a:t>
            </a:r>
            <a:r>
              <a:rPr lang="it-IT" dirty="0"/>
              <a:t>: 8 GB.</a:t>
            </a:r>
          </a:p>
          <a:p>
            <a:pPr marL="342900" indent="-342900">
              <a:buFont typeface="+mj-lt"/>
              <a:buAutoNum type="arabicPeriod"/>
            </a:pPr>
            <a:r>
              <a:rPr lang="it-IT" b="1" dirty="0"/>
              <a:t>Dom0_vcpu</a:t>
            </a:r>
            <a:r>
              <a:rPr lang="it-IT" dirty="0"/>
              <a:t>: 12.</a:t>
            </a:r>
          </a:p>
          <a:p>
            <a:pPr marL="342900" indent="-342900">
              <a:buFont typeface="+mj-lt"/>
              <a:buAutoNum type="arabicPeriod"/>
            </a:pPr>
            <a:r>
              <a:rPr lang="it-IT" b="1" dirty="0"/>
              <a:t>Stress</a:t>
            </a:r>
            <a:r>
              <a:rPr lang="it-IT" dirty="0"/>
              <a:t>: Nessuno stress applicato.</a:t>
            </a:r>
          </a:p>
          <a:p>
            <a:pPr marL="342900" indent="-342900">
              <a:buFont typeface="+mj-lt"/>
              <a:buAutoNum type="arabicPeriod"/>
            </a:pPr>
            <a:r>
              <a:rPr lang="it-IT" b="1" dirty="0" err="1"/>
              <a:t>Pinning</a:t>
            </a:r>
            <a:r>
              <a:rPr lang="it-IT" b="1" dirty="0"/>
              <a:t>: </a:t>
            </a:r>
            <a:r>
              <a:rPr lang="it-IT" dirty="0"/>
              <a:t>No </a:t>
            </a:r>
            <a:r>
              <a:rPr lang="it-IT" dirty="0" err="1"/>
              <a:t>Pinning</a:t>
            </a:r>
            <a:r>
              <a:rPr lang="it-IT" dirty="0"/>
              <a:t>.</a:t>
            </a:r>
          </a:p>
          <a:p>
            <a:r>
              <a:rPr lang="it-IT" b="1" dirty="0"/>
              <a:t>Tali condizioni sono esattamente le stesse sotto le quali sono state effettuate le catture del </a:t>
            </a:r>
            <a:r>
              <a:rPr lang="it-IT" b="1" dirty="0" err="1"/>
              <a:t>DoE</a:t>
            </a:r>
            <a:r>
              <a:rPr lang="it-IT" b="1" dirty="0"/>
              <a:t> al </a:t>
            </a:r>
            <a:r>
              <a:rPr lang="it-IT" b="1" dirty="0" err="1"/>
              <a:t>parargrafo</a:t>
            </a:r>
            <a:r>
              <a:rPr lang="it-IT" b="1" dirty="0"/>
              <a:t> ‘Design of Experiment – </a:t>
            </a:r>
            <a:r>
              <a:rPr lang="it-IT" b="1" dirty="0" err="1"/>
              <a:t>Dijkstra</a:t>
            </a:r>
            <a:r>
              <a:rPr lang="it-IT" b="1" dirty="0"/>
              <a:t>’ .</a:t>
            </a:r>
          </a:p>
        </p:txBody>
      </p:sp>
      <p:graphicFrame>
        <p:nvGraphicFramePr>
          <p:cNvPr id="13" name="Tabella 12">
            <a:extLst>
              <a:ext uri="{FF2B5EF4-FFF2-40B4-BE49-F238E27FC236}">
                <a16:creationId xmlns:a16="http://schemas.microsoft.com/office/drawing/2014/main" id="{B29F3210-F2C2-037F-317D-E69B237E955B}"/>
              </a:ext>
            </a:extLst>
          </p:cNvPr>
          <p:cNvGraphicFramePr>
            <a:graphicFrameLocks noGrp="1"/>
          </p:cNvGraphicFramePr>
          <p:nvPr>
            <p:extLst>
              <p:ext uri="{D42A27DB-BD31-4B8C-83A1-F6EECF244321}">
                <p14:modId xmlns:p14="http://schemas.microsoft.com/office/powerpoint/2010/main" val="4024086775"/>
              </p:ext>
            </p:extLst>
          </p:nvPr>
        </p:nvGraphicFramePr>
        <p:xfrm>
          <a:off x="1886102" y="5039728"/>
          <a:ext cx="8128000" cy="1280160"/>
        </p:xfrm>
        <a:graphic>
          <a:graphicData uri="http://schemas.openxmlformats.org/drawingml/2006/table">
            <a:tbl>
              <a:tblPr firstRow="1" bandRow="1">
                <a:tableStyleId>{D27102A9-8310-4765-A935-A1911B00CA55}</a:tableStyleId>
              </a:tblPr>
              <a:tblGrid>
                <a:gridCol w="4064000">
                  <a:extLst>
                    <a:ext uri="{9D8B030D-6E8A-4147-A177-3AD203B41FA5}">
                      <a16:colId xmlns:a16="http://schemas.microsoft.com/office/drawing/2014/main" val="127620023"/>
                    </a:ext>
                  </a:extLst>
                </a:gridCol>
                <a:gridCol w="4064000">
                  <a:extLst>
                    <a:ext uri="{9D8B030D-6E8A-4147-A177-3AD203B41FA5}">
                      <a16:colId xmlns:a16="http://schemas.microsoft.com/office/drawing/2014/main" val="195383512"/>
                    </a:ext>
                  </a:extLst>
                </a:gridCol>
              </a:tblGrid>
              <a:tr h="370840">
                <a:tc>
                  <a:txBody>
                    <a:bodyPr/>
                    <a:lstStyle/>
                    <a:p>
                      <a:r>
                        <a:rPr lang="it-IT" dirty="0"/>
                        <a:t>Tempi Medi con VM </a:t>
                      </a:r>
                      <a:r>
                        <a:rPr lang="it-IT" dirty="0" err="1"/>
                        <a:t>Unikraft</a:t>
                      </a:r>
                      <a:endParaRPr lang="it-IT" dirty="0"/>
                    </a:p>
                  </a:txBody>
                  <a:tcPr/>
                </a:tc>
                <a:tc>
                  <a:txBody>
                    <a:bodyPr/>
                    <a:lstStyle/>
                    <a:p>
                      <a:r>
                        <a:rPr lang="it-IT" dirty="0"/>
                        <a:t>Tempi medi esecuzione su Dom-0 (non </a:t>
                      </a:r>
                      <a:r>
                        <a:rPr lang="it-IT" dirty="0" err="1"/>
                        <a:t>unikernellizzato</a:t>
                      </a:r>
                      <a:r>
                        <a:rPr lang="it-IT" dirty="0"/>
                        <a:t>)</a:t>
                      </a:r>
                    </a:p>
                  </a:txBody>
                  <a:tcPr/>
                </a:tc>
                <a:extLst>
                  <a:ext uri="{0D108BD9-81ED-4DB2-BD59-A6C34878D82A}">
                    <a16:rowId xmlns:a16="http://schemas.microsoft.com/office/drawing/2014/main" val="231503290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dirty="0"/>
                        <a:t> 2850 </a:t>
                      </a:r>
                      <a:r>
                        <a:rPr lang="it-IT" dirty="0" err="1"/>
                        <a:t>us</a:t>
                      </a:r>
                      <a:r>
                        <a:rPr lang="it-IT" dirty="0"/>
                        <a:t> (circa)</a:t>
                      </a:r>
                    </a:p>
                    <a:p>
                      <a:endParaRPr lang="it-IT" dirty="0"/>
                    </a:p>
                  </a:txBody>
                  <a:tcPr/>
                </a:tc>
                <a:tc>
                  <a:txBody>
                    <a:bodyPr/>
                    <a:lstStyle/>
                    <a:p>
                      <a:r>
                        <a:rPr lang="it-IT" dirty="0"/>
                        <a:t>13000 </a:t>
                      </a:r>
                      <a:r>
                        <a:rPr lang="it-IT" dirty="0" err="1"/>
                        <a:t>us</a:t>
                      </a:r>
                      <a:r>
                        <a:rPr lang="it-IT" dirty="0"/>
                        <a:t> (circa)</a:t>
                      </a:r>
                    </a:p>
                  </a:txBody>
                  <a:tcPr/>
                </a:tc>
                <a:extLst>
                  <a:ext uri="{0D108BD9-81ED-4DB2-BD59-A6C34878D82A}">
                    <a16:rowId xmlns:a16="http://schemas.microsoft.com/office/drawing/2014/main" val="3614277381"/>
                  </a:ext>
                </a:extLst>
              </a:tr>
            </a:tbl>
          </a:graphicData>
        </a:graphic>
      </p:graphicFrame>
    </p:spTree>
    <p:extLst>
      <p:ext uri="{BB962C8B-B14F-4D97-AF65-F5344CB8AC3E}">
        <p14:creationId xmlns:p14="http://schemas.microsoft.com/office/powerpoint/2010/main" val="1896122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75D7-1817-E097-11BB-063DF786B27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A3A8BA27-2194-E079-B443-A2121F2D1EF8}"/>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37EBF760-E74D-C971-51F0-3667F26AC4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E7723009-801D-6331-B449-BC60F15C4632}"/>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7D22845F-172D-2759-B68A-7E15978369CD}"/>
              </a:ext>
            </a:extLst>
          </p:cNvPr>
          <p:cNvSpPr>
            <a:spLocks noGrp="1"/>
          </p:cNvSpPr>
          <p:nvPr>
            <p:ph type="ctrTitle"/>
          </p:nvPr>
        </p:nvSpPr>
        <p:spPr>
          <a:xfrm>
            <a:off x="914400" y="255640"/>
            <a:ext cx="10363200" cy="766915"/>
          </a:xfrm>
        </p:spPr>
        <p:txBody>
          <a:bodyPr>
            <a:normAutofit/>
          </a:bodyPr>
          <a:lstStyle/>
          <a:p>
            <a:r>
              <a:rPr lang="it-IT" dirty="0"/>
              <a:t>8.  Problemi ed Ostacoli</a:t>
            </a:r>
          </a:p>
        </p:txBody>
      </p:sp>
      <p:sp>
        <p:nvSpPr>
          <p:cNvPr id="5" name="CasellaDiTesto 4">
            <a:extLst>
              <a:ext uri="{FF2B5EF4-FFF2-40B4-BE49-F238E27FC236}">
                <a16:creationId xmlns:a16="http://schemas.microsoft.com/office/drawing/2014/main" id="{FBBB77C9-7288-865F-4CCA-F88B49EA8D0C}"/>
              </a:ext>
            </a:extLst>
          </p:cNvPr>
          <p:cNvSpPr txBox="1"/>
          <p:nvPr/>
        </p:nvSpPr>
        <p:spPr>
          <a:xfrm>
            <a:off x="393290" y="1059801"/>
            <a:ext cx="10622424" cy="923330"/>
          </a:xfrm>
          <a:prstGeom prst="rect">
            <a:avLst/>
          </a:prstGeom>
          <a:noFill/>
        </p:spPr>
        <p:txBody>
          <a:bodyPr wrap="square" rtlCol="0">
            <a:spAutoFit/>
          </a:bodyPr>
          <a:lstStyle/>
          <a:p>
            <a:r>
              <a:rPr lang="it-IT" dirty="0"/>
              <a:t>Errore nell’avviare il servizio </a:t>
            </a:r>
            <a:r>
              <a:rPr lang="it-IT" dirty="0" err="1"/>
              <a:t>xencommons</a:t>
            </a:r>
            <a:r>
              <a:rPr lang="it-IT" dirty="0"/>
              <a:t>. </a:t>
            </a:r>
          </a:p>
          <a:p>
            <a:r>
              <a:rPr lang="it-IT" dirty="0"/>
              <a:t>La causa in questo caso è che c’è un processo QEMU già in esecuzione (lasciato "sporco" da un avvio precedente) che interferisce con tale servizio.</a:t>
            </a:r>
          </a:p>
        </p:txBody>
      </p:sp>
      <p:pic>
        <p:nvPicPr>
          <p:cNvPr id="7170" name="Picture 2">
            <a:extLst>
              <a:ext uri="{FF2B5EF4-FFF2-40B4-BE49-F238E27FC236}">
                <a16:creationId xmlns:a16="http://schemas.microsoft.com/office/drawing/2014/main" id="{4EE29107-6D61-F372-ADB5-A05EC9D5B0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25" y="2084524"/>
            <a:ext cx="7941414" cy="3713675"/>
          </a:xfrm>
          <a:prstGeom prst="rect">
            <a:avLst/>
          </a:prstGeom>
          <a:noFill/>
          <a:extLst>
            <a:ext uri="{909E8E84-426E-40DD-AFC4-6F175D3DCCD1}">
              <a14:hiddenFill xmlns:a14="http://schemas.microsoft.com/office/drawing/2010/main">
                <a:solidFill>
                  <a:srgbClr val="FFFFFF"/>
                </a:solidFill>
              </a14:hiddenFill>
            </a:ext>
          </a:extLst>
        </p:spPr>
      </p:pic>
      <p:sp>
        <p:nvSpPr>
          <p:cNvPr id="11" name="CasellaDiTesto 10">
            <a:extLst>
              <a:ext uri="{FF2B5EF4-FFF2-40B4-BE49-F238E27FC236}">
                <a16:creationId xmlns:a16="http://schemas.microsoft.com/office/drawing/2014/main" id="{2A22F0F2-6E17-F44C-781F-BD787BBCB67B}"/>
              </a:ext>
            </a:extLst>
          </p:cNvPr>
          <p:cNvSpPr txBox="1"/>
          <p:nvPr/>
        </p:nvSpPr>
        <p:spPr>
          <a:xfrm>
            <a:off x="8976852" y="2851355"/>
            <a:ext cx="2604023" cy="2585323"/>
          </a:xfrm>
          <a:prstGeom prst="rect">
            <a:avLst/>
          </a:prstGeom>
          <a:noFill/>
        </p:spPr>
        <p:txBody>
          <a:bodyPr wrap="square" rtlCol="0">
            <a:spAutoFit/>
          </a:bodyPr>
          <a:lstStyle/>
          <a:p>
            <a:r>
              <a:rPr lang="it-IT" b="1" dirty="0"/>
              <a:t>Risoluzione:</a:t>
            </a:r>
          </a:p>
          <a:p>
            <a:r>
              <a:rPr lang="it-IT" dirty="0"/>
              <a:t>Cercare i PID dei processi </a:t>
            </a:r>
            <a:r>
              <a:rPr lang="it-IT" dirty="0" err="1"/>
              <a:t>qemu</a:t>
            </a:r>
            <a:r>
              <a:rPr lang="it-IT" dirty="0"/>
              <a:t> e terminarli. Dopodiché riavviare la macchina fisica:</a:t>
            </a:r>
          </a:p>
          <a:p>
            <a:endParaRPr lang="it-IT" dirty="0"/>
          </a:p>
          <a:p>
            <a:r>
              <a:rPr lang="it-IT" dirty="0"/>
              <a:t>$ </a:t>
            </a:r>
            <a:r>
              <a:rPr lang="it-IT" dirty="0" err="1"/>
              <a:t>ps</a:t>
            </a:r>
            <a:r>
              <a:rPr lang="it-IT" dirty="0"/>
              <a:t> </a:t>
            </a:r>
            <a:r>
              <a:rPr lang="it-IT" dirty="0" err="1"/>
              <a:t>aux</a:t>
            </a:r>
            <a:r>
              <a:rPr lang="it-IT" dirty="0"/>
              <a:t> | </a:t>
            </a:r>
            <a:r>
              <a:rPr lang="it-IT" dirty="0" err="1"/>
              <a:t>grep</a:t>
            </a:r>
            <a:r>
              <a:rPr lang="it-IT" dirty="0"/>
              <a:t> </a:t>
            </a:r>
            <a:r>
              <a:rPr lang="it-IT" dirty="0" err="1"/>
              <a:t>qemu</a:t>
            </a:r>
            <a:endParaRPr lang="it-IT" dirty="0"/>
          </a:p>
          <a:p>
            <a:r>
              <a:rPr lang="it-IT" dirty="0"/>
              <a:t>$ </a:t>
            </a:r>
            <a:r>
              <a:rPr lang="sv-SE" dirty="0"/>
              <a:t>sudo kill PID_X</a:t>
            </a:r>
          </a:p>
          <a:p>
            <a:r>
              <a:rPr lang="sv-SE" dirty="0"/>
              <a:t>$ sudo reboot</a:t>
            </a:r>
          </a:p>
        </p:txBody>
      </p:sp>
      <p:sp>
        <p:nvSpPr>
          <p:cNvPr id="12" name="Rettangolo 11">
            <a:extLst>
              <a:ext uri="{FF2B5EF4-FFF2-40B4-BE49-F238E27FC236}">
                <a16:creationId xmlns:a16="http://schemas.microsoft.com/office/drawing/2014/main" id="{A38BEC89-AEE5-51D6-AAF1-492F8CD27093}"/>
              </a:ext>
            </a:extLst>
          </p:cNvPr>
          <p:cNvSpPr/>
          <p:nvPr/>
        </p:nvSpPr>
        <p:spPr>
          <a:xfrm>
            <a:off x="3677265" y="4689987"/>
            <a:ext cx="4875274" cy="23597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b="1" dirty="0"/>
          </a:p>
        </p:txBody>
      </p:sp>
      <p:cxnSp>
        <p:nvCxnSpPr>
          <p:cNvPr id="15" name="Connettore 2 14">
            <a:extLst>
              <a:ext uri="{FF2B5EF4-FFF2-40B4-BE49-F238E27FC236}">
                <a16:creationId xmlns:a16="http://schemas.microsoft.com/office/drawing/2014/main" id="{E382F87F-2B71-0DC6-EA71-3554E336D15E}"/>
              </a:ext>
            </a:extLst>
          </p:cNvPr>
          <p:cNvCxnSpPr/>
          <p:nvPr/>
        </p:nvCxnSpPr>
        <p:spPr>
          <a:xfrm>
            <a:off x="4984955" y="1877961"/>
            <a:ext cx="1848464" cy="281202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8363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F294-9B7D-D7D8-F084-513DE03692EF}"/>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E4F44942-A102-A1CE-95ED-D3D50829729C}"/>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6D030EF2-39B3-1938-03AB-CB92BBD556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14FD28CB-3E55-E82F-8078-540715A2F1E2}"/>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446A85D2-FA28-46F6-6EEB-950EFCFC9A61}"/>
              </a:ext>
            </a:extLst>
          </p:cNvPr>
          <p:cNvSpPr>
            <a:spLocks noGrp="1"/>
          </p:cNvSpPr>
          <p:nvPr>
            <p:ph type="ctrTitle"/>
          </p:nvPr>
        </p:nvSpPr>
        <p:spPr>
          <a:xfrm>
            <a:off x="914400" y="255640"/>
            <a:ext cx="10363200" cy="766915"/>
          </a:xfrm>
        </p:spPr>
        <p:txBody>
          <a:bodyPr>
            <a:normAutofit/>
          </a:bodyPr>
          <a:lstStyle/>
          <a:p>
            <a:r>
              <a:rPr lang="it-IT" dirty="0"/>
              <a:t>8.  Problemi ed Ostacoli</a:t>
            </a:r>
          </a:p>
        </p:txBody>
      </p:sp>
      <p:pic>
        <p:nvPicPr>
          <p:cNvPr id="8194" name="Picture 2">
            <a:extLst>
              <a:ext uri="{FF2B5EF4-FFF2-40B4-BE49-F238E27FC236}">
                <a16:creationId xmlns:a16="http://schemas.microsoft.com/office/drawing/2014/main" id="{72592292-31FC-5EB9-8DC1-16664F1A3E0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830"/>
          <a:stretch/>
        </p:blipFill>
        <p:spPr bwMode="auto">
          <a:xfrm>
            <a:off x="604685" y="2531415"/>
            <a:ext cx="7620000" cy="3013980"/>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EE064D67-8DF7-E60B-415E-6C10BC5FB2BA}"/>
              </a:ext>
            </a:extLst>
          </p:cNvPr>
          <p:cNvSpPr txBox="1"/>
          <p:nvPr/>
        </p:nvSpPr>
        <p:spPr>
          <a:xfrm>
            <a:off x="422787" y="1238865"/>
            <a:ext cx="10933471" cy="1200329"/>
          </a:xfrm>
          <a:prstGeom prst="rect">
            <a:avLst/>
          </a:prstGeom>
          <a:noFill/>
        </p:spPr>
        <p:txBody>
          <a:bodyPr wrap="square" rtlCol="0">
            <a:spAutoFit/>
          </a:bodyPr>
          <a:lstStyle/>
          <a:p>
            <a:r>
              <a:rPr lang="it-IT" dirty="0"/>
              <a:t>Durante la configurazione (prima della build from source di </a:t>
            </a:r>
            <a:r>
              <a:rPr lang="it-IT" dirty="0" err="1"/>
              <a:t>Xen</a:t>
            </a:r>
            <a:r>
              <a:rPr lang="it-IT" dirty="0"/>
              <a:t>), non settare l’opzione max_dom_0_mem ad un valore troppo basso !!</a:t>
            </a:r>
          </a:p>
          <a:p>
            <a:r>
              <a:rPr lang="it-IT" dirty="0"/>
              <a:t>In questo caso specifico avevo settato max_dom_0_mem = 2048 . Come primo boot ho ottenuto il seguente Kernel </a:t>
            </a:r>
            <a:r>
              <a:rPr lang="it-IT" dirty="0" err="1"/>
              <a:t>Panic</a:t>
            </a:r>
            <a:r>
              <a:rPr lang="it-IT" dirty="0"/>
              <a:t>.</a:t>
            </a:r>
          </a:p>
        </p:txBody>
      </p:sp>
      <p:sp>
        <p:nvSpPr>
          <p:cNvPr id="6" name="CasellaDiTesto 5">
            <a:extLst>
              <a:ext uri="{FF2B5EF4-FFF2-40B4-BE49-F238E27FC236}">
                <a16:creationId xmlns:a16="http://schemas.microsoft.com/office/drawing/2014/main" id="{E7106BA3-5F1C-5180-4A58-C2CE8D197730}"/>
              </a:ext>
            </a:extLst>
          </p:cNvPr>
          <p:cNvSpPr txBox="1"/>
          <p:nvPr/>
        </p:nvSpPr>
        <p:spPr>
          <a:xfrm>
            <a:off x="8622890" y="2531414"/>
            <a:ext cx="2964425" cy="2862322"/>
          </a:xfrm>
          <a:prstGeom prst="rect">
            <a:avLst/>
          </a:prstGeom>
          <a:noFill/>
        </p:spPr>
        <p:txBody>
          <a:bodyPr wrap="square" rtlCol="0">
            <a:spAutoFit/>
          </a:bodyPr>
          <a:lstStyle/>
          <a:p>
            <a:r>
              <a:rPr lang="it-IT" b="1" dirty="0"/>
              <a:t>Risoluzione:</a:t>
            </a:r>
          </a:p>
          <a:p>
            <a:r>
              <a:rPr lang="it-IT" dirty="0"/>
              <a:t>Semplicemente non settare quel flag durante la fase di configurazione (prima della build). La dimensione massima della memoria assegnata al dom_0 può essere impostata anche successivamente nel file GRUB.</a:t>
            </a:r>
          </a:p>
        </p:txBody>
      </p:sp>
    </p:spTree>
    <p:extLst>
      <p:ext uri="{BB962C8B-B14F-4D97-AF65-F5344CB8AC3E}">
        <p14:creationId xmlns:p14="http://schemas.microsoft.com/office/powerpoint/2010/main" val="1637433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19C5-49E0-1F5B-1B3E-813314094997}"/>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AB694DA1-85C9-9A86-CDF9-11BC26D34AAB}"/>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49700A62-1831-BAAF-7E46-3FB3A917EA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97E1803-E210-315E-1624-A4C6E54964C9}"/>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A337AE30-FD88-EB3C-7A0B-4501B46C75B0}"/>
              </a:ext>
            </a:extLst>
          </p:cNvPr>
          <p:cNvSpPr>
            <a:spLocks noGrp="1"/>
          </p:cNvSpPr>
          <p:nvPr>
            <p:ph type="ctrTitle"/>
          </p:nvPr>
        </p:nvSpPr>
        <p:spPr>
          <a:xfrm>
            <a:off x="914400" y="255640"/>
            <a:ext cx="10363200" cy="766915"/>
          </a:xfrm>
        </p:spPr>
        <p:txBody>
          <a:bodyPr>
            <a:normAutofit/>
          </a:bodyPr>
          <a:lstStyle/>
          <a:p>
            <a:r>
              <a:rPr lang="it-IT" dirty="0"/>
              <a:t>8.  Problemi ed Ostacoli</a:t>
            </a:r>
          </a:p>
        </p:txBody>
      </p:sp>
      <p:sp>
        <p:nvSpPr>
          <p:cNvPr id="3" name="CasellaDiTesto 2">
            <a:extLst>
              <a:ext uri="{FF2B5EF4-FFF2-40B4-BE49-F238E27FC236}">
                <a16:creationId xmlns:a16="http://schemas.microsoft.com/office/drawing/2014/main" id="{96B2F73D-0EAA-2929-2B14-2EE12012063A}"/>
              </a:ext>
            </a:extLst>
          </p:cNvPr>
          <p:cNvSpPr txBox="1"/>
          <p:nvPr/>
        </p:nvSpPr>
        <p:spPr>
          <a:xfrm>
            <a:off x="489595" y="1081414"/>
            <a:ext cx="10933471" cy="646331"/>
          </a:xfrm>
          <a:prstGeom prst="rect">
            <a:avLst/>
          </a:prstGeom>
          <a:noFill/>
        </p:spPr>
        <p:txBody>
          <a:bodyPr wrap="square" rtlCol="0">
            <a:spAutoFit/>
          </a:bodyPr>
          <a:lstStyle/>
          <a:p>
            <a:r>
              <a:rPr lang="it-IT" b="1" dirty="0"/>
              <a:t>FILE GRUB CORROTTO</a:t>
            </a:r>
          </a:p>
          <a:p>
            <a:r>
              <a:rPr lang="it-IT" dirty="0"/>
              <a:t>Al riavvio GRUB non funziona correttamente.</a:t>
            </a:r>
          </a:p>
        </p:txBody>
      </p:sp>
      <p:sp>
        <p:nvSpPr>
          <p:cNvPr id="6" name="CasellaDiTesto 5">
            <a:extLst>
              <a:ext uri="{FF2B5EF4-FFF2-40B4-BE49-F238E27FC236}">
                <a16:creationId xmlns:a16="http://schemas.microsoft.com/office/drawing/2014/main" id="{D1795EAB-0F1C-D4E2-55B4-FB7DDDCE7432}"/>
              </a:ext>
            </a:extLst>
          </p:cNvPr>
          <p:cNvSpPr txBox="1"/>
          <p:nvPr/>
        </p:nvSpPr>
        <p:spPr>
          <a:xfrm>
            <a:off x="7074311" y="1142707"/>
            <a:ext cx="2964425" cy="2862322"/>
          </a:xfrm>
          <a:prstGeom prst="rect">
            <a:avLst/>
          </a:prstGeom>
          <a:noFill/>
        </p:spPr>
        <p:txBody>
          <a:bodyPr wrap="square" rtlCol="0">
            <a:spAutoFit/>
          </a:bodyPr>
          <a:lstStyle/>
          <a:p>
            <a:r>
              <a:rPr lang="it-IT" b="1" dirty="0"/>
              <a:t>Causa:</a:t>
            </a:r>
            <a:br>
              <a:rPr lang="it-IT" b="1" dirty="0"/>
            </a:br>
            <a:r>
              <a:rPr lang="it-IT" dirty="0"/>
              <a:t>Incerta. Il problema si è verificato dopo il riavvio in seguito a stress di tipo  I/O.</a:t>
            </a:r>
            <a:br>
              <a:rPr lang="it-IT" dirty="0"/>
            </a:br>
            <a:r>
              <a:rPr lang="it-IT" dirty="0"/>
              <a:t>Ciò nonostante non è detto che stress-ng sia la causa. Potrebbe anche trattarsi di un $ sudo update-</a:t>
            </a:r>
            <a:r>
              <a:rPr lang="it-IT" dirty="0" err="1"/>
              <a:t>grub</a:t>
            </a:r>
            <a:r>
              <a:rPr lang="it-IT" dirty="0"/>
              <a:t> terminato non correttamente.</a:t>
            </a:r>
            <a:endParaRPr lang="it-IT" b="1" dirty="0"/>
          </a:p>
        </p:txBody>
      </p:sp>
      <p:pic>
        <p:nvPicPr>
          <p:cNvPr id="9218" name="Picture 2">
            <a:extLst>
              <a:ext uri="{FF2B5EF4-FFF2-40B4-BE49-F238E27FC236}">
                <a16:creationId xmlns:a16="http://schemas.microsoft.com/office/drawing/2014/main" id="{E222E3B2-B7FB-9834-F1F7-6E75939A4A8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1888"/>
          <a:stretch/>
        </p:blipFill>
        <p:spPr bwMode="auto">
          <a:xfrm>
            <a:off x="489595" y="1836639"/>
            <a:ext cx="6206173" cy="2255551"/>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47DF4D3C-434B-7C8D-251D-F62187826CB1}"/>
              </a:ext>
            </a:extLst>
          </p:cNvPr>
          <p:cNvSpPr txBox="1"/>
          <p:nvPr/>
        </p:nvSpPr>
        <p:spPr>
          <a:xfrm>
            <a:off x="412956" y="4154602"/>
            <a:ext cx="9625780" cy="2308324"/>
          </a:xfrm>
          <a:prstGeom prst="rect">
            <a:avLst/>
          </a:prstGeom>
          <a:noFill/>
        </p:spPr>
        <p:txBody>
          <a:bodyPr wrap="square" rtlCol="0">
            <a:spAutoFit/>
          </a:bodyPr>
          <a:lstStyle/>
          <a:p>
            <a:r>
              <a:rPr lang="it-IT" b="1" dirty="0"/>
              <a:t>Risoluzione:</a:t>
            </a:r>
          </a:p>
          <a:p>
            <a:r>
              <a:rPr lang="it-IT" dirty="0"/>
              <a:t>$ </a:t>
            </a:r>
            <a:r>
              <a:rPr lang="it-IT" dirty="0" err="1"/>
              <a:t>ls</a:t>
            </a:r>
            <a:endParaRPr lang="it-IT" dirty="0"/>
          </a:p>
          <a:p>
            <a:pPr marL="285750" indent="-285750">
              <a:buFont typeface="Wingdings" panose="05000000000000000000" pitchFamily="2" charset="2"/>
              <a:buChar char="Ø"/>
            </a:pPr>
            <a:r>
              <a:rPr lang="it-IT" dirty="0"/>
              <a:t>(hd0) (hd0,gpt0) (hd0, gpt1) … </a:t>
            </a:r>
            <a:r>
              <a:rPr lang="it-IT" dirty="0" err="1"/>
              <a:t>etc</a:t>
            </a:r>
            <a:endParaRPr lang="it-IT" dirty="0"/>
          </a:p>
          <a:p>
            <a:r>
              <a:rPr lang="it-IT" dirty="0"/>
              <a:t>//Cercare la partizione che contiene le cartelle principali (bin, </a:t>
            </a:r>
            <a:r>
              <a:rPr lang="it-IT" dirty="0" err="1"/>
              <a:t>usr</a:t>
            </a:r>
            <a:r>
              <a:rPr lang="it-IT" dirty="0"/>
              <a:t>, </a:t>
            </a:r>
            <a:r>
              <a:rPr lang="it-IT" dirty="0" err="1"/>
              <a:t>etc</a:t>
            </a:r>
            <a:r>
              <a:rPr lang="it-IT" dirty="0"/>
              <a:t>, var …) e impostarla come root.</a:t>
            </a:r>
          </a:p>
          <a:p>
            <a:r>
              <a:rPr lang="it-IT" dirty="0"/>
              <a:t>$ set root=(hd0,gpt0)</a:t>
            </a:r>
          </a:p>
          <a:p>
            <a:r>
              <a:rPr lang="it-IT" dirty="0"/>
              <a:t>$ </a:t>
            </a:r>
            <a:r>
              <a:rPr lang="it-IT" dirty="0" err="1"/>
              <a:t>linux</a:t>
            </a:r>
            <a:r>
              <a:rPr lang="it-IT" dirty="0"/>
              <a:t> /boot/</a:t>
            </a:r>
            <a:r>
              <a:rPr lang="it-IT" dirty="0" err="1"/>
              <a:t>vmlinuz</a:t>
            </a:r>
            <a:r>
              <a:rPr lang="it-IT" dirty="0"/>
              <a:t>-Version-</a:t>
            </a:r>
            <a:r>
              <a:rPr lang="it-IT" dirty="0" err="1"/>
              <a:t>xyz</a:t>
            </a:r>
            <a:r>
              <a:rPr lang="it-IT" dirty="0"/>
              <a:t> root=/</a:t>
            </a:r>
            <a:r>
              <a:rPr lang="it-IT" dirty="0" err="1"/>
              <a:t>dev</a:t>
            </a:r>
            <a:r>
              <a:rPr lang="it-IT" dirty="0"/>
              <a:t>/nvme0XXX ro</a:t>
            </a:r>
          </a:p>
          <a:p>
            <a:r>
              <a:rPr lang="it-IT" dirty="0"/>
              <a:t>$ boot</a:t>
            </a:r>
          </a:p>
          <a:p>
            <a:r>
              <a:rPr lang="it-IT" dirty="0"/>
              <a:t>Una volta avviato il sistema, reinstallare GRUB ed eseguire $ update-</a:t>
            </a:r>
            <a:r>
              <a:rPr lang="it-IT" dirty="0" err="1"/>
              <a:t>grub</a:t>
            </a:r>
            <a:r>
              <a:rPr lang="it-IT" dirty="0"/>
              <a:t>.</a:t>
            </a:r>
          </a:p>
        </p:txBody>
      </p:sp>
    </p:spTree>
    <p:extLst>
      <p:ext uri="{BB962C8B-B14F-4D97-AF65-F5344CB8AC3E}">
        <p14:creationId xmlns:p14="http://schemas.microsoft.com/office/powerpoint/2010/main" val="2298721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91FB9-DCE8-5C3E-42B5-31E0AA3E3A2B}"/>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938A021A-9F03-5898-A691-E6003290C558}"/>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314F682-A4B2-CEED-6B0A-0B8CFA3634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348E4665-46CB-4268-8687-166D517922CE}"/>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E275DDD2-3215-FA37-A5C9-E34C8E6FC259}"/>
              </a:ext>
            </a:extLst>
          </p:cNvPr>
          <p:cNvSpPr>
            <a:spLocks noGrp="1"/>
          </p:cNvSpPr>
          <p:nvPr>
            <p:ph type="ctrTitle"/>
          </p:nvPr>
        </p:nvSpPr>
        <p:spPr>
          <a:xfrm>
            <a:off x="914400" y="255640"/>
            <a:ext cx="10363200" cy="766915"/>
          </a:xfrm>
        </p:spPr>
        <p:txBody>
          <a:bodyPr>
            <a:normAutofit/>
          </a:bodyPr>
          <a:lstStyle/>
          <a:p>
            <a:r>
              <a:rPr lang="it-IT" dirty="0"/>
              <a:t>8.  Problemi ed Ostacoli</a:t>
            </a:r>
          </a:p>
        </p:txBody>
      </p:sp>
      <p:pic>
        <p:nvPicPr>
          <p:cNvPr id="1026" name="Picture 2">
            <a:extLst>
              <a:ext uri="{FF2B5EF4-FFF2-40B4-BE49-F238E27FC236}">
                <a16:creationId xmlns:a16="http://schemas.microsoft.com/office/drawing/2014/main" id="{3716313F-00C1-3B35-D9AD-C0FA417B9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038479"/>
            <a:ext cx="10161686" cy="1265160"/>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a:extLst>
              <a:ext uri="{FF2B5EF4-FFF2-40B4-BE49-F238E27FC236}">
                <a16:creationId xmlns:a16="http://schemas.microsoft.com/office/drawing/2014/main" id="{AEC59AC3-8E7D-E945-2B3E-F607FC3FAB59}"/>
              </a:ext>
            </a:extLst>
          </p:cNvPr>
          <p:cNvSpPr txBox="1"/>
          <p:nvPr/>
        </p:nvSpPr>
        <p:spPr>
          <a:xfrm>
            <a:off x="914400" y="1356852"/>
            <a:ext cx="10101314" cy="369332"/>
          </a:xfrm>
          <a:prstGeom prst="rect">
            <a:avLst/>
          </a:prstGeom>
          <a:noFill/>
        </p:spPr>
        <p:txBody>
          <a:bodyPr wrap="square" rtlCol="0">
            <a:spAutoFit/>
          </a:bodyPr>
          <a:lstStyle/>
          <a:p>
            <a:r>
              <a:rPr lang="it-IT" b="1" dirty="0" err="1"/>
              <a:t>Unikraft</a:t>
            </a:r>
            <a:r>
              <a:rPr lang="it-IT" dirty="0"/>
              <a:t> </a:t>
            </a:r>
            <a:r>
              <a:rPr lang="it-IT" dirty="0">
                <a:sym typeface="Wingdings" panose="05000000000000000000" pitchFamily="2" charset="2"/>
              </a:rPr>
              <a:t> </a:t>
            </a:r>
            <a:r>
              <a:rPr lang="it-IT" dirty="0" err="1">
                <a:sym typeface="Wingdings" panose="05000000000000000000" pitchFamily="2" charset="2"/>
              </a:rPr>
              <a:t>Fail</a:t>
            </a:r>
            <a:r>
              <a:rPr lang="it-IT" dirty="0">
                <a:sym typeface="Wingdings" panose="05000000000000000000" pitchFamily="2" charset="2"/>
              </a:rPr>
              <a:t> to </a:t>
            </a:r>
            <a:r>
              <a:rPr lang="it-IT" dirty="0" err="1">
                <a:sym typeface="Wingdings" panose="05000000000000000000" pitchFamily="2" charset="2"/>
              </a:rPr>
              <a:t>get</a:t>
            </a:r>
            <a:r>
              <a:rPr lang="it-IT" dirty="0">
                <a:sym typeface="Wingdings" panose="05000000000000000000" pitchFamily="2" charset="2"/>
              </a:rPr>
              <a:t> kernel image size</a:t>
            </a:r>
            <a:endParaRPr lang="it-IT" dirty="0"/>
          </a:p>
        </p:txBody>
      </p:sp>
      <p:sp>
        <p:nvSpPr>
          <p:cNvPr id="8" name="CasellaDiTesto 7">
            <a:extLst>
              <a:ext uri="{FF2B5EF4-FFF2-40B4-BE49-F238E27FC236}">
                <a16:creationId xmlns:a16="http://schemas.microsoft.com/office/drawing/2014/main" id="{C4E3C86F-3993-2304-C862-959ED5DB62F6}"/>
              </a:ext>
            </a:extLst>
          </p:cNvPr>
          <p:cNvSpPr txBox="1"/>
          <p:nvPr/>
        </p:nvSpPr>
        <p:spPr>
          <a:xfrm>
            <a:off x="688258" y="3608439"/>
            <a:ext cx="10327456" cy="2585323"/>
          </a:xfrm>
          <a:prstGeom prst="rect">
            <a:avLst/>
          </a:prstGeom>
          <a:noFill/>
        </p:spPr>
        <p:txBody>
          <a:bodyPr wrap="square" rtlCol="0">
            <a:spAutoFit/>
          </a:bodyPr>
          <a:lstStyle/>
          <a:p>
            <a:r>
              <a:rPr lang="it-IT" dirty="0"/>
              <a:t>Nel momento in cui veniva lanciato il comando $ Kraft build , la configurazione della piattaforma (impostata inizialmente su </a:t>
            </a:r>
            <a:r>
              <a:rPr lang="it-IT" dirty="0" err="1"/>
              <a:t>Xen</a:t>
            </a:r>
            <a:r>
              <a:rPr lang="it-IT" dirty="0"/>
              <a:t>) veniva sovrascritta per errore (veniva compilato per ARM, dunque l’immagine dell’</a:t>
            </a:r>
            <a:r>
              <a:rPr lang="it-IT" dirty="0" err="1"/>
              <a:t>Unikernel</a:t>
            </a:r>
            <a:r>
              <a:rPr lang="it-IT" dirty="0"/>
              <a:t> con piattaforma </a:t>
            </a:r>
            <a:r>
              <a:rPr lang="it-IT" dirty="0" err="1"/>
              <a:t>Xen</a:t>
            </a:r>
            <a:r>
              <a:rPr lang="it-IT" dirty="0"/>
              <a:t> non veniva trovata).</a:t>
            </a:r>
          </a:p>
          <a:p>
            <a:r>
              <a:rPr lang="it-IT" b="1" dirty="0"/>
              <a:t>Non è ben chiara la dinamica. </a:t>
            </a:r>
            <a:r>
              <a:rPr lang="it-IT" dirty="0"/>
              <a:t>Andando infatti ad aprire il menu con  $ kraft menu , risultava che l’architettura fosse ARM (anziché x86 ). </a:t>
            </a:r>
            <a:br>
              <a:rPr lang="it-IT" dirty="0"/>
            </a:br>
            <a:r>
              <a:rPr lang="it-IT" b="1" dirty="0"/>
              <a:t>Soluzione:</a:t>
            </a:r>
            <a:br>
              <a:rPr lang="it-IT" b="1" dirty="0"/>
            </a:br>
            <a:r>
              <a:rPr lang="it-IT" dirty="0"/>
              <a:t>$ sudo </a:t>
            </a:r>
            <a:r>
              <a:rPr lang="it-IT" dirty="0" err="1"/>
              <a:t>rm</a:t>
            </a:r>
            <a:r>
              <a:rPr lang="it-IT" dirty="0"/>
              <a:t> –f .</a:t>
            </a:r>
            <a:r>
              <a:rPr lang="it-IT" dirty="0" err="1"/>
              <a:t>config</a:t>
            </a:r>
            <a:br>
              <a:rPr lang="it-IT" dirty="0"/>
            </a:br>
            <a:r>
              <a:rPr lang="it-IT" dirty="0"/>
              <a:t>$ kraft menu  //per ripetere la configurazione </a:t>
            </a:r>
          </a:p>
          <a:p>
            <a:r>
              <a:rPr lang="it-IT" dirty="0"/>
              <a:t>$ kraft build</a:t>
            </a:r>
          </a:p>
        </p:txBody>
      </p:sp>
    </p:spTree>
    <p:extLst>
      <p:ext uri="{BB962C8B-B14F-4D97-AF65-F5344CB8AC3E}">
        <p14:creationId xmlns:p14="http://schemas.microsoft.com/office/powerpoint/2010/main" val="3741130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0285B-1515-BB5F-950A-CC1A8820E867}"/>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86445D40-347C-D953-840D-2BEA7CD0558A}"/>
              </a:ext>
            </a:extLst>
          </p:cNvPr>
          <p:cNvSpPr/>
          <p:nvPr/>
        </p:nvSpPr>
        <p:spPr>
          <a:xfrm>
            <a:off x="0" y="6485074"/>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it-IT" kern="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B667ED6C-C161-FB68-602B-12DA41E011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22320"/>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C185B8AC-E686-E608-CF62-2AA04A0ED98C}"/>
              </a:ext>
            </a:extLst>
          </p:cNvPr>
          <p:cNvSpPr/>
          <p:nvPr/>
        </p:nvSpPr>
        <p:spPr>
          <a:xfrm>
            <a:off x="14286" y="6522320"/>
            <a:ext cx="8373975" cy="307777"/>
          </a:xfrm>
          <a:prstGeom prst="rect">
            <a:avLst/>
          </a:prstGeom>
        </p:spPr>
        <p:txBody>
          <a:bodyPr wrap="square">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it-IT" sz="1400" dirty="0">
                <a:solidFill>
                  <a:srgbClr val="162230"/>
                </a:solidFill>
                <a:latin typeface="Century Gothic"/>
                <a:cs typeface="Century Gothic"/>
              </a:rPr>
              <a:t> </a:t>
            </a:r>
          </a:p>
        </p:txBody>
      </p:sp>
      <p:sp>
        <p:nvSpPr>
          <p:cNvPr id="4" name="Titolo 3">
            <a:extLst>
              <a:ext uri="{FF2B5EF4-FFF2-40B4-BE49-F238E27FC236}">
                <a16:creationId xmlns:a16="http://schemas.microsoft.com/office/drawing/2014/main" id="{DCB7FC27-89CF-D551-D141-1C1B1010264E}"/>
              </a:ext>
            </a:extLst>
          </p:cNvPr>
          <p:cNvSpPr>
            <a:spLocks noGrp="1"/>
          </p:cNvSpPr>
          <p:nvPr>
            <p:ph type="ctrTitle"/>
          </p:nvPr>
        </p:nvSpPr>
        <p:spPr>
          <a:xfrm>
            <a:off x="914400" y="255640"/>
            <a:ext cx="10363200" cy="766915"/>
          </a:xfrm>
        </p:spPr>
        <p:txBody>
          <a:bodyPr>
            <a:normAutofit/>
          </a:bodyPr>
          <a:lstStyle/>
          <a:p>
            <a:r>
              <a:rPr lang="it-IT" dirty="0"/>
              <a:t>8.  Problemi ed Ostacoli</a:t>
            </a:r>
          </a:p>
        </p:txBody>
      </p:sp>
      <p:pic>
        <p:nvPicPr>
          <p:cNvPr id="3" name="Picture 2">
            <a:extLst>
              <a:ext uri="{FF2B5EF4-FFF2-40B4-BE49-F238E27FC236}">
                <a16:creationId xmlns:a16="http://schemas.microsoft.com/office/drawing/2014/main" id="{BAF8D8DA-EE23-CFB5-854C-E8925D99B1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5998" y="2497394"/>
            <a:ext cx="5789539" cy="1538748"/>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204074F8-9301-769A-E9E1-893ECA217ACA}"/>
              </a:ext>
            </a:extLst>
          </p:cNvPr>
          <p:cNvSpPr txBox="1"/>
          <p:nvPr/>
        </p:nvSpPr>
        <p:spPr>
          <a:xfrm>
            <a:off x="1525998" y="1317523"/>
            <a:ext cx="8158776" cy="369332"/>
          </a:xfrm>
          <a:prstGeom prst="rect">
            <a:avLst/>
          </a:prstGeom>
          <a:noFill/>
        </p:spPr>
        <p:txBody>
          <a:bodyPr wrap="square" rtlCol="0">
            <a:spAutoFit/>
          </a:bodyPr>
          <a:lstStyle/>
          <a:p>
            <a:r>
              <a:rPr lang="it-IT" b="1" dirty="0"/>
              <a:t>Errore di segmentazione </a:t>
            </a:r>
            <a:r>
              <a:rPr lang="it-IT" b="1" dirty="0">
                <a:sym typeface="Wingdings" panose="05000000000000000000" pitchFamily="2" charset="2"/>
              </a:rPr>
              <a:t> </a:t>
            </a:r>
            <a:r>
              <a:rPr lang="it-IT" dirty="0">
                <a:sym typeface="Wingdings" panose="05000000000000000000" pitchFamily="2" charset="2"/>
              </a:rPr>
              <a:t>Non viene trovato il comando xl.</a:t>
            </a:r>
            <a:endParaRPr lang="it-IT" b="1" dirty="0"/>
          </a:p>
        </p:txBody>
      </p:sp>
      <p:sp>
        <p:nvSpPr>
          <p:cNvPr id="6" name="CasellaDiTesto 5">
            <a:extLst>
              <a:ext uri="{FF2B5EF4-FFF2-40B4-BE49-F238E27FC236}">
                <a16:creationId xmlns:a16="http://schemas.microsoft.com/office/drawing/2014/main" id="{C8010DB4-E0BE-D2E7-BBCE-30569766E4E3}"/>
              </a:ext>
            </a:extLst>
          </p:cNvPr>
          <p:cNvSpPr txBox="1"/>
          <p:nvPr/>
        </p:nvSpPr>
        <p:spPr>
          <a:xfrm>
            <a:off x="6725265" y="2369574"/>
            <a:ext cx="4178709" cy="2031325"/>
          </a:xfrm>
          <a:prstGeom prst="rect">
            <a:avLst/>
          </a:prstGeom>
          <a:noFill/>
        </p:spPr>
        <p:txBody>
          <a:bodyPr wrap="square" rtlCol="0">
            <a:spAutoFit/>
          </a:bodyPr>
          <a:lstStyle/>
          <a:p>
            <a:r>
              <a:rPr lang="it-IT" dirty="0"/>
              <a:t>L’errore si è verificato al riavvio del sistema, dopo aver effettuato l’installazione del </a:t>
            </a:r>
            <a:r>
              <a:rPr lang="it-IT" dirty="0" err="1"/>
              <a:t>pv</a:t>
            </a:r>
            <a:r>
              <a:rPr lang="it-IT" dirty="0"/>
              <a:t> </a:t>
            </a:r>
            <a:r>
              <a:rPr lang="it-IT" dirty="0" err="1"/>
              <a:t>domU</a:t>
            </a:r>
            <a:r>
              <a:rPr lang="it-IT" dirty="0"/>
              <a:t>, ma non è detto che sia collegato ad esso.</a:t>
            </a:r>
          </a:p>
          <a:p>
            <a:endParaRPr lang="it-IT" dirty="0"/>
          </a:p>
          <a:p>
            <a:r>
              <a:rPr lang="it-IT" b="1" dirty="0"/>
              <a:t>STATO: Non risolto.</a:t>
            </a:r>
          </a:p>
          <a:p>
            <a:endParaRPr lang="it-IT" dirty="0"/>
          </a:p>
        </p:txBody>
      </p:sp>
    </p:spTree>
    <p:extLst>
      <p:ext uri="{BB962C8B-B14F-4D97-AF65-F5344CB8AC3E}">
        <p14:creationId xmlns:p14="http://schemas.microsoft.com/office/powerpoint/2010/main" val="35802697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5500</Words>
  <Application>Microsoft Office PowerPoint</Application>
  <PresentationFormat>Widescreen</PresentationFormat>
  <Paragraphs>431</Paragraphs>
  <Slides>49</Slides>
  <Notes>48</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49</vt:i4>
      </vt:variant>
    </vt:vector>
  </HeadingPairs>
  <TitlesOfParts>
    <vt:vector size="57" baseType="lpstr">
      <vt:lpstr>Aptos</vt:lpstr>
      <vt:lpstr>Aptos Display</vt:lpstr>
      <vt:lpstr>Aptos Narrow</vt:lpstr>
      <vt:lpstr>Arial</vt:lpstr>
      <vt:lpstr>Calibri</vt:lpstr>
      <vt:lpstr>Century Gothic</vt:lpstr>
      <vt:lpstr>Wingdings</vt:lpstr>
      <vt:lpstr>Tema di Office</vt:lpstr>
      <vt:lpstr>Presentazione standard di PowerPoint</vt:lpstr>
      <vt:lpstr>Presentazione standard di PowerPoint</vt:lpstr>
      <vt:lpstr>1. Architettura Target</vt:lpstr>
      <vt:lpstr> Architettura Target - BIOS</vt:lpstr>
      <vt:lpstr>2. Xen Hypervisor</vt:lpstr>
      <vt:lpstr>Xen Schedulers</vt:lpstr>
      <vt:lpstr>Xen Schedulers</vt:lpstr>
      <vt:lpstr>Xen Schedulers</vt:lpstr>
      <vt:lpstr>Xen Schedulers</vt:lpstr>
      <vt:lpstr>3. Unikraft </vt:lpstr>
      <vt:lpstr> Unikraft </vt:lpstr>
      <vt:lpstr> Unikraft – Build Process</vt:lpstr>
      <vt:lpstr> Unikraft – Build Process</vt:lpstr>
      <vt:lpstr> Unikraft – Build Process</vt:lpstr>
      <vt:lpstr> Unikraft – Build Process</vt:lpstr>
      <vt:lpstr> Unikraft – Build Process - Internals</vt:lpstr>
      <vt:lpstr> Unikraft – Build Process - Internals</vt:lpstr>
      <vt:lpstr> Unikraft – Build Process - Internals</vt:lpstr>
      <vt:lpstr> Unikraft – Build Process - Internals</vt:lpstr>
      <vt:lpstr> 4. Design of Experiments - Dijkstra</vt:lpstr>
      <vt:lpstr> Design of Experiments - Dijkstra</vt:lpstr>
      <vt:lpstr> Design of Experiments - Dijkstra</vt:lpstr>
      <vt:lpstr> Design of Experiments - Dijkstra</vt:lpstr>
      <vt:lpstr> Design of Experiments - Dijkstra</vt:lpstr>
      <vt:lpstr> Design of Experiments - Dijkstra</vt:lpstr>
      <vt:lpstr> Design of Experiments - Dijkstra</vt:lpstr>
      <vt:lpstr> Design of Experiments - Dijkstra</vt:lpstr>
      <vt:lpstr> Design of Experiments - Dijkstra</vt:lpstr>
      <vt:lpstr> Design of Experiments - Dijkstra</vt:lpstr>
      <vt:lpstr> Design of Experiments - Dijkstra</vt:lpstr>
      <vt:lpstr> 5.  Interferenza- RTDS</vt:lpstr>
      <vt:lpstr> Interferenza- RTDS</vt:lpstr>
      <vt:lpstr> Interferenza</vt:lpstr>
      <vt:lpstr> Considerazioni</vt:lpstr>
      <vt:lpstr>Considerazioni</vt:lpstr>
      <vt:lpstr>6. Valutazione Parametri Schedulers</vt:lpstr>
      <vt:lpstr>DoE</vt:lpstr>
      <vt:lpstr>DoE – Risultati CREDIT2</vt:lpstr>
      <vt:lpstr>DoE – Risultati RTDS</vt:lpstr>
      <vt:lpstr>DoE – CREDIT2 vs RTDS</vt:lpstr>
      <vt:lpstr>DoE – NULL vs CREDIT2 vs RTDS</vt:lpstr>
      <vt:lpstr>DoE – NULL vs CREDIT2 vs RTDS</vt:lpstr>
      <vt:lpstr>7. Confronto con VM classica</vt:lpstr>
      <vt:lpstr>7. Confronto con VM classica</vt:lpstr>
      <vt:lpstr>8.  Problemi ed Ostacoli</vt:lpstr>
      <vt:lpstr>8.  Problemi ed Ostacoli</vt:lpstr>
      <vt:lpstr>8.  Problemi ed Ostacoli</vt:lpstr>
      <vt:lpstr>8.  Problemi ed Ostacoli</vt:lpstr>
      <vt:lpstr>8.  Problemi ed Ostacoli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SCOGNAMIGLIO</dc:creator>
  <cp:lastModifiedBy>ANDREA SCOGNAMIGLIO</cp:lastModifiedBy>
  <cp:revision>48</cp:revision>
  <dcterms:created xsi:type="dcterms:W3CDTF">2025-04-22T06:35:00Z</dcterms:created>
  <dcterms:modified xsi:type="dcterms:W3CDTF">2025-04-30T08:36:26Z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2025-04-22T07:29:25Z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c4aa93f7-34bd-452a-a78e-a1e1ac7bcf48</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